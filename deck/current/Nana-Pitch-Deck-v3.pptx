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2f90caf0694000" /><Relationship Type="http://schemas.openxmlformats.org/officeDocument/2006/relationships/extended-properties" Target="/docProps/app.xml" Id="R7f81f75e11a74380" /><Relationship Type="http://schemas.openxmlformats.org/officeDocument/2006/relationships/officeDocument" Target="/ppt/presentation.xml" Id="Rb1341fb5fdcf44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8e99161d434bd6"/>
  </p:sldMasterIdLst>
  <p:notesMasterIdLst>
    <p:notesMasterId xmlns:r="http://schemas.openxmlformats.org/officeDocument/2006/relationships" r:id="Rc7613a5bb9204993"/>
  </p:notesMasterIdLst>
  <p:sldIdLst>
    <p:sldId xmlns:r="http://schemas.openxmlformats.org/officeDocument/2006/relationships" id="256" r:id="R2b83a9be6aea4897"/>
    <p:sldId xmlns:r="http://schemas.openxmlformats.org/officeDocument/2006/relationships" id="257" r:id="Rdbf855293faf4921"/>
    <p:sldId xmlns:r="http://schemas.openxmlformats.org/officeDocument/2006/relationships" id="258" r:id="R51dd1d9885974750"/>
    <p:sldId xmlns:r="http://schemas.openxmlformats.org/officeDocument/2006/relationships" id="259" r:id="R4284bc0ae2a34a4a"/>
    <p:sldId xmlns:r="http://schemas.openxmlformats.org/officeDocument/2006/relationships" id="260" r:id="Rb10446ab6f16436b"/>
    <p:sldId xmlns:r="http://schemas.openxmlformats.org/officeDocument/2006/relationships" id="261" r:id="Rec1d1db13870458b"/>
    <p:sldId xmlns:r="http://schemas.openxmlformats.org/officeDocument/2006/relationships" id="262" r:id="R9af53b29d27140ec"/>
    <p:sldId xmlns:r="http://schemas.openxmlformats.org/officeDocument/2006/relationships" id="263" r:id="Rf373d458356e4fc7"/>
    <p:sldId xmlns:r="http://schemas.openxmlformats.org/officeDocument/2006/relationships" id="264" r:id="R4f2de38c46e74335"/>
    <p:sldId xmlns:r="http://schemas.openxmlformats.org/officeDocument/2006/relationships" id="265" r:id="R3c3b5aedb4674839"/>
    <p:sldId xmlns:r="http://schemas.openxmlformats.org/officeDocument/2006/relationships" id="266" r:id="R0daab153966048a8"/>
    <p:sldId xmlns:r="http://schemas.openxmlformats.org/officeDocument/2006/relationships" id="267" r:id="Rf716a263a61c47d5"/>
    <p:sldId xmlns:r="http://schemas.openxmlformats.org/officeDocument/2006/relationships" id="268" r:id="R6dfe407207c44de9"/>
    <p:sldId xmlns:r="http://schemas.openxmlformats.org/officeDocument/2006/relationships" id="269" r:id="Rb0c8b7755d0449b6"/>
    <p:sldId xmlns:r="http://schemas.openxmlformats.org/officeDocument/2006/relationships" id="270" r:id="Re9fdeef595f2443b"/>
    <p:sldId xmlns:r="http://schemas.openxmlformats.org/officeDocument/2006/relationships" id="271" r:id="R20d4ef84337248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e65fa2d8b549b4" /><Relationship Type="http://schemas.openxmlformats.org/officeDocument/2006/relationships/slideMaster" Target="/ppt/slideMasters/slideMaster1.xml" Id="Rf78e99161d434bd6" /><Relationship Type="http://schemas.openxmlformats.org/officeDocument/2006/relationships/notesMaster" Target="/ppt/notesMasters/notesMaster1.xml" Id="Rc7613a5bb9204993" /><Relationship Type="http://schemas.openxmlformats.org/officeDocument/2006/relationships/presProps" Target="/ppt/presProps.xml" Id="R75aff3f102a8442a" /><Relationship Type="http://schemas.openxmlformats.org/officeDocument/2006/relationships/tableStyles" Target="/ppt/tableStyles.xml" Id="R8b2ef9b0d7904e90" /><Relationship Type="http://schemas.openxmlformats.org/officeDocument/2006/relationships/slide" Target="/ppt/slides/slide1.xml" Id="R2b83a9be6aea4897" /><Relationship Type="http://schemas.openxmlformats.org/officeDocument/2006/relationships/slide" Target="/ppt/slides/slide2.xml" Id="Rdbf855293faf4921" /><Relationship Type="http://schemas.openxmlformats.org/officeDocument/2006/relationships/slide" Target="/ppt/slides/slide3.xml" Id="R51dd1d9885974750" /><Relationship Type="http://schemas.openxmlformats.org/officeDocument/2006/relationships/slide" Target="/ppt/slides/slide4.xml" Id="R4284bc0ae2a34a4a" /><Relationship Type="http://schemas.openxmlformats.org/officeDocument/2006/relationships/slide" Target="/ppt/slides/slide5.xml" Id="Rb10446ab6f16436b" /><Relationship Type="http://schemas.openxmlformats.org/officeDocument/2006/relationships/slide" Target="/ppt/slides/slide6.xml" Id="Rec1d1db13870458b" /><Relationship Type="http://schemas.openxmlformats.org/officeDocument/2006/relationships/slide" Target="/ppt/slides/slide7.xml" Id="R9af53b29d27140ec" /><Relationship Type="http://schemas.openxmlformats.org/officeDocument/2006/relationships/slide" Target="/ppt/slides/slide8.xml" Id="Rf373d458356e4fc7" /><Relationship Type="http://schemas.openxmlformats.org/officeDocument/2006/relationships/slide" Target="/ppt/slides/slide9.xml" Id="R4f2de38c46e74335" /><Relationship Type="http://schemas.openxmlformats.org/officeDocument/2006/relationships/slide" Target="/ppt/slides/slide10.xml" Id="R3c3b5aedb4674839" /><Relationship Type="http://schemas.openxmlformats.org/officeDocument/2006/relationships/slide" Target="/ppt/slides/slide11.xml" Id="R0daab153966048a8" /><Relationship Type="http://schemas.openxmlformats.org/officeDocument/2006/relationships/slide" Target="/ppt/slides/slide12.xml" Id="Rf716a263a61c47d5" /><Relationship Type="http://schemas.openxmlformats.org/officeDocument/2006/relationships/slide" Target="/ppt/slides/slide13.xml" Id="R6dfe407207c44de9" /><Relationship Type="http://schemas.openxmlformats.org/officeDocument/2006/relationships/slide" Target="/ppt/slides/slide14.xml" Id="Rb0c8b7755d0449b6" /><Relationship Type="http://schemas.openxmlformats.org/officeDocument/2006/relationships/slide" Target="/ppt/slides/slide15.xml" Id="Re9fdeef595f2443b" /><Relationship Type="http://schemas.openxmlformats.org/officeDocument/2006/relationships/slide" Target="/ppt/slides/slide16.xml" Id="R20d4ef84337248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004d7724774d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42900" dist="133350" dir="5400000">
              <a:srgbClr val="3C239F">
                <a:alpha val="10000"/>
              </a:srgbClr>
            </a:outerShdw>
          </a:effectLst>
        </a:effectStyle>
        <a:effectStyle>
          <a:effectLst>
            <a:outerShdw blurRad="419100" dist="171450" dir="5400000">
              <a:srgbClr val="210F72">
                <a:alpha val="28000"/>
              </a:srgbClr>
            </a:outerShdw>
          </a:effectLst>
        </a:effectStyle>
        <a:effectStyle>
          <a:effectLst>
            <a:outerShdw blurRad="419100" dist="171450" dir="5400000">
              <a:srgbClr val="210F72">
                <a:alpha val="24000"/>
              </a:srgbClr>
            </a:outerShdw>
          </a:effectLst>
        </a:effectStyle>
        <a:effectStyle>
          <a:effectLst>
            <a:outerShdw blurRad="323850" dist="114300" dir="5400000">
              <a:srgbClr val="2F7D5A">
                <a:alpha val="8000"/>
              </a:srgbClr>
            </a:outerShdw>
          </a:effectLst>
        </a:effectStyle>
        <a:effectStyle>
          <a:effectLst>
            <a:outerShdw blurRad="323850" dist="114300" dir="5400000">
              <a:srgbClr val="B44959">
                <a:alpha val="8000"/>
              </a:srgbClr>
            </a:outerShdw>
          </a:effectLst>
        </a:effectStyle>
        <a:effectStyle>
          <a:effectLst>
            <a:outerShdw blurRad="457200" dist="190500" dir="5400000">
              <a:srgbClr val="3C239F">
                <a:alpha val="22000"/>
              </a:srgbClr>
            </a:outerShdw>
          </a:effectLst>
        </a:effectStyle>
        <a:effectStyle>
          <a:effectLst>
            <a:outerShdw blurRad="323850" dist="133350" dir="5400000">
              <a:srgbClr val="3C239F">
                <a:alpha val="18000"/>
              </a:srgbClr>
            </a:outerShdw>
          </a:effectLst>
        </a:effectStyle>
        <a:effectStyle>
          <a:effectLst>
            <a:outerShdw blurRad="419100" dist="171450" dir="5400000">
              <a:srgbClr val="3C239F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e574d0720f47c3" /><Relationship Type="http://schemas.openxmlformats.org/officeDocument/2006/relationships/notesMaster" Target="/ppt/notesMasters/notesMaster1.xml" Id="R4f3194a88e3748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9182503da148b4" /><Relationship Type="http://schemas.openxmlformats.org/officeDocument/2006/relationships/notesMaster" Target="/ppt/notesMasters/notesMaster1.xml" Id="Rd710b611120e4d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2e1931f568426e" /><Relationship Type="http://schemas.openxmlformats.org/officeDocument/2006/relationships/notesMaster" Target="/ppt/notesMasters/notesMaster1.xml" Id="Rad533c7ced8e47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9508455a404970" /><Relationship Type="http://schemas.openxmlformats.org/officeDocument/2006/relationships/notesMaster" Target="/ppt/notesMasters/notesMaster1.xml" Id="R6f873e8de2cb48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7441cdfe034b98" /><Relationship Type="http://schemas.openxmlformats.org/officeDocument/2006/relationships/notesMaster" Target="/ppt/notesMasters/notesMaster1.xml" Id="Re47c3266ec3044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6268ea7dc843bc" /><Relationship Type="http://schemas.openxmlformats.org/officeDocument/2006/relationships/notesMaster" Target="/ppt/notesMasters/notesMaster1.xml" Id="R96b6254dee1c4e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6511a0e7644fbf" /><Relationship Type="http://schemas.openxmlformats.org/officeDocument/2006/relationships/notesMaster" Target="/ppt/notesMasters/notesMaster1.xml" Id="Rfa210daba5654f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1ddd8a4b764d49" /><Relationship Type="http://schemas.openxmlformats.org/officeDocument/2006/relationships/notesMaster" Target="/ppt/notesMasters/notesMaster1.xml" Id="R9295ddc6788547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9aab29fb5e42a9" /><Relationship Type="http://schemas.openxmlformats.org/officeDocument/2006/relationships/notesMaster" Target="/ppt/notesMasters/notesMaster1.xml" Id="Rc9bca7b34f7148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59bef4a41c4176" /><Relationship Type="http://schemas.openxmlformats.org/officeDocument/2006/relationships/notesMaster" Target="/ppt/notesMasters/notesMaster1.xml" Id="R1c59689f98504f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4e5b306a084a8b" /><Relationship Type="http://schemas.openxmlformats.org/officeDocument/2006/relationships/notesMaster" Target="/ppt/notesMasters/notesMaster1.xml" Id="R50f9b0ae268f42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91f1eece0942de" /><Relationship Type="http://schemas.openxmlformats.org/officeDocument/2006/relationships/notesMaster" Target="/ppt/notesMasters/notesMaster1.xml" Id="R12cbe26695bb4d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882d1d6ce341bc" /><Relationship Type="http://schemas.openxmlformats.org/officeDocument/2006/relationships/notesMaster" Target="/ppt/notesMasters/notesMaster1.xml" Id="Rdb44fea922044c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f3386ff1af4f4e" /><Relationship Type="http://schemas.openxmlformats.org/officeDocument/2006/relationships/notesMaster" Target="/ppt/notesMasters/notesMaster1.xml" Id="R975092358a1543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bd2543a0844539" /><Relationship Type="http://schemas.openxmlformats.org/officeDocument/2006/relationships/notesMaster" Target="/ppt/notesMasters/notesMaster1.xml" Id="Raa5b33c08eec4c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19a5a77e6749ce" /><Relationship Type="http://schemas.openxmlformats.org/officeDocument/2006/relationships/notesMaster" Target="/ppt/notesMasters/notesMaster1.xml" Id="R1c20b1ebd3614d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app/apps/nana-wallet/src/components/HybridLandingIntro.tsx</a:t>
            </a:r>
          </a:p>
          <a:p xmlns:a="http://schemas.openxmlformats.org/drawingml/2006/main">
            <a:r>
              <a:t>- assets/sprites/nani-01-lista.png</a:t>
            </a:r>
          </a:p>
          <a:p xmlns:a="http://schemas.openxmlformats.org/drawingml/2006/main">
            <a:r>
              <a:t>- docs/business-model/nana-business-model.pdf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slides 2 and 4</a:t>
            </a:r>
          </a:p>
          <a:p xmlns:a="http://schemas.openxmlformats.org/drawingml/2006/main">
            <a:r>
              <a:t>- docs/business-model/nana-business-model.pdf · problem and product thesis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https://www.who.int/news-room/fact-sheets/detail/ageing-and-health</a:t>
            </a:r>
          </a:p>
          <a:p xmlns:a="http://schemas.openxmlformats.org/drawingml/2006/main">
            <a:r>
              <a:t>- https://www.who.int/news-room/fact-sheets/detail/disability-and-health</a:t>
            </a:r>
          </a:p>
          <a:p xmlns:a="http://schemas.openxmlformats.org/drawingml/2006/main">
            <a:r>
              <a:t>- WHO figures are global and describe population context, not Nana's addressable market.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assets/landing/agent-command.jpg</a:t>
            </a:r>
          </a:p>
          <a:p xmlns:a="http://schemas.openxmlformats.org/drawingml/2006/main">
            <a:r>
              <a:t>- assets/landing/agent-confirmation.jpg</a:t>
            </a:r>
          </a:p>
          <a:p xmlns:a="http://schemas.openxmlformats.org/drawingml/2006/main">
            <a:r>
              <a:t>- assets/landing/agent-confirmed.jpg</a:t>
            </a:r>
          </a:p>
          <a:p xmlns:a="http://schemas.openxmlformats.org/drawingml/2006/main">
            <a:r>
              <a:t>- assets/landing/agent-home.jpg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 6</a:t>
            </a:r>
          </a:p>
          <a:p xmlns:a="http://schemas.openxmlformats.org/drawingml/2006/main">
            <a:r>
              <a:t>- docs/business-model/nana-business-model.pdf · dual-user model</a:t>
            </a:r>
          </a:p>
          <a:p xmlns:a="http://schemas.openxmlformats.org/drawingml/2006/main">
            <a:r>
              <a:t>- docs/mission-board/Nana-Mission-Board.pptx · product principles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slides 7 and 8</a:t>
            </a:r>
          </a:p>
          <a:p xmlns:a="http://schemas.openxmlformats.org/drawingml/2006/main">
            <a:r>
              <a:t>- docs/business-model/nana-business-model.pdf · intervention-by-exception rule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 8</a:t>
            </a:r>
          </a:p>
          <a:p xmlns:a="http://schemas.openxmlformats.org/drawingml/2006/main">
            <a:r>
              <a:t>- docs/business-model/nana-business-model.pdf · Protection Engine and policy orchestration</a:t>
            </a:r>
          </a:p>
          <a:p xmlns:a="http://schemas.openxmlformats.org/drawingml/2006/main">
            <a:r>
              <a:t>- Flow is a product model; concrete thresholds remain subject to user testing and compliance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delegated execution architecture</a:t>
            </a:r>
          </a:p>
          <a:p xmlns:a="http://schemas.openxmlformats.org/drawingml/2006/main">
            <a:r>
              <a:t>- Implementation primitives under evaluation include smart accounts, programmable permissions, session keys and multisig escalation.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 9</a:t>
            </a:r>
          </a:p>
          <a:p xmlns:a="http://schemas.openxmlformats.org/drawingml/2006/main">
            <a:r>
              <a:t>- https://github.com/theboyplunger0x/nana-wallet</a:t>
            </a:r>
          </a:p>
          <a:p xmlns:a="http://schemas.openxmlformats.org/drawingml/2006/main">
            <a:r>
              <a:t>- assets/landing/agent-confirmed.jpg</a:t>
            </a:r>
          </a:p>
          <a:p xmlns:a="http://schemas.openxmlformats.org/drawingml/2006/main">
            <a:r>
              <a:t>- Hackathon placement and transfer count are team-reported proof points carried forward from the existing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ownership boundary and infrastructure paths</a:t>
            </a:r>
          </a:p>
          <a:p xmlns:a="http://schemas.openxmlformats.org/drawingml/2006/main">
            <a:r>
              <a:t>- https://github.com/theboyplunger0x/nana-wallet</a:t>
            </a:r>
          </a:p>
          <a:p xmlns:a="http://schemas.openxmlformats.org/drawingml/2006/main">
            <a:r>
              <a:t>- Tether/WDK is the proven implementation path; Circle/Arc is an evaluation path, not a committed dependency.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revenue hypotheses and Nana Free / Nana Family</a:t>
            </a:r>
          </a:p>
          <a:p xmlns:a="http://schemas.openxmlformats.org/drawingml/2006/main">
            <a:r>
              <a:t>- Pricing and revenue units are intentionally shown as hypotheses pending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wedge and expansion sequence</a:t>
            </a:r>
          </a:p>
          <a:p xmlns:a="http://schemas.openxmlformats.org/drawingml/2006/main">
            <a:r>
              <a:t>- This slide replaces the previous unsupported TAM arithmetic with an explicit product expansion 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 15</a:t>
            </a:r>
          </a:p>
          <a:p xmlns:a="http://schemas.openxmlformats.org/drawingml/2006/main">
            <a:r>
              <a:t>- docs/business-model/nana-business-model.pdf · initial distribution thesis</a:t>
            </a:r>
          </a:p>
          <a:p xmlns:a="http://schemas.openxmlformats.org/drawingml/2006/main">
            <a:r>
              <a:t>- GTM sequence is a hypothesis to validate, not a reported funnel.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slides 9 and 16</a:t>
            </a:r>
          </a:p>
          <a:p xmlns:a="http://schemas.openxmlformats.org/drawingml/2006/main">
            <a:r>
              <a:t>- docs/business-model/nana-business-model.pdf · open questions and validation priorities</a:t>
            </a:r>
          </a:p>
          <a:p xmlns:a="http://schemas.openxmlformats.org/drawingml/2006/main">
            <a:r>
              <a:t>- The previous claim that two experiments were already running has been removed because it was not independently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https://github.com/theboyplunger0x/nana-wallet</a:t>
            </a:r>
          </a:p>
          <a:p xmlns:a="http://schemas.openxmlformats.org/drawingml/2006/main">
            <a:r>
              <a:t>- https://github.com/rober8b</a:t>
            </a:r>
          </a:p>
          <a:p xmlns:a="http://schemas.openxmlformats.org/drawingml/2006/main">
            <a:r>
              <a:t>- https://github.com/ram4-dev</a:t>
            </a:r>
          </a:p>
          <a:p xmlns:a="http://schemas.openxmlformats.org/drawingml/2006/main">
            <a:r>
              <a:t>- https://github.com/BecerraIgnacio</a:t>
            </a:r>
          </a:p>
          <a:p xmlns:a="http://schemas.openxmlformats.org/drawingml/2006/main">
            <a:r>
              <a:t>- https://github.com/theboyplunger0x</a:t>
            </a:r>
          </a:p>
          <a:p xmlns:a="http://schemas.openxmlformats.org/drawingml/2006/main">
            <a:r>
              <a:t>- Role labels were intentionally omitted rather than inferred from limited public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final product primitive</a:t>
            </a:r>
          </a:p>
          <a:p xmlns:a="http://schemas.openxmlformats.org/drawingml/2006/main">
            <a:r>
              <a:t>- assets/sprites/nani-02-escuchando.png</a:t>
            </a:r>
          </a:p>
          <a:p xmlns:a="http://schemas.openxmlformats.org/drawingml/2006/main">
            <a:r>
              <a:t>- https://nana-wallet-hybrid.vercel.app</a:t>
            </a:r>
          </a:p>
          <a:p xmlns:a="http://schemas.openxmlformats.org/drawingml/2006/main">
            <a:r>
              <a:t>- https://github.com/theboyplunger0x/nana-wallet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37d10fa7a4f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408643342d4a8d" /><Relationship Type="http://schemas.openxmlformats.org/officeDocument/2006/relationships/slideLayout" Target="/ppt/slideLayouts/slideLayout1.xml" Id="Ra6ea40517c8e41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ea40517c8e41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09dfa37254768" /><Relationship Type="http://schemas.openxmlformats.org/officeDocument/2006/relationships/image" Target="/ppt/media/image.jpeg" Id="Rc980ef7dc57d4414" /><Relationship Type="http://schemas.openxmlformats.org/officeDocument/2006/relationships/image" Target="/ppt/media/image.png" Id="R9c03367009454773" /><Relationship Type="http://schemas.openxmlformats.org/officeDocument/2006/relationships/image" Target="/ppt/media/image2.png" Id="Ra2016e79d3a54ad7" /><Relationship Type="http://schemas.openxmlformats.org/officeDocument/2006/relationships/image" Target="/ppt/media/image3.png" Id="R3a7406745d4c474e" /><Relationship Type="http://schemas.openxmlformats.org/officeDocument/2006/relationships/image" Target="/ppt/media/image4.png" Id="R365997c3499741b5" /><Relationship Type="http://schemas.openxmlformats.org/officeDocument/2006/relationships/notesSlide" Target="/ppt/notesSlides/notesSlide1.xml" Id="Rf681655626be46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f3160cf7743a0" /><Relationship Type="http://schemas.openxmlformats.org/officeDocument/2006/relationships/image" Target="/ppt/media/image2.jpeg" Id="R76fcc06dbccf4525" /><Relationship Type="http://schemas.openxmlformats.org/officeDocument/2006/relationships/image" Target="/ppt/media/image5.png" Id="R67a3c0b84a0c4d1f" /><Relationship Type="http://schemas.openxmlformats.org/officeDocument/2006/relationships/image" Target="/ppt/media/image6.png" Id="R6ac7037a5156435f" /><Relationship Type="http://schemas.openxmlformats.org/officeDocument/2006/relationships/image" Target="/ppt/media/image7.png" Id="Rfa2637aa4ab94e94" /><Relationship Type="http://schemas.openxmlformats.org/officeDocument/2006/relationships/image" Target="/ppt/media/image8.png" Id="R8e353d464bf34fba" /><Relationship Type="http://schemas.openxmlformats.org/officeDocument/2006/relationships/notesSlide" Target="/ppt/notesSlides/notesSlide2.xml" Id="Rd3eb0e9fe13240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e66aa67854b6a" /><Relationship Type="http://schemas.openxmlformats.org/officeDocument/2006/relationships/image" Target="/ppt/media/image3.jpeg" Id="R75b14ca2f6bf4705" /><Relationship Type="http://schemas.openxmlformats.org/officeDocument/2006/relationships/image" Target="/ppt/media/image9.png" Id="R7402d20c268f4c20" /><Relationship Type="http://schemas.openxmlformats.org/officeDocument/2006/relationships/image" Target="/ppt/media/image10.png" Id="R34740e22e2814837" /><Relationship Type="http://schemas.openxmlformats.org/officeDocument/2006/relationships/notesSlide" Target="/ppt/notesSlides/notesSlide3.xml" Id="Rd2200a5c8fa949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0a37070b5485a" /><Relationship Type="http://schemas.openxmlformats.org/officeDocument/2006/relationships/image" Target="/ppt/media/image4.jpeg" Id="R8473c85a09024036" /><Relationship Type="http://schemas.openxmlformats.org/officeDocument/2006/relationships/image" Target="/ppt/media/image11.png" Id="R220b732dfdbc4ada" /><Relationship Type="http://schemas.openxmlformats.org/officeDocument/2006/relationships/image" Target="/ppt/media/image12.png" Id="R73c2a2a3622d43ce" /><Relationship Type="http://schemas.openxmlformats.org/officeDocument/2006/relationships/image" Target="/ppt/media/image5.jpeg" Id="Rce234bb6b0a04f2a" /><Relationship Type="http://schemas.openxmlformats.org/officeDocument/2006/relationships/image" Target="/ppt/media/image6.jpeg" Id="R663c418da799430b" /><Relationship Type="http://schemas.openxmlformats.org/officeDocument/2006/relationships/image" Target="/ppt/media/image7.jpeg" Id="Raeefc9ab5a494ac9" /><Relationship Type="http://schemas.openxmlformats.org/officeDocument/2006/relationships/image" Target="/ppt/media/image8.jpeg" Id="R83defceafd734686" /><Relationship Type="http://schemas.openxmlformats.org/officeDocument/2006/relationships/notesSlide" Target="/ppt/notesSlides/notesSlide4.xml" Id="R5f438ffa104b46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736a10f75433f" /><Relationship Type="http://schemas.openxmlformats.org/officeDocument/2006/relationships/image" Target="/ppt/media/image9.jpeg" Id="R5a4f73e564824556" /><Relationship Type="http://schemas.openxmlformats.org/officeDocument/2006/relationships/image" Target="/ppt/media/image13.png" Id="Ra814d09cb878437c" /><Relationship Type="http://schemas.openxmlformats.org/officeDocument/2006/relationships/image" Target="/ppt/media/image14.png" Id="R4d3aab7a7def44c0" /><Relationship Type="http://schemas.openxmlformats.org/officeDocument/2006/relationships/image" Target="/ppt/media/image15.png" Id="R97e16d18b3c64a21" /><Relationship Type="http://schemas.openxmlformats.org/officeDocument/2006/relationships/notesSlide" Target="/ppt/notesSlides/notesSlide5.xml" Id="Rf0e0f635cdaf4f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5ddc86c4648bd" /><Relationship Type="http://schemas.openxmlformats.org/officeDocument/2006/relationships/image" Target="/ppt/media/image10.jpeg" Id="R5df09e952a7e4d0b" /><Relationship Type="http://schemas.openxmlformats.org/officeDocument/2006/relationships/image" Target="/ppt/media/image16.png" Id="R38f429df65dc4cfd" /><Relationship Type="http://schemas.openxmlformats.org/officeDocument/2006/relationships/image" Target="/ppt/media/image17.png" Id="R5e1afba3da54421b" /><Relationship Type="http://schemas.openxmlformats.org/officeDocument/2006/relationships/image" Target="/ppt/media/image18.png" Id="R5cebb9b10a4e4300" /><Relationship Type="http://schemas.openxmlformats.org/officeDocument/2006/relationships/notesSlide" Target="/ppt/notesSlides/notesSlide6.xml" Id="R98cf7a5498d241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0cf976348423e" /><Relationship Type="http://schemas.openxmlformats.org/officeDocument/2006/relationships/image" Target="/ppt/media/image11.jpeg" Id="Rb11cd7d574864079" /><Relationship Type="http://schemas.openxmlformats.org/officeDocument/2006/relationships/image" Target="/ppt/media/image19.png" Id="R7af261e98eaf4e95" /><Relationship Type="http://schemas.openxmlformats.org/officeDocument/2006/relationships/image" Target="/ppt/media/image20.png" Id="R26a0766b776c4202" /><Relationship Type="http://schemas.openxmlformats.org/officeDocument/2006/relationships/notesSlide" Target="/ppt/notesSlides/notesSlide7.xml" Id="R08f2c8cf467c43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6dd7c1b6844e1" /><Relationship Type="http://schemas.openxmlformats.org/officeDocument/2006/relationships/image" Target="/ppt/media/image12.jpeg" Id="Ra31521376f66420a" /><Relationship Type="http://schemas.openxmlformats.org/officeDocument/2006/relationships/image" Target="/ppt/media/image21.png" Id="R6b4e3035072b4d3f" /><Relationship Type="http://schemas.openxmlformats.org/officeDocument/2006/relationships/image" Target="/ppt/media/image22.png" Id="R8b442f3cae5244cd" /><Relationship Type="http://schemas.openxmlformats.org/officeDocument/2006/relationships/notesSlide" Target="/ppt/notesSlides/notesSlide8.xml" Id="R22d19ad7837548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1a72a679d4811" /><Relationship Type="http://schemas.openxmlformats.org/officeDocument/2006/relationships/image" Target="/ppt/media/image13.jpeg" Id="Rb8288882166c44f3" /><Relationship Type="http://schemas.openxmlformats.org/officeDocument/2006/relationships/image" Target="/ppt/media/image23.png" Id="R1330d3a9d2c24194" /><Relationship Type="http://schemas.openxmlformats.org/officeDocument/2006/relationships/image" Target="/ppt/media/image24.png" Id="Ra27f1982e5464e21" /><Relationship Type="http://schemas.openxmlformats.org/officeDocument/2006/relationships/image" Target="/ppt/media/image14.jpeg" Id="R329dfba229e24dcb" /><Relationship Type="http://schemas.openxmlformats.org/officeDocument/2006/relationships/notesSlide" Target="/ppt/notesSlides/notesSlide9.xml" Id="Rfcbb53e10e484d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5de8078c0431e" /><Relationship Type="http://schemas.openxmlformats.org/officeDocument/2006/relationships/image" Target="/ppt/media/image15.jpeg" Id="R7f112255b7764804" /><Relationship Type="http://schemas.openxmlformats.org/officeDocument/2006/relationships/image" Target="/ppt/media/image25.png" Id="R32f50f6b7c0f48ee" /><Relationship Type="http://schemas.openxmlformats.org/officeDocument/2006/relationships/image" Target="/ppt/media/image26.png" Id="R84d74d48588a4380" /><Relationship Type="http://schemas.openxmlformats.org/officeDocument/2006/relationships/notesSlide" Target="/ppt/notesSlides/notesSlide10.xml" Id="R44354c57337142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b59c67c5e4091" /><Relationship Type="http://schemas.openxmlformats.org/officeDocument/2006/relationships/image" Target="/ppt/media/image16.jpeg" Id="R37e32b5a055c4967" /><Relationship Type="http://schemas.openxmlformats.org/officeDocument/2006/relationships/image" Target="/ppt/media/image27.png" Id="R2cbfe830a8234fe9" /><Relationship Type="http://schemas.openxmlformats.org/officeDocument/2006/relationships/image" Target="/ppt/media/image28.png" Id="R6852ca66175a41ee" /><Relationship Type="http://schemas.openxmlformats.org/officeDocument/2006/relationships/notesSlide" Target="/ppt/notesSlides/notesSlide11.xml" Id="Re83d458b599c4f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3ac6cee734792" /><Relationship Type="http://schemas.openxmlformats.org/officeDocument/2006/relationships/image" Target="/ppt/media/image17.jpeg" Id="R276d3a51b00e49a1" /><Relationship Type="http://schemas.openxmlformats.org/officeDocument/2006/relationships/image" Target="/ppt/media/image29.png" Id="R3d392ecb191c45ed" /><Relationship Type="http://schemas.openxmlformats.org/officeDocument/2006/relationships/image" Target="/ppt/media/image30.png" Id="R1792b819236c4184" /><Relationship Type="http://schemas.openxmlformats.org/officeDocument/2006/relationships/image" Target="/ppt/media/image31.png" Id="Rd1bcdab955324489" /><Relationship Type="http://schemas.openxmlformats.org/officeDocument/2006/relationships/image" Target="/ppt/media/image32.png" Id="R6839441d7624422f" /><Relationship Type="http://schemas.openxmlformats.org/officeDocument/2006/relationships/image" Target="/ppt/media/image33.png" Id="Re9a564441dc64756" /><Relationship Type="http://schemas.openxmlformats.org/officeDocument/2006/relationships/notesSlide" Target="/ppt/notesSlides/notesSlide12.xml" Id="Rc9767154acd345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1badc3a034cf9" /><Relationship Type="http://schemas.openxmlformats.org/officeDocument/2006/relationships/image" Target="/ppt/media/image18.jpeg" Id="R9ac801b4104a4f45" /><Relationship Type="http://schemas.openxmlformats.org/officeDocument/2006/relationships/image" Target="/ppt/media/image34.png" Id="Rc62f3dbf7e184530" /><Relationship Type="http://schemas.openxmlformats.org/officeDocument/2006/relationships/image" Target="/ppt/media/image35.png" Id="R4dc265f8f94b4088" /><Relationship Type="http://schemas.openxmlformats.org/officeDocument/2006/relationships/notesSlide" Target="/ppt/notesSlides/notesSlide13.xml" Id="R575da14f1c5441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bb33aca8f497a" /><Relationship Type="http://schemas.openxmlformats.org/officeDocument/2006/relationships/image" Target="/ppt/media/image19.jpeg" Id="Rcd306428123647ad" /><Relationship Type="http://schemas.openxmlformats.org/officeDocument/2006/relationships/image" Target="/ppt/media/image36.png" Id="R546a1246368f41a2" /><Relationship Type="http://schemas.openxmlformats.org/officeDocument/2006/relationships/image" Target="/ppt/media/image37.png" Id="R4edd7c829d0d4865" /><Relationship Type="http://schemas.openxmlformats.org/officeDocument/2006/relationships/notesSlide" Target="/ppt/notesSlides/notesSlide14.xml" Id="R376dda9477fc4eb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e8e4468e14994" /><Relationship Type="http://schemas.openxmlformats.org/officeDocument/2006/relationships/image" Target="/ppt/media/image20.jpeg" Id="Rd9fd11545d7d4265" /><Relationship Type="http://schemas.openxmlformats.org/officeDocument/2006/relationships/image" Target="/ppt/media/image38.png" Id="R492cffd1328e4d0d" /><Relationship Type="http://schemas.openxmlformats.org/officeDocument/2006/relationships/image" Target="/ppt/media/image39.png" Id="R79e55bbc562d4df6" /><Relationship Type="http://schemas.openxmlformats.org/officeDocument/2006/relationships/image" Target="/ppt/media/image21.jpeg" Id="Rcc89674a93374280" /><Relationship Type="http://schemas.openxmlformats.org/officeDocument/2006/relationships/image" Target="/ppt/media/image22.jpeg" Id="Rfc3de49f66494fec" /><Relationship Type="http://schemas.openxmlformats.org/officeDocument/2006/relationships/image" Target="/ppt/media/image23.jpeg" Id="R3dcb3c16c76a4387" /><Relationship Type="http://schemas.openxmlformats.org/officeDocument/2006/relationships/image" Target="/ppt/media/image40.png" Id="Raaef4724a90f475f" /><Relationship Type="http://schemas.openxmlformats.org/officeDocument/2006/relationships/notesSlide" Target="/ppt/notesSlides/notesSlide15.xml" Id="R4a7ccddde73543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f96569bc64956" /><Relationship Type="http://schemas.openxmlformats.org/officeDocument/2006/relationships/image" Target="/ppt/media/image24.jpeg" Id="R7d5a0c464dbc4dbb" /><Relationship Type="http://schemas.openxmlformats.org/officeDocument/2006/relationships/image" Target="/ppt/media/image41.png" Id="R95f673d9d20446b7" /><Relationship Type="http://schemas.openxmlformats.org/officeDocument/2006/relationships/image" Target="/ppt/media/image42.png" Id="Raae4712ca9fa45f0" /><Relationship Type="http://schemas.openxmlformats.org/officeDocument/2006/relationships/image" Target="/ppt/media/image43.png" Id="R71eb6ce529a247d1" /><Relationship Type="http://schemas.openxmlformats.org/officeDocument/2006/relationships/notesSlide" Target="/ppt/notesSlides/notesSlide16.xml" Id="Re9c4376b73544df9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980ef7dc57d4414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228F2-D64E-426C-AE6F-4C229F16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0C02C-1D8A-46BF-A204-C114D945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239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97D68-81CB-406B-9EE3-0C272A0B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478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95689-8E17-4590-82CD-53A60E66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A5F28-8FFB-469B-9637-5243C8D4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FFB0C-9851-4743-A706-A445BCF2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F4E9D-3102-426C-87AF-2D15E7DB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434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03ADF-A487-4380-966F-2649465B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673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29FF0-223D-4154-90F3-48998B4D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912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4EE66-C835-47F9-95F0-497A78EC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151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3367009454773"/>
          <a:stretch xmlns:a="http://schemas.openxmlformats.org/drawingml/2006/main"/>
        </p:blipFill>
        <p:spPr>
          <a:xfrm xmlns:a="http://schemas.openxmlformats.org/drawingml/2006/main">
            <a:off x="9048750" y="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16e79d3a54ad7"/>
          <a:stretch xmlns:a="http://schemas.openxmlformats.org/drawingml/2006/main"/>
        </p:blipFill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406745d4c474e"/>
          <a:stretch xmlns:a="http://schemas.openxmlformats.org/drawingml/2006/main"/>
        </p:blipFill>
        <p:spPr>
          <a:xfrm xmlns:a="http://schemas.openxmlformats.org/drawingml/2006/main">
            <a:off x="6096000" y="685800"/>
            <a:ext cx="5429250" cy="54292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5127CC-5513-4FEA-B00D-66785A53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2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726B0-1728-4FE0-AE54-DBF31CAF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5811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FABFD-E0CA-43D3-BEA7-0B16A4E6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AGENTIC WALLET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37899B-2B45-4EF0-B68B-5CF272B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810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6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49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Independence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49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through voice.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8B941-0D69-4315-BB6F-3C8C054A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5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Protection when it matters.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12807B-A0ED-4E5C-A751-D714D1EC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72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The agentic wallet for seniors and people with limited mobility.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FA8C01-1941-4878-871D-1E40A8BE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PITCH DECK · SEPTEMBER 2026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997c3499741b5"/>
          <a:stretch xmlns:a="http://schemas.openxmlformats.org/drawingml/2006/main"/>
        </p:blipFill>
        <p:spPr>
          <a:xfrm xmlns:a="http://schemas.openxmlformats.org/drawingml/2006/main">
            <a:off x="6934200" y="1450242"/>
            <a:ext cx="4000500" cy="43766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93040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6fcc06dbccf4525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3c0b84a0c4d1f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7037a5156435f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B1FEF-61DF-4509-9262-BCDBB91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CDDAF3-DB3B-48E5-A870-5AFFA1CC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C4FC4-745A-4CC8-B9F5-852DC953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THE PROBLEM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99470-C3CF-4C64-B18B-CAE7872A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04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Protection today often means taking over.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099646-A056-48A2-9413-18A64F2E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72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When financial interfaces become difficult, families usually choose between two bad outcomes: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F8FC80-9368-4BCE-A679-6BBB2A48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905500" cy="781050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1EBD1E-078D-4863-B916-F638F9F5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2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8D6787-DAB1-446B-B2A7-99420735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38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Do it for them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AEAF32-63A0-424F-9E42-4FDCD612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480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2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The person loses agency and privacy.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E2C8B0-0E64-40D3-9F69-89E5795B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905500" cy="781050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988D60-A448-4509-80A9-191B90A4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2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DE6A20-8F79-4CE5-BD9F-40774CEE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00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Leave them alone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B374CD-CD9F-49CF-B963-732957C7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95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2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The risk of error, fraud or lockout grows.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2C16AB-CF80-42AE-A349-DE1D184D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5905500" cy="781050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EDE8FF">
              <a:alpha val="76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E0DF65-6532-4D0C-82C6-1E0676D3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577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2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72D1E6-C289-4D83-B589-77BBA280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Add another app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4C5899-0700-4B1B-A74F-6EEF71BE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911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2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More screens and passwords do not solve the real problem.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637aa4ab94e94"/>
          <a:stretch xmlns:a="http://schemas.openxmlformats.org/drawingml/2006/main"/>
        </p:blipFill>
        <p:spPr>
          <a:xfrm xmlns:a="http://schemas.openxmlformats.org/drawingml/2006/main">
            <a:off x="7143750" y="2000250"/>
            <a:ext cx="3905250" cy="3905250"/>
          </a:xfrm>
          <a:prstGeom xmlns:a="http://schemas.openxmlformats.org/drawingml/2006/main" prst="rect">
            <a:avLst/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53d464bf34fba"/>
          <a:stretch xmlns:a="http://schemas.openxmlformats.org/drawingml/2006/main"/>
        </p:blipFill>
        <p:spPr>
          <a:xfrm xmlns:a="http://schemas.openxmlformats.org/drawingml/2006/main">
            <a:off x="9620250" y="1838325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5D85A3-5876-4C59-B15C-CA0BCF85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3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The missing option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A26500-5BDF-4CFC-87B4-DF8118C3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24225"/>
            <a:ext cx="280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7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Act independently.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7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Escalate only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7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when needed.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C981F4-DEEF-470B-8BFF-F6156E19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9BE538-5852-46D4-95A2-D5EE70E2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8206831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5b14ca2f6bf4705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2d20c268f4c20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40e22e2814837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76FF91-CED8-4992-9914-56981ED0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8DBE6F-7667-42BF-80B3-05FF03E5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C5DC6C-80B5-4B14-A415-4491205A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WHY NOW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36DACF-3FB7-4ACC-A669-6E03D8D5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need is structural and growing.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3BC173-D68D-46BF-A155-E6CE5C90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71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72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A massive population is being asked to navigate an increasingly screen-first financial life.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E4E103-39EA-4C75-AB59-80282599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333750" cy="2333625"/>
          </a:xfrm>
          <a:prstGeom xmlns:a="http://schemas.openxmlformats.org/drawingml/2006/main" prst="roundRect">
            <a:avLst>
              <a:gd name="adj" fmla="val 13061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594104-C7B2-4B5F-A3F4-B732E505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43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1 in 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C7F1E2-E27A-415A-9BCE-7F69AA1D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people worldwide will be 60+ by 2030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3A60D7-24B2-4579-A886-7E5B21B2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333750" cy="2333625"/>
          </a:xfrm>
          <a:prstGeom xmlns:a="http://schemas.openxmlformats.org/drawingml/2006/main" prst="roundRect">
            <a:avLst>
              <a:gd name="adj" fmla="val 13061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A997D3-33F2-4CDF-B61A-D42413F8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43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1.4B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18D6FE-1B63-4D52-B0B1-AC469AC1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195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people aged 60+ by 2030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58DDB4-911B-441E-8E21-E91C13B6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33625"/>
          </a:xfrm>
          <a:prstGeom xmlns:a="http://schemas.openxmlformats.org/drawingml/2006/main" prst="roundRect">
            <a:avLst>
              <a:gd name="adj" fmla="val 13061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CF7DC4-0C2A-44B6-93F7-894FFCFA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43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1.3B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FBD9DF-5ABB-4382-9EA3-9E566269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people live with significant disability today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3E987B-C887-48D5-9A8E-2C9FD2F6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62600"/>
            <a:ext cx="49530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5639DD"/>
          </a:solidFill>
          <a:ln xmlns:a="http://schemas.openxmlformats.org/drawingml/2006/main" w="9525">
            <a:solidFill>
              <a:srgbClr val="5639D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89F8DE-09D3-44AB-9655-B261EC1A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48325"/>
            <a:ext cx="472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0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OUR WEDGE: SENIORS + LIMITED MOBILITY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12246E-B09D-4D08-B957-6F129F87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046331-F5B1-47FD-859E-40CF4595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23750090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473c85a09024036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b732dfdbc4ada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2a2a3622d43ce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74F804-44A1-4BFF-897B-9E92B2F1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030273-FC18-4000-AA3E-CCAC564F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46FB27-DD86-463E-817D-95034E31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THE PRODUCT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395107-1850-4E33-B180-77168317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Ask. Prepare. Confirm. Settle.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31BE76-ED93-405A-8B09-58329DC9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A financial action starts in natural language and ends with explicit user consent.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58AA36-12D8-423D-8674-D797F7C9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809750" cy="3333750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0">
            <a:solidFill>
              <a:srgbClr val="1715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34bb6b0a04f2a"/>
          <a:srcRect xmlns:a="http://schemas.openxmlformats.org/drawingml/2006/main" l="0" t="5650" r="0" b="5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543175"/>
            <a:ext cx="1657350" cy="3181350"/>
          </a:xfrm>
          <a:prstGeom xmlns:a="http://schemas.openxmlformats.org/drawingml/2006/main" prst="roundRect">
            <a:avLst>
              <a:gd name="adj" fmla="val 12644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27BD1A-19E8-437A-8ADF-60A8449C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436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9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335973-E8B1-4125-8B34-9613F9ED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43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ASK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372109-64DC-4B99-A06C-4424A864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171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5B3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86EB78-D04A-4785-9FF7-07CA5C63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C5B3FF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C5B3FF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F306C5-9FFD-4B80-A639-651DA184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66975"/>
            <a:ext cx="1809750" cy="3333750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0">
            <a:solidFill>
              <a:srgbClr val="1715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c418da799430b"/>
          <a:srcRect xmlns:a="http://schemas.openxmlformats.org/drawingml/2006/main" l="0" t="5650" r="0" b="5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0" y="2543175"/>
            <a:ext cx="1657350" cy="3181350"/>
          </a:xfrm>
          <a:prstGeom xmlns:a="http://schemas.openxmlformats.org/drawingml/2006/main" prst="roundRect">
            <a:avLst>
              <a:gd name="adj" fmla="val 12644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69720B-8E08-4ADC-BB89-ACE9A115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9436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9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51B573-3386-4F34-A765-3571D768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943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PREPARE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DA4E20-5B55-442B-BD1E-D2D03888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171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5B3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FDDFEA-14B3-4129-9F0A-823E659C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C5B3FF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C5B3FF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5D0B58-6A72-49A8-A661-369962CF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66975"/>
            <a:ext cx="1809750" cy="3333750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0">
            <a:solidFill>
              <a:srgbClr val="1715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fc9ab5a494ac9"/>
          <a:srcRect xmlns:a="http://schemas.openxmlformats.org/drawingml/2006/main" l="0" t="5650" r="0" b="5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543175"/>
            <a:ext cx="1657350" cy="3181350"/>
          </a:xfrm>
          <a:prstGeom xmlns:a="http://schemas.openxmlformats.org/drawingml/2006/main" prst="roundRect">
            <a:avLst>
              <a:gd name="adj" fmla="val 12644"/>
            </a:avLst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1DE21C-B063-4680-8770-09A87B8F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436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9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739EBE-6A2F-44F0-B7F7-9001F839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43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CONFIRM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A51A36-869D-4C51-A58F-6EE76B03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171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5B3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1FA53A-B74F-4010-87F5-20F93D13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C5B3FF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C5B3FF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B521FB-D8B4-4A28-AFF4-3EF93D87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66975"/>
            <a:ext cx="1809750" cy="3333750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0">
            <a:solidFill>
              <a:srgbClr val="1715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efceafd734686"/>
          <a:srcRect xmlns:a="http://schemas.openxmlformats.org/drawingml/2006/main" l="0" t="5650" r="0" b="5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0" y="2543175"/>
            <a:ext cx="1657350" cy="3181350"/>
          </a:xfrm>
          <a:prstGeom xmlns:a="http://schemas.openxmlformats.org/drawingml/2006/main" prst="roundRect">
            <a:avLst>
              <a:gd name="adj" fmla="val 12644"/>
            </a:avLst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D2DE2B-5983-4E40-9D13-DCD4BAC8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9436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9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22C90E-1D29-4679-83C7-E14507D2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943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SETTLE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8DE238-FE67-46C9-A7BC-4C417199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DF0BBF-D49A-4FE0-B196-F03B94A2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5603336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a4f73e564824556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4d09cb878437c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aab7a7def44c0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CD20F3-2D90-44C2-9BD4-7219FFEB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1A5276-7FEE-4A3E-B7C2-8FEEC9AD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6CF8E5-7BFA-43FE-81AE-D668BBEE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45161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DUAL-USER PRODUCT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4F2625-7F19-4AE7-BCC8-A92C67A4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One account. Two distinct roles.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33EB19-5A72-4C18-958B-69EFBFA6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separates the person who acts from the person who can help when something looks wrong.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A5A610-F495-42C1-8A13-1883E79B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4476750" cy="29146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68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8F3C5A-0B62-4D0D-A0FD-A7868BD1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F9FB8C-40FF-40AB-8F7D-4B0DD3D3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289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END USER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F7F518-D3F9-4CDC-B805-A0827AB7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Acts independently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88FBB5-B8DC-4A44-90D6-0C6E9F3B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05275"/>
            <a:ext cx="3286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• Speaks the intent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• Reviews every consequence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• Keeps final authority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3B6348-2614-42C1-8A34-52D39C10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4476750" cy="29146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8FF">
              <a:alpha val="70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551DB1-E7FE-4462-B67C-21738630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43225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105426-AF20-4EA5-86B0-B5B57ECF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289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RESPONSIBLE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BD099D-6B8A-4F15-8979-53EC73E6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524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Helps by exception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B36C3D-B1F5-4419-B04A-3A7D11C4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10527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• Receives unusual-event alerts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• Can co-approve if policy requires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• Never silently takes control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16d18b3c64a21"/>
          <a:stretch xmlns:a="http://schemas.openxmlformats.org/drawingml/2006/main"/>
        </p:blipFill>
        <p:spPr>
          <a:xfrm xmlns:a="http://schemas.openxmlformats.org/drawingml/2006/main">
            <a:off x="5391150" y="3162300"/>
            <a:ext cx="1409700" cy="1409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8CD745-D265-4CC6-AB7E-3C73F997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957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0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trusted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0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relationship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112C64-0CE0-4AB4-9108-C20C3B26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DEE04E-1F06-4C06-B3F6-46278A4A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6907500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df09e952a7e4d0b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429df65dc4cfd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afba3da54421b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A33EC5-C3D6-475E-8AE0-57A3CAC3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9A5AD6-F92F-4F0A-8CEF-B5EB708C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6A332A-4C14-4AA9-8E31-B3EF20D1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72593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THE PRODUCT PRINCIPLE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832C02-C066-412C-BF41-CA017E8F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Intervention happens only by exception.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6BA665-612E-419E-9BF2-6EB7AF3F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EDE8FF"/>
                </a:solidFill>
                <a:latin typeface="Nunito"/>
                <a:ea typeface="Nunito"/>
                <a:cs typeface="Nunito"/>
              </a:rPr>
              <a:t>The user acts independently. Nana pauses only when an action breaks policy or context.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6CA345-827F-473F-B792-9DC5C69A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4857750" cy="2238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FFFF">
                <a:alpha val="3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50670A-AABC-46BF-AF44-03BA2796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4000500" cy="2238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D0DA">
                <a:alpha val="4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107C0C-F1BB-44C0-9B98-6AEB9706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33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5A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BDF3D5"/>
                </a:solidFill>
                <a:latin typeface="Nunito"/>
                <a:ea typeface="Nunito"/>
                <a:cs typeface="Nunito"/>
              </a:rPr>
              <a:t>DEFAULT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8D93F5-AE56-480B-A472-7F8D3EB4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433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77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User acts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C5EBE3-E523-4CB6-8213-7735154E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4337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Nana prepares, explains and executes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after explicit confirmation.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F4A008-714E-449F-AB17-A6EEE52E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337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44959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FFD0DA"/>
                </a:solidFill>
                <a:latin typeface="Nunito"/>
                <a:ea typeface="Nunito"/>
                <a:cs typeface="Nunito"/>
              </a:rPr>
              <a:t>EXCEPTION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529D79-CDF3-4DE5-B771-726FB434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43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Pause + alert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9F9050-C75F-437F-A65D-F8749CCC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43375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350" b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Nana holds the action and alerts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350" b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the responsible person.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bb9b10a4e4300"/>
          <a:stretch xmlns:a="http://schemas.openxmlformats.org/drawingml/2006/main"/>
        </p:blipFill>
        <p:spPr>
          <a:xfrm xmlns:a="http://schemas.openxmlformats.org/drawingml/2006/main">
            <a:off x="9763125" y="4038600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07FE8F-2EF1-4B99-AD68-BFCF661B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3DF787-8412-4266-A98E-679C1718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D8CBFF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97178476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11cd7d574864079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261e98eaf4e95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0766b776c4202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1AF1A-6103-4177-AD36-D22B8D2A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D6A457-281C-48C3-BE2C-8404A47E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7A3ADC-D9C3-4EB6-AF05-4B0E63A0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45161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PROTECTION ENGINE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671C0C-D38C-434C-B5F4-A1F90BC1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Normal intent flows. Unusual intent pauses.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0C1425-9DCA-414C-9983-E97EE45E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The same simple interaction can produce two different safety outcomes.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4C4028-D3ED-4801-82D6-597E7B1C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34700" cy="12001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5E8">
              <a:alpha val="78000"/>
            </a:srgbClr>
          </a:solidFill>
          <a:ln xmlns:a="http://schemas.openxmlformats.org/drawingml/2006/main" w="9525">
            <a:solidFill>
              <a:srgbClr val="2F7D5A">
                <a:alpha val="2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884615-01E0-41B4-AD28-083491A4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F7D5A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2F7D5A"/>
                </a:solidFill>
                <a:latin typeface="Nunito"/>
                <a:ea typeface="Nunito"/>
                <a:cs typeface="Nunito"/>
              </a:rPr>
              <a:t>ORDINARY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DDBEDD-AECD-48A0-BF7F-7364B9E5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EAA8AD-85C4-4968-B8CE-A3131134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E64AF2-3603-48BB-A0E3-CF1FCA0F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242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Intent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F6EF34-DD2A-4EA1-949A-07E58AD2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480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5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2BEDB2-32EA-443F-A71B-B0A36A17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76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4032D7-ED7F-4CF6-A07D-A6916029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9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4FB58D-2533-44CB-8A92-B5D692CE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F4619A-01E1-42C2-9E4A-745DB57A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242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Explain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05A851-0A7B-4D7D-8949-22861A3E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480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5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510B72-43D9-48B6-9C56-519CEB82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76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6C415D-7548-4A1A-A822-F225FD0C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09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5EE8F7-803E-4902-80B2-1878B7A0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BBF039-78CD-4F7B-82CD-83D8801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242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Confirm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FBDDD0-DD12-4F14-B42C-966C114F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480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5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023040-4A9C-4BC8-9512-F5205491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76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BA89A7-EE9A-4153-82FB-25C04851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9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DAD4FD-1836-4DE5-A98C-10BA329E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86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8945AE-EA4B-4769-A84C-5416B37D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242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Execute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C27EB5-B91B-4ACB-A1DD-0605EA0C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12001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E2E7">
              <a:alpha val="78000"/>
            </a:srgbClr>
          </a:solidFill>
          <a:ln xmlns:a="http://schemas.openxmlformats.org/drawingml/2006/main" w="9525">
            <a:solidFill>
              <a:srgbClr val="B44959">
                <a:alpha val="2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39653C-D96E-48FB-AE20-82009D85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44959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B44959"/>
                </a:solidFill>
                <a:latin typeface="Nunito"/>
                <a:ea typeface="Nunito"/>
                <a:cs typeface="Nunito"/>
              </a:rPr>
              <a:t>UNUSUAL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E95D01-67AC-40BD-959B-F6775C63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DE972D-FD91-4A8D-9AB3-3CADDE8C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B7F44D-3576-4521-B6D8-C78E4201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625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Intent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FB358F-062D-4F1D-AAE2-EB9EBFCD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86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495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2C0DF2-FDA9-4BF1-A46B-C7E2A07B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14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0406C7-BDF2-4127-ACBF-7CC88526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48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660B04-01C6-4D48-8945-B5A4BE21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24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BC58B2-F882-449F-ADF2-32D6DE25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625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Detect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0BEFC67-BA43-4A04-B1E7-5A312AA8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86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495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420EB2-B17A-4E25-940E-D9C925CF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914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79DD84-97FA-4D76-8394-CE54694B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48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2DFCF4-D5D7-4E7C-9D0C-412032C5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24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C7F3D5-FFB8-4271-8CA1-AD4A902C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625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Pause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D0A5BA5-B4C7-4B55-9C31-3F6ADFC0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86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4959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D3CA62-612C-4A37-9492-4F637D05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14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038C41F-E144-429E-BCA5-8CC0C079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48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1EEEC5C-C35D-4A59-A8D7-AD8C1BB4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24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FD079D5-2C8B-4C71-86C3-20C802A8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625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Escalate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5E94BD8-FAF0-4FE4-ADF3-FDF4E2CF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80A79B1-0B24-4B70-868B-F91F057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37585418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31521376f66420a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e3035072b4d3f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42f3cae5244cd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E859E-1FC3-462E-A928-4EB3D15B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E5F2DF-FD31-4F4E-A6F6-1549537D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D145A0-76F7-4484-A476-935A595F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58877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DELEGATED EXECUTION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4DD310-61B4-4113-8343-62E402B6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9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agent can act inside boundaries the user controls.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98CC5F-A708-4CF9-8B5E-13C08E37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Authority stays with the person. Agent permissions are limited, transparent and revocable.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831294-8BF6-49B6-832B-160FBD64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2362200" cy="2076450"/>
          </a:xfrm>
          <a:prstGeom xmlns:a="http://schemas.openxmlformats.org/drawingml/2006/main" prst="roundRect">
            <a:avLst>
              <a:gd name="adj" fmla="val 13761"/>
            </a:avLst>
          </a:prstGeom>
          <a:solidFill xmlns:a="http://schemas.openxmlformats.org/drawingml/2006/main">
            <a:srgbClr val="EDE8FF">
              <a:alpha val="70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02DF5E-3392-44C7-9E0B-1FD056A3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A7F99B-1EFB-417E-A513-9F886780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DA0759-C04B-4C87-A890-537A8728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USER 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8B18B2-BBA3-40E1-A693-731D72FE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Defines who can do what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20819B-3154-41B5-99BD-67B894D4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386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639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3A1D9F-3DB4-4D40-97FD-1E692B60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8EAFB2-4711-4A77-B283-4B4A7CA0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0375"/>
            <a:ext cx="2362200" cy="2076450"/>
          </a:xfrm>
          <a:prstGeom xmlns:a="http://schemas.openxmlformats.org/drawingml/2006/main" prst="roundRect">
            <a:avLst>
              <a:gd name="adj" fmla="val 13761"/>
            </a:avLst>
          </a:prstGeom>
          <a:solidFill xmlns:a="http://schemas.openxmlformats.org/drawingml/2006/main">
            <a:srgbClr val="FFFFFF">
              <a:alpha val="68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393ED8-620A-46F1-AE40-ED5F61E6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48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D15393-5A5B-44C4-96FB-66C70B58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24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DF1469-1E83-4CAF-805C-E297DEC4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147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POLICY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F11EC9-93CF-4130-AFC1-612EC890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33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Limits, recipients and escalation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80BA38-B8F9-4EF3-B972-8990CCE8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86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639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943D3B-EE65-43FC-878C-B4848CA7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460AC1-3512-4028-B936-8781E232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2362200" cy="2076450"/>
          </a:xfrm>
          <a:prstGeom xmlns:a="http://schemas.openxmlformats.org/drawingml/2006/main" prst="roundRect">
            <a:avLst>
              <a:gd name="adj" fmla="val 13761"/>
            </a:avLst>
          </a:prstGeom>
          <a:solidFill xmlns:a="http://schemas.openxmlformats.org/drawingml/2006/main">
            <a:srgbClr val="EDE8FF">
              <a:alpha val="70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858260-9F53-4521-A9F0-5BC3CEC4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48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2D30F8-FFE7-4E4A-8430-CA498D68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24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6F40B0-C048-4983-961A-FDB9520B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147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NANA AGENT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7800DC-B083-4E3C-9A0E-C4AD478D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33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Prepares and explains the action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0F2E0B-872E-45C8-A4DC-D42400B7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386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639D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54E0B0-DEA3-4962-A242-987A531F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671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12AD81-38E1-47ED-86A7-7C586B6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0375"/>
            <a:ext cx="2362200" cy="2076450"/>
          </a:xfrm>
          <a:prstGeom xmlns:a="http://schemas.openxmlformats.org/drawingml/2006/main" prst="roundRect">
            <a:avLst>
              <a:gd name="adj" fmla="val 13761"/>
            </a:avLst>
          </a:prstGeom>
          <a:solidFill xmlns:a="http://schemas.openxmlformats.org/drawingml/2006/main">
            <a:srgbClr val="FFFFFF">
              <a:alpha val="68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EBC956-20C5-4D15-9D6C-79C3A9E5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48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A95BBC-3B75-457C-87B0-AF53C740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24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00ADF5-58FF-4B36-BDCF-0B543E03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147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EXECUTION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C6E36C-944E-4DD2-B999-0A3CB135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33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Execute or hold and escalate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EBA8C3-9633-41FE-81F1-3600DF0C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4673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9525">
            <a:solidFill>
              <a:srgbClr val="5639DD">
                <a:alpha val="22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EE2376-6FE4-433D-8434-2920A8D6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5530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BOUNDED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94BFC2-7071-4FBE-B0F0-08F822F4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467350"/>
            <a:ext cx="1619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9525">
            <a:solidFill>
              <a:srgbClr val="5639DD">
                <a:alpha val="22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7B576E4-2C47-45AC-85CA-13199734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55307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TRANSPARENT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94FDA2F-BD47-4F85-A42B-2A16A942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673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9525">
            <a:solidFill>
              <a:srgbClr val="5639DD">
                <a:alpha val="22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E5C1E6-121A-4BB6-8336-E220FE75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530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REVOCABLE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73674F-05C6-412F-AB00-3874105F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467350"/>
            <a:ext cx="18478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9525">
            <a:solidFill>
              <a:srgbClr val="5639DD">
                <a:alpha val="22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0C002AF-351A-4852-9F6C-8D3A1B08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553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USER-CONTROLLED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5F02087-ED11-4ABB-BF50-C0B8F87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512BE8-7A1C-4ED4-8D2E-6E67D5A7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75334133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8288882166c44f3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0d3a9d2c24194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f1982e5464e21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86BB1C-B287-4552-9FAE-E88A24A8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66F9BC-FAB2-404D-8795-FDEAC88A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781BC6-8CB2-433C-B498-37F7D7CC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PROOF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366EF6-AB74-4B68-B074-BE8C61C8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first agentic transfer loop already works.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653784-2337-4B9A-9909-0632B8EF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We built the core interaction, shipped a safety floor and validated the direction in public.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E0E2F5-336D-49D4-8415-8FDDACB2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381250" cy="171450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>
              <a:alpha val="68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3FCDF7-45B6-43AB-B447-54DD9646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809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39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353EDC-C6F0-4424-B413-B2AE9CD2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AGENTIC TRANSFERS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D54A71-0DCA-4F03-BC99-931537F2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24150"/>
            <a:ext cx="2381250" cy="171450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>
              <a:alpha val="68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A81ECB-5AEA-4A7A-952A-1DD3EACC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33700"/>
            <a:ext cx="1809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39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2nd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FA894C-9658-4AF5-A7BA-3233CAB4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7528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TETHER WDK HACKATHON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0C5EA3-DFD3-44B5-AC77-8CCFB708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24150"/>
            <a:ext cx="2381250" cy="171450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>
              <a:alpha val="68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FCD531-95A0-4628-90B7-E11ACBFB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33700"/>
            <a:ext cx="1809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39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44B220-285E-4210-8086-65DF8F53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528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WORKING DUAL-USER LOOP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C2A2CD-96D8-4226-877A-174FD1C0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2152650" cy="3714750"/>
          </a:xfrm>
          <a:prstGeom xmlns:a="http://schemas.openxmlformats.org/drawingml/2006/main" prst="roundRect">
            <a:avLst>
              <a:gd name="adj" fmla="val 13274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0">
            <a:solidFill>
              <a:srgbClr val="1715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dfba229e24dcb"/>
          <a:srcRect xmlns:a="http://schemas.openxmlformats.org/drawingml/2006/main" l="0" t="8852" r="0" b="8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2050" y="2476500"/>
            <a:ext cx="2000250" cy="356235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2BDCC5-711B-4C6E-957A-FFF4405A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Built, not rendered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E89EAD-D662-48D6-B19F-5412C952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42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Voice input · intent parsing · explicit confirmation · receipt · unusual-event controls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00500B-8D4D-489E-A2EE-8441477F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75F2A9-D5A1-4FD6-ADF6-F9731B2B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67077765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f112255b7764804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50f6b7c0f48ee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74d48588a4380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457A39-D915-4F1B-9C99-45E365F5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9F97D4-C5BA-4964-BF64-234FB163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0222BA-8A9C-4360-B0FD-5E4B269D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10871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OUR BOUNDARY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0C854E-8229-4B3C-B9D5-6CA8A41A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 owns the experience and the trust layer.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070F5A-BE35-492D-9B6A-5891C291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Infrastructure can evolve without changing the user relationship or product promise.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B533EB-C6F6-4AAD-817D-9047845F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381625" cy="3048000"/>
          </a:xfrm>
          <a:prstGeom xmlns:a="http://schemas.openxmlformats.org/drawingml/2006/main" prst="roundRect">
            <a:avLst>
              <a:gd name="adj" fmla="val 11250"/>
            </a:avLst>
          </a:prstGeom>
          <a:gradFill xmlns:a="http://schemas.openxmlformats.org/drawingml/2006/main">
            <a:gsLst>
              <a:gs pos="0">
                <a:srgbClr val="4B2FC7"/>
              </a:gs>
              <a:gs pos="100000">
                <a:srgbClr val="6D53F2"/>
              </a:gs>
            </a:gsLst>
            <a:lin ang="810000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4FAD48-4170-4C5F-A4D9-D7DDE3FA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CBFF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D8CBFF"/>
                </a:solidFill>
                <a:latin typeface="Nunito"/>
                <a:ea typeface="Nunito"/>
                <a:cs typeface="Nunito"/>
              </a:rPr>
              <a:t>NANA OWNS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6BD265-DA9C-4DF5-A9A2-F4178F3D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8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92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The product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92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people trust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AE8105-E2C8-400C-8A8B-43C1C1E8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DE8FF"/>
                </a:solidFill>
                <a:latin typeface="Nunito"/>
                <a:ea typeface="Nunito"/>
                <a:cs typeface="Nunito"/>
              </a:defRPr>
            </a:pPr>
            <a:r>
              <a:rPr sz="1425" b="0">
                <a:solidFill>
                  <a:srgbClr val="EDE8FF"/>
                </a:solidFill>
                <a:latin typeface="Nunito"/>
                <a:ea typeface="Nunito"/>
                <a:cs typeface="Nunito"/>
              </a:rPr>
              <a:t>Agent · voice UX · Family Graph · Protection Engine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EDE8FF"/>
                </a:solidFill>
                <a:latin typeface="Nunito"/>
                <a:ea typeface="Nunito"/>
                <a:cs typeface="Nunito"/>
              </a:defRPr>
            </a:pPr>
            <a:r>
              <a:rPr sz="1425" b="0">
                <a:solidFill>
                  <a:srgbClr val="EDE8FF"/>
                </a:solidFill>
                <a:latin typeface="Nunito"/>
                <a:ea typeface="Nunito"/>
                <a:cs typeface="Nunito"/>
              </a:rPr>
              <a:t>policies · orchestration · user relationship · brand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8C4FF8-52F9-4474-B9B1-BBE0F7F3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5162550" cy="3048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63EE35-7B72-44E8-A547-EE354C06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81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PARTNERS PROVIDE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DB386F-045D-43D1-B0DD-EDB3343E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0425"/>
            <a:ext cx="4095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6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rails beneath 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27F2A2-545C-4A69-8B11-D4F9F14A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Wallet infrastructure · stablecoins · settlement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fiat rails · KYC · bill pay · liquidity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722D4B-CD14-49FD-91D6-77CC6F04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72075"/>
            <a:ext cx="2076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DF5E8"/>
          </a:solidFill>
          <a:ln xmlns:a="http://schemas.openxmlformats.org/drawingml/2006/main" w="9525">
            <a:solidFill>
              <a:srgbClr val="DDF5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30EE91-888D-4796-961B-20E234B8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578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7D5A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2F7D5A"/>
                </a:solidFill>
                <a:latin typeface="Nunito"/>
                <a:ea typeface="Nunito"/>
                <a:cs typeface="Nunito"/>
              </a:rPr>
              <a:t>WDK / USDT · PROVEN PATH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D7CF8C-43A1-43B9-AB44-D8E2AE15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72075"/>
            <a:ext cx="2143125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EDE8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F1DC38-9698-4120-8C14-6C9BA854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5780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ARC / USDC · EVALUATING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7D698E-D73F-4D47-B8E8-B376CB96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2BD9CE-231F-41E8-B1F0-0176B8F3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77085409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7e32b5a055c4967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fe830a8234fe9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2ca66175a41ee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AE3547-61E6-41CB-B72D-02507677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3DDCA8-5051-4AE3-B83B-E062B97D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91B488-622C-486B-BA8D-E4BB5056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24587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BUSINESS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C1FA59-A707-4E28-8C4B-380889C6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Three hypotheses. One non-negotiable.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77E4C1-6C45-42EA-ADF6-111685C8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We will validate monetization without putting the safety floor behind a paywall.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7E725C-8E4B-46D2-A95E-F42B9DD6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333750" cy="25146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>
              <a:alpha val="68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44222-71EE-457E-A024-5F5B2FA8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3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162EC3-D6C8-4290-89F2-18EE73C1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12192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3ADB39-04E7-43CF-BB62-E17ABBA1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03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HYPOTHESIS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CCD465-7592-4269-87BA-3D8778FA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0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Financial activity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7B50C6-34BB-4D7F-97A7-59456EA9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42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Revenue from transactions and embedded financial flows.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984860-62D6-49E1-9325-79C528B6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3333750" cy="25146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E8FF">
              <a:alpha val="72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8B54C4-96F4-481E-A7C3-20FC4B48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3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FB5323-87B0-430D-978E-7B6C9879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12192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49586E-C343-4C9E-AEB0-D493482A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03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HYPOTHESIS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C00776-00EA-41CE-B713-53001015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0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 Family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86F952-AF03-4A98-A9BE-09F3E85B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24325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42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Paid coordination, visibility and family-level controls. Pricing unit: TBD.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7731E1-AFD6-47E8-B8FF-5EF8E8AB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3333750" cy="25146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>
              <a:alpha val="68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44EAD7-5A21-4BC6-8751-362338E8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3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CCC5A4-4BF3-455D-BE7E-69DC3AC6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14650"/>
            <a:ext cx="12192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F6CC53-CFA7-4364-B0B1-C836B6B7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003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HYPOTHESIS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1CF8BF-75F9-4C9E-8E92-74540394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2425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0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B2B2C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80A9E2-506E-417E-9630-8C321AAC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24325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42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Distribution through institutions serving seniors, families and care networks.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02243C-E37D-48CB-B5DC-4C31BB40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43550"/>
            <a:ext cx="7905750" cy="552450"/>
          </a:xfrm>
          <a:prstGeom xmlns:a="http://schemas.openxmlformats.org/drawingml/2006/main" prst="roundRect">
            <a:avLst>
              <a:gd name="adj" fmla="val 44828"/>
            </a:avLst>
          </a:prstGeom>
          <a:gradFill xmlns:a="http://schemas.openxmlformats.org/drawingml/2006/main">
            <a:gsLst>
              <a:gs pos="0">
                <a:srgbClr val="4930C0"/>
              </a:gs>
              <a:gs pos="100000">
                <a:srgbClr val="684CF6"/>
              </a:gs>
            </a:gsLst>
            <a:lin ang="8100000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6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40CD67-2360-419A-AFEB-FC30669E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1500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125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THE NON-NEGOTIABLE · CORE SAFETY REMAINS FREE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C2D25E-044C-4383-8FF2-FD5342B1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F3022D-70F6-41F1-A448-33E3E047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2680338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76d3a51b00e49a1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92ecb191c45ed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2b819236c4184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1F24DB-454B-4DBD-ABF1-A085BE06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63ACAF-1170-4182-8329-AC7BF9A9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2567D7-5C69-42F9-933D-F24E0171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EXPANSION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AB9476-FB3A-428F-8B6E-79ADF7A1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 focused wedge into a broader financial primitive.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61CD31-D7E3-4B10-BCA1-742228E6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Start where the cost of inaccessible finance is highest, then expand through trusted relationships.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A1AE3B-B815-41CA-83D7-C3C728BF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03822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363165-7EE8-4216-8E72-8371CA24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38475"/>
            <a:ext cx="7524750" cy="2457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A35B72-559F-4BF0-B335-F8F848BC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0425"/>
            <a:ext cx="3857625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88D8C2-0BAB-42EA-B699-A7D6828B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90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40D675-A7F2-4032-96A8-3D7B5D2E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99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Seniors +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limited mobility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B63F8A-C23D-4949-B204-25479E96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05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2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Accessible action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116C8F-D136-4DBE-A15D-0D4D93DC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F48C46-9BA8-49A3-A32F-A672FC52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719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2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Family finance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9F2DEC-4613-4966-9304-8E173786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2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Trusted coordination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FA6209-8FA1-4FA5-B5E7-FFC2EAC2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6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8CBFF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75BD25-E0FA-4E0D-B2EF-6B666E4C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2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Delegated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2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finance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D7CF21-7099-4DCC-BEA1-D68CBD7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DF5D9B-288D-452B-B954-132771E9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11EE9A-0828-4159-95EC-E736686C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857500" cy="28575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1bcdab95532448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6C8C44-EAFD-4463-97F6-A3DA5045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9875"/>
            <a:ext cx="2667000" cy="2667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839441d7624422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11B40C9-FCB5-4D08-9D97-4FE6C7EA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2381250" cy="23812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9a564441dc64756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0268786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ac801b4104a4f45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f3dbf7e184530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265f8f94b4088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2164F3-BEFF-403F-A783-D29C8F4B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98936E-4C49-4219-A984-62F4D03B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1EBB14-EBA1-4416-8873-EDEBBC2B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10871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GO TO MARKET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090F3E-DD21-4E19-B35C-20A683D5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responsible person opens the door.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7E6944-01BA-41E5-9DD4-4150A816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Distribution starts with the family member who already helps, without turning them into the account owner.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0E06B9-6FD8-4AF4-A389-13EDD587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3333750" cy="2457450"/>
          </a:xfrm>
          <a:prstGeom xmlns:a="http://schemas.openxmlformats.org/drawingml/2006/main" prst="roundRect">
            <a:avLst>
              <a:gd name="adj" fmla="val 13178"/>
            </a:avLst>
          </a:prstGeom>
          <a:solidFill xmlns:a="http://schemas.openxmlformats.org/drawingml/2006/main">
            <a:srgbClr val="FFFFFF">
              <a:alpha val="68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C80517-1B4E-44BE-9F55-3F2B5A5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89CC6E-86B5-4875-80A6-A0C1E4B0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71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1CED6F-9A8B-4C16-85C2-568C131D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DISCOVER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205C83-1F1B-4CF5-9324-342FC8BA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957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 daughter, son or trusted person finds Nana.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713EB2-1CCC-422E-BF2C-80AE39F6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639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3302CD-E811-4D37-94CF-E28E1A7D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019ECB-7E85-45D5-91A8-F8F103D5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9875"/>
            <a:ext cx="3333750" cy="2457450"/>
          </a:xfrm>
          <a:prstGeom xmlns:a="http://schemas.openxmlformats.org/drawingml/2006/main" prst="roundRect">
            <a:avLst>
              <a:gd name="adj" fmla="val 13178"/>
            </a:avLst>
          </a:prstGeom>
          <a:solidFill xmlns:a="http://schemas.openxmlformats.org/drawingml/2006/main">
            <a:srgbClr val="EDE8FF">
              <a:alpha val="70000"/>
            </a:srgbClr>
          </a:solidFill>
          <a:ln xmlns:a="http://schemas.openxmlformats.org/drawingml/2006/main" w="9525">
            <a:solidFill>
              <a:srgbClr val="5639DD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A53F6D-915A-4A63-B1B9-8F9C4E3A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9C2F46-F666-4492-A021-AAF5654C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71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5EF403-7035-43F5-B828-62219EEC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90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ASSIST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654070-17E2-40DC-9C8B-FFF591E0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957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They help with setup, trusted contacts and preferences.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D32018-448A-477B-BA7E-94441570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57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639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ED8381-751B-4D11-9E41-3B5786B0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6A1924-BA1D-431E-A20B-8752E543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333750" cy="2457450"/>
          </a:xfrm>
          <a:prstGeom xmlns:a="http://schemas.openxmlformats.org/drawingml/2006/main" prst="roundRect">
            <a:avLst>
              <a:gd name="adj" fmla="val 13178"/>
            </a:avLst>
          </a:prstGeom>
          <a:gradFill xmlns:a="http://schemas.openxmlformats.org/drawingml/2006/main">
            <a:gsLst>
              <a:gs pos="0">
                <a:srgbClr val="4930C0"/>
              </a:gs>
              <a:gs pos="100000">
                <a:srgbClr val="684CF6"/>
              </a:gs>
            </a:gsLst>
            <a:lin ang="8100000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7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8A51C9-44C7-418E-834B-CB87747E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B5E99B-0F25-4D10-9BE3-7D14D1B3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71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16A505-BE47-4A82-A06B-FCC096D7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90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CBFF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D8CBFF"/>
                </a:solidFill>
                <a:latin typeface="Nunito"/>
                <a:ea typeface="Nunito"/>
                <a:cs typeface="Nunito"/>
              </a:rPr>
              <a:t>STEP BACK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50183C-B8E4-4181-9E09-89EE2998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957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The end user speaks, confirms and keeps authority.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23C3AA-68E2-45B1-A532-79502CF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0547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8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Acquisition by trust. Retention by independence.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AF75EC-23CA-4F65-A348-3AF287EA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0A1552-73A2-44E5-B57A-DFC20D30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857195617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d306428123647ad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a1246368f41a2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d7c829d0d4865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913C61-44F6-4159-A160-335BBE48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5FE0AF-F38A-4C6C-9726-470759A2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EA76B6-8FA6-4D15-B99D-2135ACFD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EXECUTION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4AFFCD-7793-4186-8D57-740FD52E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 working core with a focused validation plan.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F28FCC-8D39-4C75-88BA-6AC7FFB9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What exists today is separated from what we need to learn next.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902434-8756-47F2-8B84-DF1A35E8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5238750" cy="3238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5E8">
              <a:alpha val="76000"/>
            </a:srgbClr>
          </a:solidFill>
          <a:ln xmlns:a="http://schemas.openxmlformats.org/drawingml/2006/main" w="9525">
            <a:solidFill>
              <a:srgbClr val="2F7D5A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7F7237-C869-487E-9998-DFFD0269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9906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1AC6BC-97F3-4B20-B39C-236AD460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7D5A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2F7D5A"/>
                </a:solidFill>
                <a:latin typeface="Nunito"/>
                <a:ea typeface="Nunito"/>
                <a:cs typeface="Nunito"/>
              </a:rPr>
              <a:t>BUILT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C9A722-F453-4755-8418-47D648C0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3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Working product core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593483-E912-469E-80CB-2FA7BDC2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3905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✓ Voice-led intent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✓ Agent prepares a transfer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✓ Explicit confirmation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✓ Transaction receipt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✓ Dual-user safety concept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5150A5-ECE5-45F4-9B8A-1A3250A5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5238750" cy="3238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E8FF">
              <a:alpha val="74000"/>
            </a:srgbClr>
          </a:solidFill>
          <a:ln xmlns:a="http://schemas.openxmlformats.org/drawingml/2006/main" w="9525">
            <a:solidFill>
              <a:srgbClr val="5639DD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222255-2801-4416-9A82-74CFB4E5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24175"/>
            <a:ext cx="17145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8876F7-9483-4466-80BD-EF261B5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NEXT TO VALIDATE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38C348-4A18-47B4-B24B-B8EEDB07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147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3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riskiest assumptions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46F310-CDE1-4C58-A6AB-E222A53C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33850"/>
            <a:ext cx="4191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→ Responsible-person acquisition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→ Family Graph configuration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→ Escalation thresholds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→ Nana Family willingness to pay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→ Infrastructure path by market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7D2EF7-91D6-4E9C-AA9D-F212CB26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A5C5AA-47D3-4BC6-BF41-E9064F56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882973434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9fd11545d7d4265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cffd1328e4d0d"/>
          <a:stretch xmlns:a="http://schemas.openxmlformats.org/drawingml/2006/main"/>
        </p:blipFill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55bbc562d4df6"/>
          <a:stretch xmlns:a="http://schemas.openxmlformats.org/drawingml/2006/main"/>
        </p:blipFill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AAA82C-4374-4FC9-8038-BB53ED8F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F71987-F989-4457-952C-CB4F0853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86172C-E42C-4957-AFA4-114DFB57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5639DD">
                <a:alpha val="28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TEAM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C1E6AE-87CA-4E4E-8C7F-DB790476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Four builders, one product thesis.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966CC3-E7D1-4A29-9975-04A6FB3F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Product, mobile, agent flows, wallet infrastructure and voice. Built together in the open.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FF6370-3DD2-4BC2-841F-ED4E64CC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2533650" cy="3152775"/>
          </a:xfrm>
          <a:prstGeom xmlns:a="http://schemas.openxmlformats.org/drawingml/2006/main" prst="roundRect">
            <a:avLst>
              <a:gd name="adj" fmla="val 11278"/>
            </a:avLst>
          </a:prstGeom>
          <a:solidFill xmlns:a="http://schemas.openxmlformats.org/drawingml/2006/main">
            <a:srgbClr val="FFFFFF">
              <a:alpha val="58000"/>
            </a:srgbClr>
          </a:solidFill>
          <a:ln xmlns:a="http://schemas.openxmlformats.org/drawingml/2006/main" w="9525">
            <a:solidFill>
              <a:srgbClr val="5639DD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9674a93374280"/>
          <a:srcRect xmlns:a="http://schemas.openxmlformats.org/drawingml/2006/main" l="0" t="7176" r="0" b="7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847975"/>
            <a:ext cx="2057400" cy="1762125"/>
          </a:xfrm>
          <a:prstGeom xmlns:a="http://schemas.openxmlformats.org/drawingml/2006/main" prst="roundRect">
            <a:avLst>
              <a:gd name="adj" fmla="val 12973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44A9A3-0A07-4FD6-B690-CEC7BCD0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Robertino Barbuto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1674C7-B3E8-4391-9AF6-2142831A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@rober8b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E59153-1036-40EC-86EE-09BC7954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28900"/>
            <a:ext cx="2533650" cy="3152775"/>
          </a:xfrm>
          <a:prstGeom xmlns:a="http://schemas.openxmlformats.org/drawingml/2006/main" prst="roundRect">
            <a:avLst>
              <a:gd name="adj" fmla="val 11278"/>
            </a:avLst>
          </a:prstGeom>
          <a:solidFill xmlns:a="http://schemas.openxmlformats.org/drawingml/2006/main">
            <a:srgbClr val="FFFFFF">
              <a:alpha val="58000"/>
            </a:srgbClr>
          </a:solidFill>
          <a:ln xmlns:a="http://schemas.openxmlformats.org/drawingml/2006/main" w="9525">
            <a:solidFill>
              <a:srgbClr val="5639DD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de49f66494fec"/>
          <a:srcRect xmlns:a="http://schemas.openxmlformats.org/drawingml/2006/main" l="0" t="7176" r="0" b="7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2847975"/>
            <a:ext cx="2057400" cy="1762125"/>
          </a:xfrm>
          <a:prstGeom xmlns:a="http://schemas.openxmlformats.org/drawingml/2006/main" prst="roundRect">
            <a:avLst>
              <a:gd name="adj" fmla="val 12973"/>
            </a:avLst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6CC5C5-3F50-455D-B767-66AFB06D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Ramiro Carnicer Souble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3DD2DC-332A-4DF4-B0A9-B423E83F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410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@ram4-dev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145912-7080-4935-842F-AEF08C25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2533650" cy="3152775"/>
          </a:xfrm>
          <a:prstGeom xmlns:a="http://schemas.openxmlformats.org/drawingml/2006/main" prst="roundRect">
            <a:avLst>
              <a:gd name="adj" fmla="val 11278"/>
            </a:avLst>
          </a:prstGeom>
          <a:solidFill xmlns:a="http://schemas.openxmlformats.org/drawingml/2006/main">
            <a:srgbClr val="FFFFFF">
              <a:alpha val="58000"/>
            </a:srgbClr>
          </a:solidFill>
          <a:ln xmlns:a="http://schemas.openxmlformats.org/drawingml/2006/main" w="9525">
            <a:solidFill>
              <a:srgbClr val="5639DD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b3c16c76a4387"/>
          <a:srcRect xmlns:a="http://schemas.openxmlformats.org/drawingml/2006/main" l="0" t="7176" r="0" b="7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2725" y="2847975"/>
            <a:ext cx="2057400" cy="1762125"/>
          </a:xfrm>
          <a:prstGeom xmlns:a="http://schemas.openxmlformats.org/drawingml/2006/main" prst="roundRect">
            <a:avLst>
              <a:gd name="adj" fmla="val 12973"/>
            </a:avLst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012AFC-E473-47A5-9932-1AC571CC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0537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Ignacio Becerra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7101AD-116B-40F6-8B7B-41894320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10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@BecerraIgnacio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3E9B90-4A97-471E-AEB6-D0629266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28900"/>
            <a:ext cx="2533650" cy="3152775"/>
          </a:xfrm>
          <a:prstGeom xmlns:a="http://schemas.openxmlformats.org/drawingml/2006/main" prst="roundRect">
            <a:avLst>
              <a:gd name="adj" fmla="val 11278"/>
            </a:avLst>
          </a:prstGeom>
          <a:solidFill xmlns:a="http://schemas.openxmlformats.org/drawingml/2006/main">
            <a:srgbClr val="FFFFFF">
              <a:alpha val="58000"/>
            </a:srgbClr>
          </a:solidFill>
          <a:ln xmlns:a="http://schemas.openxmlformats.org/drawingml/2006/main" w="9525">
            <a:solidFill>
              <a:srgbClr val="5639DD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f4724a90f475f"/>
          <a:srcRect xmlns:a="http://schemas.openxmlformats.org/drawingml/2006/main" l="0" t="17882" r="0" b="17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0700" y="2847975"/>
            <a:ext cx="2057400" cy="1762125"/>
          </a:xfrm>
          <a:prstGeom xmlns:a="http://schemas.openxmlformats.org/drawingml/2006/main" prst="roundRect">
            <a:avLst>
              <a:gd name="adj" fmla="val 12973"/>
            </a:avLst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AB4DE7-334D-4960-9F93-452DE65F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90537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Marcos Lanzani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276BD5-9F29-413D-9E2B-A78622A0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410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@theboyplunger0x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35610C-8787-4B6B-A1ED-F13767DD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AAAFF4-8B30-4C6F-AD74-174379A1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766E82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37231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d5a0c464dbc4dbb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673d9d20446b7"/>
          <a:stretch xmlns:a="http://schemas.openxmlformats.org/drawingml/2006/main"/>
        </p:blipFill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4712ca9fa45f0"/>
          <a:stretch xmlns:a="http://schemas.openxmlformats.org/drawingml/2006/main"/>
        </p:blipFill>
        <p:spPr>
          <a:xfrm xmlns:a="http://schemas.openxmlformats.org/drawingml/2006/main">
            <a:off x="6667500" y="904875"/>
            <a:ext cx="4429125" cy="442912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2D6B5-72BD-419E-BA14-EAF541FF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47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300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867721-5E2A-4DB7-B1DB-DC0C39C5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191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33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442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The next financial</a:t>
            </a:r>
          </a:p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442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account is agentic.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BF969F-519F-4350-967F-FE0B9AA3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DE8FF"/>
                </a:solidFill>
                <a:latin typeface="Nunito"/>
                <a:ea typeface="Nunito"/>
                <a:cs typeface="Nunito"/>
              </a:defRPr>
            </a:pPr>
            <a:r>
              <a:rPr sz="1875" b="1">
                <a:solidFill>
                  <a:srgbClr val="EDE8FF"/>
                </a:solidFill>
                <a:latin typeface="Nunito"/>
                <a:ea typeface="Nunito"/>
                <a:cs typeface="Nunito"/>
              </a:rPr>
              <a:t>It lets people act independently inside a trusted, programmable network of relationships and permissions.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A6E5A6-CC7B-4430-AEAE-A42034D1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095875" cy="895350"/>
          </a:xfrm>
          <a:prstGeom xmlns:a="http://schemas.openxmlformats.org/drawingml/2006/main" prst="roundRect">
            <a:avLst>
              <a:gd name="adj" fmla="val 31915"/>
            </a:avLst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9525">
            <a:solidFill>
              <a:srgbClr val="FFFFFF">
                <a:alpha val="4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46B8F0-E693-4354-BD1B-BF070EC6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33950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Independence through voice.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Protection when it matters.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46A2A9-E5F8-45CD-A094-D7CBA9DD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0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nana-wallet-hybrid.vercel.app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795B4D-E4A7-473A-87CC-2CD6BD7F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2198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DE8FF"/>
                </a:solidFill>
                <a:latin typeface="Nunito"/>
                <a:ea typeface="Nunito"/>
                <a:cs typeface="Nunito"/>
              </a:defRPr>
            </a:pPr>
            <a:r>
              <a:rPr sz="1050" b="1">
                <a:solidFill>
                  <a:srgbClr val="EDE8FF"/>
                </a:solidFill>
                <a:latin typeface="Nunito"/>
                <a:ea typeface="Nunito"/>
                <a:cs typeface="Nunito"/>
              </a:rPr>
              <a:t>github.com/theboyplunger0x/nana-wallet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b6ce529a247d1"/>
          <a:stretch xmlns:a="http://schemas.openxmlformats.org/drawingml/2006/main"/>
        </p:blipFill>
        <p:spPr>
          <a:xfrm xmlns:a="http://schemas.openxmlformats.org/drawingml/2006/main">
            <a:off x="6981825" y="1317308"/>
            <a:ext cx="3829050" cy="45948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38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42900" dist="133350" dir="5400000">
              <a:srgbClr val="3C239F">
                <a:alpha val="10000"/>
              </a:srgbClr>
            </a:outerShdw>
          </a:effectLst>
        </a:effectStyle>
        <a:effectStyle>
          <a:effectLst>
            <a:outerShdw blurRad="419100" dist="171450" dir="5400000">
              <a:srgbClr val="210F72">
                <a:alpha val="28000"/>
              </a:srgbClr>
            </a:outerShdw>
          </a:effectLst>
        </a:effectStyle>
        <a:effectStyle>
          <a:effectLst>
            <a:outerShdw blurRad="419100" dist="171450" dir="5400000">
              <a:srgbClr val="210F72">
                <a:alpha val="24000"/>
              </a:srgbClr>
            </a:outerShdw>
          </a:effectLst>
        </a:effectStyle>
        <a:effectStyle>
          <a:effectLst>
            <a:outerShdw blurRad="323850" dist="114300" dir="5400000">
              <a:srgbClr val="2F7D5A">
                <a:alpha val="8000"/>
              </a:srgbClr>
            </a:outerShdw>
          </a:effectLst>
        </a:effectStyle>
        <a:effectStyle>
          <a:effectLst>
            <a:outerShdw blurRad="323850" dist="114300" dir="5400000">
              <a:srgbClr val="B44959">
                <a:alpha val="8000"/>
              </a:srgbClr>
            </a:outerShdw>
          </a:effectLst>
        </a:effectStyle>
        <a:effectStyle>
          <a:effectLst>
            <a:outerShdw blurRad="457200" dist="190500" dir="5400000">
              <a:srgbClr val="3C239F">
                <a:alpha val="22000"/>
              </a:srgbClr>
            </a:outerShdw>
          </a:effectLst>
        </a:effectStyle>
        <a:effectStyle>
          <a:effectLst>
            <a:outerShdw blurRad="323850" dist="133350" dir="5400000">
              <a:srgbClr val="3C239F">
                <a:alpha val="18000"/>
              </a:srgbClr>
            </a:outerShdw>
          </a:effectLst>
        </a:effectStyle>
        <a:effectStyle>
          <a:effectLst>
            <a:outerShdw blurRad="419100" dist="171450" dir="5400000">
              <a:srgbClr val="3C239F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2026-09-02T15:18:43.7040000Z</dcterms:created>
  <dcterms:modified xsi:type="dcterms:W3CDTF">2026-09-02T15:18:43.7040000Z</dcterms:modified>
</coreProperties>
</file>