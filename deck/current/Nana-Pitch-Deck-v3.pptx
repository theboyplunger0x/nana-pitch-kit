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0bcff220e84e70" /><Relationship Type="http://schemas.openxmlformats.org/officeDocument/2006/relationships/extended-properties" Target="/docProps/app.xml" Id="Rccf6dfe8986f4050" /><Relationship Type="http://schemas.openxmlformats.org/officeDocument/2006/relationships/officeDocument" Target="/ppt/presentation.xml" Id="R90cb070d1f0a45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21a9cf2b2c84fa2"/>
  </p:sldMasterIdLst>
  <p:notesMasterIdLst>
    <p:notesMasterId xmlns:r="http://schemas.openxmlformats.org/officeDocument/2006/relationships" r:id="Rc19bde0df9ef427a"/>
  </p:notesMasterIdLst>
  <p:sldIdLst>
    <p:sldId xmlns:r="http://schemas.openxmlformats.org/officeDocument/2006/relationships" id="256" r:id="R6fec19bf11334b86"/>
    <p:sldId xmlns:r="http://schemas.openxmlformats.org/officeDocument/2006/relationships" id="257" r:id="R4416b569fb3d490e"/>
    <p:sldId xmlns:r="http://schemas.openxmlformats.org/officeDocument/2006/relationships" id="258" r:id="R32b6246cfdac4761"/>
    <p:sldId xmlns:r="http://schemas.openxmlformats.org/officeDocument/2006/relationships" id="259" r:id="Rb457823511da4138"/>
    <p:sldId xmlns:r="http://schemas.openxmlformats.org/officeDocument/2006/relationships" id="260" r:id="R6d846bf10f8f4450"/>
    <p:sldId xmlns:r="http://schemas.openxmlformats.org/officeDocument/2006/relationships" id="261" r:id="Raf2ba5bf99de43db"/>
    <p:sldId xmlns:r="http://schemas.openxmlformats.org/officeDocument/2006/relationships" id="262" r:id="R493e40232efb47e2"/>
    <p:sldId xmlns:r="http://schemas.openxmlformats.org/officeDocument/2006/relationships" id="263" r:id="Rd941ec481fbd4b32"/>
    <p:sldId xmlns:r="http://schemas.openxmlformats.org/officeDocument/2006/relationships" id="264" r:id="R642f9004b9df4418"/>
    <p:sldId xmlns:r="http://schemas.openxmlformats.org/officeDocument/2006/relationships" id="265" r:id="Rb419a1246e5c426e"/>
    <p:sldId xmlns:r="http://schemas.openxmlformats.org/officeDocument/2006/relationships" id="266" r:id="Re18671ddaff94d19"/>
    <p:sldId xmlns:r="http://schemas.openxmlformats.org/officeDocument/2006/relationships" id="267" r:id="R63801e19c88a425d"/>
    <p:sldId xmlns:r="http://schemas.openxmlformats.org/officeDocument/2006/relationships" id="268" r:id="R534d17f0251a4e1a"/>
    <p:sldId xmlns:r="http://schemas.openxmlformats.org/officeDocument/2006/relationships" id="269" r:id="R050b038551fc4e8c"/>
    <p:sldId xmlns:r="http://schemas.openxmlformats.org/officeDocument/2006/relationships" id="270" r:id="R3e5dd85cc25144c5"/>
    <p:sldId xmlns:r="http://schemas.openxmlformats.org/officeDocument/2006/relationships" id="271" r:id="Rbc30af8fbbac47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5787fc5bbe48f9" /><Relationship Type="http://schemas.openxmlformats.org/officeDocument/2006/relationships/slideMaster" Target="/ppt/slideMasters/slideMaster1.xml" Id="R121a9cf2b2c84fa2" /><Relationship Type="http://schemas.openxmlformats.org/officeDocument/2006/relationships/notesMaster" Target="/ppt/notesMasters/notesMaster1.xml" Id="Rc19bde0df9ef427a" /><Relationship Type="http://schemas.openxmlformats.org/officeDocument/2006/relationships/presProps" Target="/ppt/presProps.xml" Id="R3910a7d2ef61494f" /><Relationship Type="http://schemas.openxmlformats.org/officeDocument/2006/relationships/tableStyles" Target="/ppt/tableStyles.xml" Id="Rf7c2004002cc483b" /><Relationship Type="http://schemas.openxmlformats.org/officeDocument/2006/relationships/slide" Target="/ppt/slides/slide1.xml" Id="R6fec19bf11334b86" /><Relationship Type="http://schemas.openxmlformats.org/officeDocument/2006/relationships/slide" Target="/ppt/slides/slide2.xml" Id="R4416b569fb3d490e" /><Relationship Type="http://schemas.openxmlformats.org/officeDocument/2006/relationships/slide" Target="/ppt/slides/slide3.xml" Id="R32b6246cfdac4761" /><Relationship Type="http://schemas.openxmlformats.org/officeDocument/2006/relationships/slide" Target="/ppt/slides/slide4.xml" Id="Rb457823511da4138" /><Relationship Type="http://schemas.openxmlformats.org/officeDocument/2006/relationships/slide" Target="/ppt/slides/slide5.xml" Id="R6d846bf10f8f4450" /><Relationship Type="http://schemas.openxmlformats.org/officeDocument/2006/relationships/slide" Target="/ppt/slides/slide6.xml" Id="Raf2ba5bf99de43db" /><Relationship Type="http://schemas.openxmlformats.org/officeDocument/2006/relationships/slide" Target="/ppt/slides/slide7.xml" Id="R493e40232efb47e2" /><Relationship Type="http://schemas.openxmlformats.org/officeDocument/2006/relationships/slide" Target="/ppt/slides/slide8.xml" Id="Rd941ec481fbd4b32" /><Relationship Type="http://schemas.openxmlformats.org/officeDocument/2006/relationships/slide" Target="/ppt/slides/slide9.xml" Id="R642f9004b9df4418" /><Relationship Type="http://schemas.openxmlformats.org/officeDocument/2006/relationships/slide" Target="/ppt/slides/slide10.xml" Id="Rb419a1246e5c426e" /><Relationship Type="http://schemas.openxmlformats.org/officeDocument/2006/relationships/slide" Target="/ppt/slides/slide11.xml" Id="Re18671ddaff94d19" /><Relationship Type="http://schemas.openxmlformats.org/officeDocument/2006/relationships/slide" Target="/ppt/slides/slide12.xml" Id="R63801e19c88a425d" /><Relationship Type="http://schemas.openxmlformats.org/officeDocument/2006/relationships/slide" Target="/ppt/slides/slide13.xml" Id="R534d17f0251a4e1a" /><Relationship Type="http://schemas.openxmlformats.org/officeDocument/2006/relationships/slide" Target="/ppt/slides/slide14.xml" Id="R050b038551fc4e8c" /><Relationship Type="http://schemas.openxmlformats.org/officeDocument/2006/relationships/slide" Target="/ppt/slides/slide15.xml" Id="R3e5dd85cc25144c5" /><Relationship Type="http://schemas.openxmlformats.org/officeDocument/2006/relationships/slide" Target="/ppt/slides/slide16.xml" Id="Rbc30af8fbbac47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4dac270ce045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342900" dist="133350" dir="5400000">
              <a:srgbClr val="3C239F">
                <a:alpha val="10000"/>
              </a:srgbClr>
            </a:outerShdw>
          </a:effectLst>
        </a:effectStyle>
        <a:effectStyle>
          <a:effectLst>
            <a:outerShdw blurRad="419100" dist="171450" dir="5400000">
              <a:srgbClr val="210F72">
                <a:alpha val="28000"/>
              </a:srgbClr>
            </a:outerShdw>
          </a:effectLst>
        </a:effectStyle>
        <a:effectStyle>
          <a:effectLst>
            <a:outerShdw blurRad="419100" dist="171450" dir="5400000">
              <a:srgbClr val="210F72">
                <a:alpha val="24000"/>
              </a:srgbClr>
            </a:outerShdw>
          </a:effectLst>
        </a:effectStyle>
        <a:effectStyle>
          <a:effectLst>
            <a:outerShdw blurRad="323850" dist="114300" dir="5400000">
              <a:srgbClr val="2F7D5A">
                <a:alpha val="8000"/>
              </a:srgbClr>
            </a:outerShdw>
          </a:effectLst>
        </a:effectStyle>
        <a:effectStyle>
          <a:effectLst>
            <a:outerShdw blurRad="323850" dist="114300" dir="5400000">
              <a:srgbClr val="B44959">
                <a:alpha val="8000"/>
              </a:srgbClr>
            </a:outerShdw>
          </a:effectLst>
        </a:effectStyle>
        <a:effectStyle>
          <a:effectLst>
            <a:outerShdw blurRad="457200" dist="190500" dir="5400000">
              <a:srgbClr val="3C239F">
                <a:alpha val="22000"/>
              </a:srgbClr>
            </a:outerShdw>
          </a:effectLst>
        </a:effectStyle>
        <a:effectStyle>
          <a:effectLst>
            <a:outerShdw blurRad="323850" dist="133350" dir="5400000">
              <a:srgbClr val="3C239F">
                <a:alpha val="18000"/>
              </a:srgbClr>
            </a:outerShdw>
          </a:effectLst>
        </a:effectStyle>
        <a:effectStyle>
          <a:effectLst>
            <a:outerShdw blurRad="419100" dist="171450" dir="5400000">
              <a:srgbClr val="3C239F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23c79402b94e76" /><Relationship Type="http://schemas.openxmlformats.org/officeDocument/2006/relationships/notesMaster" Target="/ppt/notesMasters/notesMaster1.xml" Id="R44232a4a07c945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fa15a014114711" /><Relationship Type="http://schemas.openxmlformats.org/officeDocument/2006/relationships/notesMaster" Target="/ppt/notesMasters/notesMaster1.xml" Id="R51ae63090f6e49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f3660d90b9400b" /><Relationship Type="http://schemas.openxmlformats.org/officeDocument/2006/relationships/notesMaster" Target="/ppt/notesMasters/notesMaster1.xml" Id="R7c703f9a4b15469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08f0a9a6b924221" /><Relationship Type="http://schemas.openxmlformats.org/officeDocument/2006/relationships/notesMaster" Target="/ppt/notesMasters/notesMaster1.xml" Id="Rd38e11730b764e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ed49e948904eb4" /><Relationship Type="http://schemas.openxmlformats.org/officeDocument/2006/relationships/notesMaster" Target="/ppt/notesMasters/notesMaster1.xml" Id="Rd9deca134f5645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02590d030e44ff" /><Relationship Type="http://schemas.openxmlformats.org/officeDocument/2006/relationships/notesMaster" Target="/ppt/notesMasters/notesMaster1.xml" Id="R22ba23b6c15c4db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a3052f843143e6" /><Relationship Type="http://schemas.openxmlformats.org/officeDocument/2006/relationships/notesMaster" Target="/ppt/notesMasters/notesMaster1.xml" Id="Rb2ef5724a02d41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985b23ab9984f84" /><Relationship Type="http://schemas.openxmlformats.org/officeDocument/2006/relationships/notesMaster" Target="/ppt/notesMasters/notesMaster1.xml" Id="Ra03e25083da043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338bd62866d44df" /><Relationship Type="http://schemas.openxmlformats.org/officeDocument/2006/relationships/notesMaster" Target="/ppt/notesMasters/notesMaster1.xml" Id="Re09530d966a742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d53f6b4b944ccb" /><Relationship Type="http://schemas.openxmlformats.org/officeDocument/2006/relationships/notesMaster" Target="/ppt/notesMasters/notesMaster1.xml" Id="R39a62d5193fe46b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ccf607200e432d" /><Relationship Type="http://schemas.openxmlformats.org/officeDocument/2006/relationships/notesMaster" Target="/ppt/notesMasters/notesMaster1.xml" Id="R273f4650b1c44a0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61e2fe23354cff" /><Relationship Type="http://schemas.openxmlformats.org/officeDocument/2006/relationships/notesMaster" Target="/ppt/notesMasters/notesMaster1.xml" Id="Rbf49eede70fc41d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bdcb49c696a48a7" /><Relationship Type="http://schemas.openxmlformats.org/officeDocument/2006/relationships/notesMaster" Target="/ppt/notesMasters/notesMaster1.xml" Id="R1aedd3627b7c45c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a40ed387084431" /><Relationship Type="http://schemas.openxmlformats.org/officeDocument/2006/relationships/notesMaster" Target="/ppt/notesMasters/notesMaster1.xml" Id="R8dfb8ac54bbc46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4481b0a625e4880" /><Relationship Type="http://schemas.openxmlformats.org/officeDocument/2006/relationships/notesMaster" Target="/ppt/notesMasters/notesMaster1.xml" Id="R5187dcba5f4c4b0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a5e55e0304c4ab1" /><Relationship Type="http://schemas.openxmlformats.org/officeDocument/2006/relationships/notesMaster" Target="/ppt/notesMasters/notesMaster1.xml" Id="R7d826df426c745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app/apps/nana-wallet/src/components/HybridLandingIntro.tsx</a:t>
            </a:r>
          </a:p>
          <a:p xmlns:a="http://schemas.openxmlformats.org/drawingml/2006/main">
            <a:r>
              <a:t>- assets/sprites/nani-01-lista.png</a:t>
            </a:r>
          </a:p>
          <a:p xmlns:a="http://schemas.openxmlformats.org/drawingml/2006/main">
            <a:r>
              <a:t>- docs/business-model/nana-business-model.pdf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slides 2 and 4</a:t>
            </a:r>
          </a:p>
          <a:p xmlns:a="http://schemas.openxmlformats.org/drawingml/2006/main">
            <a:r>
              <a:t>- docs/business-model/nana-business-model.pdf · problem and product thesis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https://www.who.int/news-room/fact-sheets/detail/ageing-and-health</a:t>
            </a:r>
          </a:p>
          <a:p xmlns:a="http://schemas.openxmlformats.org/drawingml/2006/main">
            <a:r>
              <a:t>- https://www.who.int/news-room/fact-sheets/detail/disability-and-health</a:t>
            </a:r>
          </a:p>
          <a:p xmlns:a="http://schemas.openxmlformats.org/drawingml/2006/main">
            <a:r>
              <a:t>- WHO figures are global and describe population context, not Nana's addressable market.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app/apps/nana-wallet/src/assets/landing/agent-command.jpg</a:t>
            </a:r>
          </a:p>
          <a:p xmlns:a="http://schemas.openxmlformats.org/drawingml/2006/main">
            <a:r>
              <a:t>- app/apps/nana-wallet/src/assets/landing/agent-confirmation.jpg</a:t>
            </a:r>
          </a:p>
          <a:p xmlns:a="http://schemas.openxmlformats.org/drawingml/2006/main">
            <a:r>
              <a:t>- app/apps/nana-wallet/src/assets/landing/agent-confirmed.jpg</a:t>
            </a:r>
          </a:p>
          <a:p xmlns:a="http://schemas.openxmlformats.org/drawingml/2006/main">
            <a:r>
              <a:t>- app/apps/nana-wallet/src/assets/landing/agent-home.jpg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 6</a:t>
            </a:r>
          </a:p>
          <a:p xmlns:a="http://schemas.openxmlformats.org/drawingml/2006/main">
            <a:r>
              <a:t>- docs/business-model/nana-business-model.pdf · dual-user model</a:t>
            </a:r>
          </a:p>
          <a:p xmlns:a="http://schemas.openxmlformats.org/drawingml/2006/main">
            <a:r>
              <a:t>- docs/mission-board/Nana-Mission-Board.pptx · product principles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slides 7 and 8</a:t>
            </a:r>
          </a:p>
          <a:p xmlns:a="http://schemas.openxmlformats.org/drawingml/2006/main">
            <a:r>
              <a:t>- docs/business-model/nana-business-model.pdf · intervention-by-exception rule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 8</a:t>
            </a:r>
          </a:p>
          <a:p xmlns:a="http://schemas.openxmlformats.org/drawingml/2006/main">
            <a:r>
              <a:t>- docs/business-model/nana-business-model.pdf · Protection Engine and policy orchestration</a:t>
            </a:r>
          </a:p>
          <a:p xmlns:a="http://schemas.openxmlformats.org/drawingml/2006/main">
            <a:r>
              <a:t>- Flow is a product model; concrete thresholds remain subject to user testing and compliance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docs/business-model/nana-business-model.pdf · delegated execution architecture</a:t>
            </a:r>
          </a:p>
          <a:p xmlns:a="http://schemas.openxmlformats.org/drawingml/2006/main">
            <a:r>
              <a:t>- Implementation primitives under evaluation include smart accounts, programmable permissions, session keys and multisig escalation.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 9</a:t>
            </a:r>
          </a:p>
          <a:p xmlns:a="http://schemas.openxmlformats.org/drawingml/2006/main">
            <a:r>
              <a:t>- https://github.com/rober8b/aleph-hackathon</a:t>
            </a:r>
          </a:p>
          <a:p xmlns:a="http://schemas.openxmlformats.org/drawingml/2006/main">
            <a:r>
              <a:t>- app/apps/nana-wallet/src/assets/landing/agent-confirmed.jpg</a:t>
            </a:r>
          </a:p>
          <a:p xmlns:a="http://schemas.openxmlformats.org/drawingml/2006/main">
            <a:r>
              <a:t>- Hackathon placement and transfer count are team-reported proof points carried forward from the existing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docs/business-model/nana-business-model.pdf · ownership boundary and infrastructure paths</a:t>
            </a:r>
          </a:p>
          <a:p xmlns:a="http://schemas.openxmlformats.org/drawingml/2006/main">
            <a:r>
              <a:t>- https://github.com/rober8b/aleph-hackathon</a:t>
            </a:r>
          </a:p>
          <a:p xmlns:a="http://schemas.openxmlformats.org/drawingml/2006/main">
            <a:r>
              <a:t>- Tether/WDK is the proven implementation path; Circle/Arc is an evaluation path, not a committed dependency.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docs/business-model/nana-business-model.pdf · revenue hypotheses and Nana Free / Nana Family</a:t>
            </a:r>
          </a:p>
          <a:p xmlns:a="http://schemas.openxmlformats.org/drawingml/2006/main">
            <a:r>
              <a:t>- Pricing and revenue units are intentionally shown as hypotheses pending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docs/business-model/nana-business-model.pdf · wedge and expansion sequence</a:t>
            </a:r>
          </a:p>
          <a:p xmlns:a="http://schemas.openxmlformats.org/drawingml/2006/main">
            <a:r>
              <a:t>- This slide replaces the previous unsupported TAM arithmetic with an explicit product expansion thesis.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 15</a:t>
            </a:r>
          </a:p>
          <a:p xmlns:a="http://schemas.openxmlformats.org/drawingml/2006/main">
            <a:r>
              <a:t>- docs/business-model/nana-business-model.pdf · initial distribution thesis</a:t>
            </a:r>
          </a:p>
          <a:p xmlns:a="http://schemas.openxmlformats.org/drawingml/2006/main">
            <a:r>
              <a:t>- GTM sequence is a hypothesis to validate, not a reported funnel.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slides 9 and 16</a:t>
            </a:r>
          </a:p>
          <a:p xmlns:a="http://schemas.openxmlformats.org/drawingml/2006/main">
            <a:r>
              <a:t>- docs/business-model/nana-business-model.pdf · open questions and validation priorities</a:t>
            </a:r>
          </a:p>
          <a:p xmlns:a="http://schemas.openxmlformats.org/drawingml/2006/main">
            <a:r>
              <a:t>- The previous claim that two experiments were already running has been removed because it was not independently 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https://github.com/rober8b/aleph-hackathon</a:t>
            </a:r>
          </a:p>
          <a:p xmlns:a="http://schemas.openxmlformats.org/drawingml/2006/main">
            <a:r>
              <a:t>- https://github.com/rober8b</a:t>
            </a:r>
          </a:p>
          <a:p xmlns:a="http://schemas.openxmlformats.org/drawingml/2006/main">
            <a:r>
              <a:t>- https://github.com/ram4-dev</a:t>
            </a:r>
          </a:p>
          <a:p xmlns:a="http://schemas.openxmlformats.org/drawingml/2006/main">
            <a:r>
              <a:t>- https://github.com/BecerraIgnacio</a:t>
            </a:r>
          </a:p>
          <a:p xmlns:a="http://schemas.openxmlformats.org/drawingml/2006/main">
            <a:r>
              <a:t>- https://github.com/theboyplunger0x</a:t>
            </a:r>
          </a:p>
          <a:p xmlns:a="http://schemas.openxmlformats.org/drawingml/2006/main">
            <a:r>
              <a:t>- Role labels were intentionally omitted rather than inferred from limited public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docs/business-model/nana-business-model.pdf · final product primitive</a:t>
            </a:r>
          </a:p>
          <a:p xmlns:a="http://schemas.openxmlformats.org/drawingml/2006/main">
            <a:r>
              <a:t>- assets/sprites/nani-02-escuchando.png</a:t>
            </a:r>
          </a:p>
          <a:p xmlns:a="http://schemas.openxmlformats.org/drawingml/2006/main">
            <a:r>
              <a:t>- https://nana-wallet-hybrid.vercel.app</a:t>
            </a:r>
          </a:p>
          <a:p xmlns:a="http://schemas.openxmlformats.org/drawingml/2006/main">
            <a:r>
              <a:t>- https://github.com/rober8b/aleph-hackathon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2f1bdda530401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eabc57c7ba47d8" /><Relationship Type="http://schemas.openxmlformats.org/officeDocument/2006/relationships/slideLayout" Target="/ppt/slideLayouts/slideLayout1.xml" Id="R0cdcc44777f747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dcc44777f747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b38b31fa404f5b" /><Relationship Type="http://schemas.openxmlformats.org/officeDocument/2006/relationships/image" Target="/ppt/media/image.jpeg" Id="R9dc9cf9404fd48bf" /><Relationship Type="http://schemas.openxmlformats.org/officeDocument/2006/relationships/image" Target="/ppt/media/image.png" Id="R092243e5353047e6" /><Relationship Type="http://schemas.openxmlformats.org/officeDocument/2006/relationships/image" Target="/ppt/media/image2.png" Id="R792fc38da0a343d8" /><Relationship Type="http://schemas.openxmlformats.org/officeDocument/2006/relationships/image" Target="/ppt/media/image3.png" Id="Rd064bfffb5474629" /><Relationship Type="http://schemas.openxmlformats.org/officeDocument/2006/relationships/image" Target="/ppt/media/image4.png" Id="Rb203bd3db1964d8e" /><Relationship Type="http://schemas.openxmlformats.org/officeDocument/2006/relationships/notesSlide" Target="/ppt/notesSlides/notesSlide1.xml" Id="Rcef1c9cbcfda48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d276a9a14c4a80" /><Relationship Type="http://schemas.openxmlformats.org/officeDocument/2006/relationships/image" Target="/ppt/media/image2.jpeg" Id="Ra698e738bb3a4889" /><Relationship Type="http://schemas.openxmlformats.org/officeDocument/2006/relationships/image" Target="/ppt/media/image5.png" Id="Rc1c07a1b1175445b" /><Relationship Type="http://schemas.openxmlformats.org/officeDocument/2006/relationships/image" Target="/ppt/media/image6.png" Id="Rb55e76ff49054f8e" /><Relationship Type="http://schemas.openxmlformats.org/officeDocument/2006/relationships/image" Target="/ppt/media/image7.png" Id="R821d6fcc012b4037" /><Relationship Type="http://schemas.openxmlformats.org/officeDocument/2006/relationships/image" Target="/ppt/media/image8.png" Id="R7e15ca0420e74ce3" /><Relationship Type="http://schemas.openxmlformats.org/officeDocument/2006/relationships/notesSlide" Target="/ppt/notesSlides/notesSlide2.xml" Id="R174a69e59a8b4d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e007ddd5424c79" /><Relationship Type="http://schemas.openxmlformats.org/officeDocument/2006/relationships/image" Target="/ppt/media/image3.jpeg" Id="R969a4f4c340f4658" /><Relationship Type="http://schemas.openxmlformats.org/officeDocument/2006/relationships/image" Target="/ppt/media/image9.png" Id="R9d607d7ebbdc4284" /><Relationship Type="http://schemas.openxmlformats.org/officeDocument/2006/relationships/image" Target="/ppt/media/image10.png" Id="R1267cd8573c34764" /><Relationship Type="http://schemas.openxmlformats.org/officeDocument/2006/relationships/notesSlide" Target="/ppt/notesSlides/notesSlide3.xml" Id="R4fdee248a4264e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61942a8d1a41dc" /><Relationship Type="http://schemas.openxmlformats.org/officeDocument/2006/relationships/image" Target="/ppt/media/image4.jpeg" Id="R924850a04799438d" /><Relationship Type="http://schemas.openxmlformats.org/officeDocument/2006/relationships/image" Target="/ppt/media/image11.png" Id="R09807b24b4784c48" /><Relationship Type="http://schemas.openxmlformats.org/officeDocument/2006/relationships/image" Target="/ppt/media/image12.png" Id="R390b497ab7ba4eda" /><Relationship Type="http://schemas.openxmlformats.org/officeDocument/2006/relationships/image" Target="/ppt/media/image5.jpeg" Id="Rc512199ab28c422b" /><Relationship Type="http://schemas.openxmlformats.org/officeDocument/2006/relationships/image" Target="/ppt/media/image6.jpeg" Id="Rda0a094197ad40c6" /><Relationship Type="http://schemas.openxmlformats.org/officeDocument/2006/relationships/image" Target="/ppt/media/image7.jpeg" Id="R54f0a2ce579c4cbc" /><Relationship Type="http://schemas.openxmlformats.org/officeDocument/2006/relationships/image" Target="/ppt/media/image8.jpeg" Id="R5594b0af48184c78" /><Relationship Type="http://schemas.openxmlformats.org/officeDocument/2006/relationships/notesSlide" Target="/ppt/notesSlides/notesSlide4.xml" Id="Reb8b30a437cd4d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aa874402d4b0f" /><Relationship Type="http://schemas.openxmlformats.org/officeDocument/2006/relationships/image" Target="/ppt/media/image9.jpeg" Id="Rff8bd535c3cd4eca" /><Relationship Type="http://schemas.openxmlformats.org/officeDocument/2006/relationships/image" Target="/ppt/media/image13.png" Id="R1e8623cb75af4335" /><Relationship Type="http://schemas.openxmlformats.org/officeDocument/2006/relationships/image" Target="/ppt/media/image14.png" Id="R8b9997deb9eb43c1" /><Relationship Type="http://schemas.openxmlformats.org/officeDocument/2006/relationships/image" Target="/ppt/media/image15.png" Id="R18b6a1115b8d4ab0" /><Relationship Type="http://schemas.openxmlformats.org/officeDocument/2006/relationships/notesSlide" Target="/ppt/notesSlides/notesSlide5.xml" Id="Re566a6e2731342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5d78739dd4403b" /><Relationship Type="http://schemas.openxmlformats.org/officeDocument/2006/relationships/image" Target="/ppt/media/image10.jpeg" Id="Ra9712f10d1924095" /><Relationship Type="http://schemas.openxmlformats.org/officeDocument/2006/relationships/image" Target="/ppt/media/image16.png" Id="Rb4a95f24742c4ec5" /><Relationship Type="http://schemas.openxmlformats.org/officeDocument/2006/relationships/image" Target="/ppt/media/image17.png" Id="R0ac52120db204b48" /><Relationship Type="http://schemas.openxmlformats.org/officeDocument/2006/relationships/image" Target="/ppt/media/image18.png" Id="Re0c3f0ebc1b74673" /><Relationship Type="http://schemas.openxmlformats.org/officeDocument/2006/relationships/notesSlide" Target="/ppt/notesSlides/notesSlide6.xml" Id="R16c77a9611c54f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16b8557a24d39" /><Relationship Type="http://schemas.openxmlformats.org/officeDocument/2006/relationships/image" Target="/ppt/media/image11.jpeg" Id="R5394d5df69c64e71" /><Relationship Type="http://schemas.openxmlformats.org/officeDocument/2006/relationships/image" Target="/ppt/media/image19.png" Id="R474ef03038b84d9c" /><Relationship Type="http://schemas.openxmlformats.org/officeDocument/2006/relationships/image" Target="/ppt/media/image20.png" Id="Rdedd16c6953549ad" /><Relationship Type="http://schemas.openxmlformats.org/officeDocument/2006/relationships/notesSlide" Target="/ppt/notesSlides/notesSlide7.xml" Id="R3b542e795e364e5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b38d2927742a4" /><Relationship Type="http://schemas.openxmlformats.org/officeDocument/2006/relationships/image" Target="/ppt/media/image12.jpeg" Id="R3f1f58edcf474042" /><Relationship Type="http://schemas.openxmlformats.org/officeDocument/2006/relationships/image" Target="/ppt/media/image21.png" Id="R994f2ddb8952496a" /><Relationship Type="http://schemas.openxmlformats.org/officeDocument/2006/relationships/image" Target="/ppt/media/image22.png" Id="R5ef2ac172b5e40dc" /><Relationship Type="http://schemas.openxmlformats.org/officeDocument/2006/relationships/notesSlide" Target="/ppt/notesSlides/notesSlide8.xml" Id="Re8d5302d68a844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467de44f545ac" /><Relationship Type="http://schemas.openxmlformats.org/officeDocument/2006/relationships/image" Target="/ppt/media/image13.jpeg" Id="Ra175d66c16514bc3" /><Relationship Type="http://schemas.openxmlformats.org/officeDocument/2006/relationships/image" Target="/ppt/media/image23.png" Id="R75dc69bbf2cc4944" /><Relationship Type="http://schemas.openxmlformats.org/officeDocument/2006/relationships/image" Target="/ppt/media/image24.png" Id="Re9c1a956551b464a" /><Relationship Type="http://schemas.openxmlformats.org/officeDocument/2006/relationships/image" Target="/ppt/media/image14.jpeg" Id="Rc887053847a043f2" /><Relationship Type="http://schemas.openxmlformats.org/officeDocument/2006/relationships/notesSlide" Target="/ppt/notesSlides/notesSlide9.xml" Id="R6f99631381a345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f9924b233242c8" /><Relationship Type="http://schemas.openxmlformats.org/officeDocument/2006/relationships/image" Target="/ppt/media/image15.jpeg" Id="R0c01f8aabbb64cfa" /><Relationship Type="http://schemas.openxmlformats.org/officeDocument/2006/relationships/image" Target="/ppt/media/image25.png" Id="R0cfb5a4d01cd4223" /><Relationship Type="http://schemas.openxmlformats.org/officeDocument/2006/relationships/image" Target="/ppt/media/image26.png" Id="Rf97dfe5fee3c4476" /><Relationship Type="http://schemas.openxmlformats.org/officeDocument/2006/relationships/notesSlide" Target="/ppt/notesSlides/notesSlide10.xml" Id="R7093add04c3e47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3a54cb27794571" /><Relationship Type="http://schemas.openxmlformats.org/officeDocument/2006/relationships/image" Target="/ppt/media/image16.jpeg" Id="R4bf1f1bd61094a91" /><Relationship Type="http://schemas.openxmlformats.org/officeDocument/2006/relationships/image" Target="/ppt/media/image27.png" Id="R330b3d254bd74366" /><Relationship Type="http://schemas.openxmlformats.org/officeDocument/2006/relationships/image" Target="/ppt/media/image28.png" Id="Rfbef9868814149b7" /><Relationship Type="http://schemas.openxmlformats.org/officeDocument/2006/relationships/notesSlide" Target="/ppt/notesSlides/notesSlide11.xml" Id="Rf68d85f716e94d3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f1adca6b04069" /><Relationship Type="http://schemas.openxmlformats.org/officeDocument/2006/relationships/image" Target="/ppt/media/image17.jpeg" Id="Rb54eb4b3fc1d4127" /><Relationship Type="http://schemas.openxmlformats.org/officeDocument/2006/relationships/image" Target="/ppt/media/image29.png" Id="R7bec022e9b1a41fa" /><Relationship Type="http://schemas.openxmlformats.org/officeDocument/2006/relationships/image" Target="/ppt/media/image30.png" Id="Rd3fd1bf8b6e94855" /><Relationship Type="http://schemas.openxmlformats.org/officeDocument/2006/relationships/image" Target="/ppt/media/image31.png" Id="R552ae498d3c044fe" /><Relationship Type="http://schemas.openxmlformats.org/officeDocument/2006/relationships/image" Target="/ppt/media/image32.png" Id="R54cb0dd265584460" /><Relationship Type="http://schemas.openxmlformats.org/officeDocument/2006/relationships/image" Target="/ppt/media/image33.png" Id="R5d24dccc17cc4901" /><Relationship Type="http://schemas.openxmlformats.org/officeDocument/2006/relationships/notesSlide" Target="/ppt/notesSlides/notesSlide12.xml" Id="R483f1a04daa547e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8d14875e54955" /><Relationship Type="http://schemas.openxmlformats.org/officeDocument/2006/relationships/image" Target="/ppt/media/image18.jpeg" Id="R4ab567266700424c" /><Relationship Type="http://schemas.openxmlformats.org/officeDocument/2006/relationships/image" Target="/ppt/media/image34.png" Id="R923f717dfe2140be" /><Relationship Type="http://schemas.openxmlformats.org/officeDocument/2006/relationships/image" Target="/ppt/media/image35.png" Id="Ra6e25804f0dd4e70" /><Relationship Type="http://schemas.openxmlformats.org/officeDocument/2006/relationships/notesSlide" Target="/ppt/notesSlides/notesSlide13.xml" Id="Raeeeeee6a32c4e5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541306f23462f" /><Relationship Type="http://schemas.openxmlformats.org/officeDocument/2006/relationships/image" Target="/ppt/media/image19.jpeg" Id="R9dce4bd2ee644489" /><Relationship Type="http://schemas.openxmlformats.org/officeDocument/2006/relationships/image" Target="/ppt/media/image36.png" Id="Ra22dd8afd6564133" /><Relationship Type="http://schemas.openxmlformats.org/officeDocument/2006/relationships/image" Target="/ppt/media/image37.png" Id="R65d1b3b240ff46ec" /><Relationship Type="http://schemas.openxmlformats.org/officeDocument/2006/relationships/notesSlide" Target="/ppt/notesSlides/notesSlide14.xml" Id="R82a087113e0e42e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bb4cb1f3e4951" /><Relationship Type="http://schemas.openxmlformats.org/officeDocument/2006/relationships/image" Target="/ppt/media/image20.jpeg" Id="Rd496c7bb7d554697" /><Relationship Type="http://schemas.openxmlformats.org/officeDocument/2006/relationships/image" Target="/ppt/media/image38.png" Id="Redc25aee14644fe9" /><Relationship Type="http://schemas.openxmlformats.org/officeDocument/2006/relationships/image" Target="/ppt/media/image39.png" Id="R2a09aaabd0364882" /><Relationship Type="http://schemas.openxmlformats.org/officeDocument/2006/relationships/image" Target="/ppt/media/image21.jpeg" Id="R617cc88ad12f4776" /><Relationship Type="http://schemas.openxmlformats.org/officeDocument/2006/relationships/image" Target="/ppt/media/image22.jpeg" Id="R3668072772ec4650" /><Relationship Type="http://schemas.openxmlformats.org/officeDocument/2006/relationships/image" Target="/ppt/media/image23.jpeg" Id="R865fb317e069460a" /><Relationship Type="http://schemas.openxmlformats.org/officeDocument/2006/relationships/image" Target="/ppt/media/image40.png" Id="R4536073dad9845ca" /><Relationship Type="http://schemas.openxmlformats.org/officeDocument/2006/relationships/notesSlide" Target="/ppt/notesSlides/notesSlide15.xml" Id="R2a67635d5b5242a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543308eac46f7" /><Relationship Type="http://schemas.openxmlformats.org/officeDocument/2006/relationships/image" Target="/ppt/media/image24.jpeg" Id="Rffb988a011384456" /><Relationship Type="http://schemas.openxmlformats.org/officeDocument/2006/relationships/image" Target="/ppt/media/image41.png" Id="Rf6596722dd564ceb" /><Relationship Type="http://schemas.openxmlformats.org/officeDocument/2006/relationships/image" Target="/ppt/media/image42.png" Id="R12f2f3ee59104acc" /><Relationship Type="http://schemas.openxmlformats.org/officeDocument/2006/relationships/image" Target="/ppt/media/image43.png" Id="Ra3365ddaf23242a8" /><Relationship Type="http://schemas.openxmlformats.org/officeDocument/2006/relationships/notesSlide" Target="/ppt/notesSlides/notesSlide16.xml" Id="R7b4a831e65204aaa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9dc9cf9404fd48bf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85A506-BC1E-4163-B7AE-CF5DAF58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C31509-1F0F-4760-BA34-A8522398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B92AD6-F052-45E5-B67C-9057EC15E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B11A9B-DE17-4FD0-A83D-FD54202A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97AABE-099A-417D-99B7-207BAC12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26ABE5-E37C-445A-96F6-88C24BFB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FF0C2C-B031-491E-8851-E9CCFE02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BD9B87-706F-4E02-BAC7-3A33E84E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E7C3D1-8829-417F-8534-4751BC2E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7BA731-5AFC-4647-83A5-69D748AF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C58C39-30B0-45AE-931C-3D39DE41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12D4E8-5308-496D-A447-4DE25671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239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6171AD-D8D8-4738-AEBC-1EA1D34F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478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86537F-B59B-4486-856B-B760515A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717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2E7585-3093-40F3-AB4D-2FDF3F33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956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030DE7-DCBF-473B-8CA0-450AC403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195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4E004B-0F8E-4C0D-B99A-82BD4EAF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3434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67B790-9E92-45B6-99AA-408EB8E5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0673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3E7C65-673A-4F40-8A17-ECDC5FD5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7912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5DAF78-A415-4DF7-9181-3053AB8E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151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2243e5353047e6"/>
          <a:stretch xmlns:a="http://schemas.openxmlformats.org/drawingml/2006/main"/>
        </p:blipFill>
        <p:spPr>
          <a:xfrm xmlns:a="http://schemas.openxmlformats.org/drawingml/2006/main">
            <a:off x="9048750" y="0"/>
            <a:ext cx="3143250" cy="3143250"/>
          </a:xfrm>
          <a:prstGeom xmlns:a="http://schemas.openxmlformats.org/drawingml/2006/main" prst="rect">
            <a:avLst/>
          </a:prstGeom>
        </p:spPr>
      </p:pic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2fc38da0a343d8"/>
          <a:stretch xmlns:a="http://schemas.openxmlformats.org/drawingml/2006/main"/>
        </p:blipFill>
        <p:spPr>
          <a:xfrm xmlns:a="http://schemas.openxmlformats.org/drawingml/2006/main">
            <a:off x="0" y="5429250"/>
            <a:ext cx="1428750" cy="1428750"/>
          </a:xfrm>
          <a:prstGeom xmlns:a="http://schemas.openxmlformats.org/drawingml/2006/main" prst="rect">
            <a:avLst/>
          </a:prstGeom>
        </p:spPr>
      </p:pic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64bfffb5474629"/>
          <a:stretch xmlns:a="http://schemas.openxmlformats.org/drawingml/2006/main"/>
        </p:blipFill>
        <p:spPr>
          <a:xfrm xmlns:a="http://schemas.openxmlformats.org/drawingml/2006/main">
            <a:off x="6096000" y="685800"/>
            <a:ext cx="5429250" cy="54292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6C1F2-A07C-47EF-A93E-85EDEB287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61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2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359D55-27B7-4043-8B30-E2446D17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5811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966900-3EE5-46B1-A309-6E73B628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AGENTIC WALLET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B4E850-4CDE-4DA5-BBCA-CA4F0AAA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5810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960"/>
          </a:bodyPr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49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Independence</a:t>
            </a:r>
          </a:p>
          <a:p xmlns:a="http://schemas.openxmlformats.org/drawingml/2006/main">
            <a:pPr algn="l">
              <a:buNone/>
              <a:defRPr sz="495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49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through voice.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F3600B-7202-46C6-8FB9-448F94A0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25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Protection when it matters.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4C07D9-1947-4FC3-82AA-E0F5F8AE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5095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725" b="1">
                <a:solidFill>
                  <a:srgbClr val="5A5860"/>
                </a:solidFill>
                <a:latin typeface="Nunito"/>
                <a:ea typeface="Nunito"/>
                <a:cs typeface="Nunito"/>
              </a:rPr>
              <a:t>The agentic wallet for seniors and people with limited mobility.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243A47-EFAF-41B2-9E48-74F85AA5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A5860"/>
                </a:solidFill>
                <a:latin typeface="Nunito"/>
                <a:ea typeface="Nunito"/>
                <a:cs typeface="Nunito"/>
              </a:rPr>
              <a:t>PITCH DECK · SEPTEMBER 2026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03bd3db1964d8e"/>
          <a:stretch xmlns:a="http://schemas.openxmlformats.org/drawingml/2006/main"/>
        </p:blipFill>
        <p:spPr>
          <a:xfrm xmlns:a="http://schemas.openxmlformats.org/drawingml/2006/main">
            <a:off x="6934200" y="1450242"/>
            <a:ext cx="4000500" cy="43766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141743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a698e738bb3a4889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1F676D-6789-4E31-A2F0-8C6244E9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417C37-8C56-4FBD-B814-A85B8429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BA82E4-4BF1-4810-BA0F-2AA4CA988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3DFE9C-10D0-4376-9735-FA3D01A1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985280-0D0D-444D-B164-8DA9E7FD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5DA603-A96F-48DA-8374-C5C3B0E3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2CE81E-C35C-4187-959E-32F63A0C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60EF90-83A7-4438-AEEA-F1C59B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772AC-9B67-45F0-AB0C-51F32A3E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459AED-C945-4D3F-8990-383A254DE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38406E-9B6E-4FFE-8A64-90408FCF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0EC486-4DF8-430C-ADE8-FF401926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21AF6C-B256-41EB-80A8-EBBDFFAB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D07BCB-3C54-4205-90E1-9A854B98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53C86F-4939-456C-A38F-97E66C54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76F208-7679-4985-A795-BF04D102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F031C5-7A12-4365-ADFE-E5EC66EC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75393F-48C5-4982-8D29-258D88E3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675463-C239-4C94-A4E8-1C9DC992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A293FC-3D76-4F91-B9B0-EDF54B7D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440FA2-1265-4C56-8463-CCE5A0D5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88FF0D-408D-491F-B244-B37BC01E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F68D08-4DC7-4487-8111-F3DD8C6E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09FE0D-142E-4D03-B22F-B9835AF6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303A11-C017-4F92-8C61-567034BD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D769B0-B893-49E3-A78B-544BD9FF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68E93E-CB43-416F-8AD9-5E1452D4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c07a1b1175445b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5e76ff49054f8e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A13B6A-32F4-430F-A7F1-B15A4F2B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C95EA0-7329-4E19-86FD-D4FB3D9B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1CC295-848C-47FF-9094-76605B17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THE PROBLEM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BD47B9-1A1C-4FA8-AE8E-9FB241E1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Protection today often means taking over.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CF529E-5AA3-44BF-A75A-2D33995A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72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When financial interfaces become difficult, families usually choose between two bad outcomes: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F58996-60BD-468B-A1CF-34061F22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5905500" cy="781050"/>
          </a:xfrm>
          <a:prstGeom xmlns:a="http://schemas.openxmlformats.org/drawingml/2006/main" prst="roundRect">
            <a:avLst>
              <a:gd name="adj" fmla="val 34146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4966B9-934E-400F-B009-24CD1DC1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146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2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250E8E-DAD1-4FD3-91E7-5F5A2780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384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Do it for them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EACDC0-DADB-4952-AC16-AC5A23AD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048000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The person loses agency and privacy.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4B72011-DEA5-47DD-BAE3-A35FE0EF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5905500" cy="781050"/>
          </a:xfrm>
          <a:prstGeom xmlns:a="http://schemas.openxmlformats.org/drawingml/2006/main" prst="roundRect">
            <a:avLst>
              <a:gd name="adj" fmla="val 34146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1A2BD7-CD04-4954-851B-FB894FEC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8622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2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3E8854-5962-4DB1-8C5A-E7DC72C0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100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Leave them alone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EA08A85-52F6-4B98-BA71-55361158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19550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The risk of error, fraud or lockout grows.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1EEB66-F9A9-48D1-B974-BF55E1F4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48225"/>
            <a:ext cx="5905500" cy="781050"/>
          </a:xfrm>
          <a:prstGeom xmlns:a="http://schemas.openxmlformats.org/drawingml/2006/main" prst="roundRect">
            <a:avLst>
              <a:gd name="adj" fmla="val 34146"/>
            </a:avLst>
          </a:prstGeom>
          <a:solidFill xmlns:a="http://schemas.openxmlformats.org/drawingml/2006/main">
            <a:srgbClr val="EDE8FF">
              <a:alpha val="76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2C59C1-4CE6-4594-AD0D-E2D074FC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577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2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57C934-5887-4327-B68B-631489D47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815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Add another app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18C54E3-C297-4D2F-8476-84F3A8F6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991100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More screens and passwords do not solve the real problem.</a:t>
            </a:r>
          </a:p>
        </p:txBody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1d6fcc012b4037"/>
          <a:stretch xmlns:a="http://schemas.openxmlformats.org/drawingml/2006/main"/>
        </p:blipFill>
        <p:spPr>
          <a:xfrm xmlns:a="http://schemas.openxmlformats.org/drawingml/2006/main">
            <a:off x="7143750" y="2000250"/>
            <a:ext cx="3905250" cy="3905250"/>
          </a:xfrm>
          <a:prstGeom xmlns:a="http://schemas.openxmlformats.org/drawingml/2006/main" prst="rect">
            <a:avLst/>
          </a:prstGeom>
        </p:spPr>
      </p:pic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15ca0420e74ce3"/>
          <a:stretch xmlns:a="http://schemas.openxmlformats.org/drawingml/2006/main"/>
        </p:blipFill>
        <p:spPr>
          <a:xfrm xmlns:a="http://schemas.openxmlformats.org/drawingml/2006/main">
            <a:off x="9620250" y="1838325"/>
            <a:ext cx="1095375" cy="1095375"/>
          </a:xfrm>
          <a:prstGeom xmlns:a="http://schemas.openxmlformats.org/drawingml/2006/main" prst="rect">
            <a:avLst/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737C2B1-CEC7-4382-B62C-B86ACC1E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575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The missing option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446F0EC-27D3-4D30-ACE7-78B9223E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24225"/>
            <a:ext cx="280987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7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Act independently.</a:t>
            </a:r>
          </a:p>
          <a:p xmlns:a="http://schemas.openxmlformats.org/drawingml/2006/main">
            <a:pPr algn="ctr">
              <a:buNone/>
              <a:defRPr sz="27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7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Escalate only</a:t>
            </a:r>
          </a:p>
          <a:p xmlns:a="http://schemas.openxmlformats.org/drawingml/2006/main">
            <a:pPr algn="ctr">
              <a:buNone/>
              <a:defRPr sz="27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7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when needed.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0FAA7C4-F649-4766-AB59-0241931C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FE3792F-FE60-42B3-B37C-E29E38AB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553497655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969a4f4c340f4658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01F84A1-EBB7-4C1B-BEF6-A37AD86C6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B7DDA-E80D-4B94-8CA2-567BE650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26CA40-ACFC-4508-941E-4A18E993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6B332-42A6-4828-B96A-D3FF624B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F3DFA0-9345-4628-A8E9-1109F3A6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117422-0EF3-4C1A-AFB7-FC6A8282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38AE0A-0A13-476F-BFDB-CCE8CFB6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A5F67D-B2ED-4088-88E0-D41D5DC4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3D57AD-A788-4B11-9CE3-3C0328F4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21202C-6571-49B4-BBF2-CE29690D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8A2584-CF0C-4536-A9A3-0D653789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B16EB3-5E9B-435B-8323-DAAFAED5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8BB3AB-0A3F-4C93-A417-BE18EF40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246B6C-FABE-4F79-B9EB-37101790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B13B9F-1D6F-4797-B7D6-44D572CA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EBA3D5-6FFF-4083-B77D-73EA745E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E6805C-6C5B-4809-965D-4CA09C82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4837E2-5150-4BBB-8956-2F02AFB6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95B6F9-E9A4-489F-9916-C46A49AC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9D62B9-0237-4A79-958E-C832E6FC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46376C-C96A-43DE-B575-8DEE3573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D28502-192E-4B09-8658-248EE7583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28A48A-0A98-4470-A241-AA0AC4B1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D028F4-9DDB-419C-9FB5-094EC280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61F598-CDCA-4ADD-963D-7A6DB6EE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84BB77-48C4-480C-AF6D-6A8F8C03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85BACF-3A37-4192-8162-D431DF01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607d7ebbdc4284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67cd8573c34764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9D6F25-2C1E-40D0-B85F-B69FBE3B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7F4BA4-88B8-4D74-8693-2AB5418C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A18E6C-7054-4A9B-A74A-BDF3A478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WHY NOW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4E4F2E-7B2D-4F3C-9897-0E6A08F7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 need is structural — and growing.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F463F7-70DC-43E8-97F8-E9AC7AB5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7715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72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A massive population is being asked to navigate an increasingly screen-first financial life.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0220D6-6EBF-4676-975D-2928482E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3333750" cy="2333625"/>
          </a:xfrm>
          <a:prstGeom xmlns:a="http://schemas.openxmlformats.org/drawingml/2006/main" prst="roundRect">
            <a:avLst>
              <a:gd name="adj" fmla="val 13061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101429-1AB1-4DFD-87C1-68B9FDFE8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4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 in 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CF28BF-9368-47AB-BF26-CC3814C5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724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people worldwide will be 60+ by 2030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A63F31-BC4C-4AE1-B671-40A56048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857500"/>
            <a:ext cx="3333750" cy="2333625"/>
          </a:xfrm>
          <a:prstGeom xmlns:a="http://schemas.openxmlformats.org/drawingml/2006/main" prst="roundRect">
            <a:avLst>
              <a:gd name="adj" fmla="val 13061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7E30D11-A238-4A20-9E51-C415FD00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432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4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1.4B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9A0DA91-F6E5-4494-8A28-DFEC4FF2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19550"/>
            <a:ext cx="2724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people aged 60+ by 2030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4666CB0-B698-4529-9E56-4FA27AB3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3333750" cy="2333625"/>
          </a:xfrm>
          <a:prstGeom xmlns:a="http://schemas.openxmlformats.org/drawingml/2006/main" prst="roundRect">
            <a:avLst>
              <a:gd name="adj" fmla="val 13061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559DAC-9EA6-4CA2-920D-1CD72BCD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432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4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1.3B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232976-6944-49F7-9817-D53C2351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19550"/>
            <a:ext cx="2724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people live with significant disability today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3F0B44-EB52-4DA2-A18C-979A08CF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62600"/>
            <a:ext cx="4953000" cy="419100"/>
          </a:xfrm>
          <a:prstGeom xmlns:a="http://schemas.openxmlformats.org/drawingml/2006/main" prst="roundRect">
            <a:avLst>
              <a:gd name="adj" fmla="val 40909"/>
            </a:avLst>
          </a:prstGeom>
          <a:solidFill xmlns:a="http://schemas.openxmlformats.org/drawingml/2006/main">
            <a:srgbClr val="5639DD"/>
          </a:solidFill>
          <a:ln xmlns:a="http://schemas.openxmlformats.org/drawingml/2006/main" w="9525">
            <a:solidFill>
              <a:srgbClr val="5639D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0C6C38-E516-4837-BE15-7B20B30E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648325"/>
            <a:ext cx="472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1050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OUR WEDGE: SENIORS + LIMITED MOBILITY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DC9591-A21A-4C7D-BE98-5FFEEEAA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8CBCEA6-AC6F-490C-84F9-6ED8A241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842884055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924850a04799438d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2D382E6-E08A-449F-9635-F436AFEA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E47D68-4FB7-4E03-B26B-BE5E1F34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F7FE5-9240-4751-9042-0ED327BC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30086-23BC-44B7-A0A4-09807C19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A8E8A1-23A1-49CD-A90F-FC20E3CB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71065D-A5BA-4010-B891-40D132C1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C2E12E-A1C9-4D4F-B952-06FA2EBA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B31DF1-6E33-466E-B0BF-FB46705A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F84CBA-5628-473D-B38F-AED8D00BD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365219-A2EC-4413-8FA4-8BF92910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DC9029-8AB9-46B3-BB5F-56E601F4B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487303-98B2-42E6-A788-9F839E95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1BC446-43B7-4720-AA6E-4CDAE56B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48DFB3-AFDD-4538-A674-2257FCC0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6406AC-9DC9-45A2-AABE-926FE9B3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63372C-0DBB-44BC-B066-7E8FF4D0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C598D2-1298-4B7B-8FBF-BC6AE9C5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69C7A3-E6A3-4251-A2AB-6977F2842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045406-344B-494A-8F82-C64B22F9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3623C4-3F7E-4636-88CE-1B36B377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6311A4-18E1-4120-A931-02683DEB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EA5F2C-DCF6-4A28-A17C-637FF493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AE40DB-9EB8-47B5-A8C0-82509A02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4CA2E9-9C3F-4390-9E11-743A5154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CA14B1-6172-4193-BBF3-07103957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38E804-E1DC-47D0-9897-0D79C26E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4E61B6-9077-4702-8673-10BC8128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807b24b4784c48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0b497ab7ba4eda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D7EC5A-C9DE-43B1-980F-97B033DD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776925-833D-46B4-A086-4BD49715F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4AF437-6272-495E-9E13-0DC2FAB3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THE PRODUCT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559B9F-1B48-4E88-8454-4C87155D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Ask. Prepare. Confirm. Settle.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A4CD91-7333-4697-9304-91B633C2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57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A financial action starts in natural language and ends with explicit user consent.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77335E-D236-4DC1-82F7-B9E47095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66975"/>
            <a:ext cx="1809750" cy="3333750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17151B"/>
          </a:solidFill>
          <a:ln xmlns:a="http://schemas.openxmlformats.org/drawingml/2006/main" w="0">
            <a:solidFill>
              <a:srgbClr val="17151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12199ab28c422b"/>
          <a:srcRect xmlns:a="http://schemas.openxmlformats.org/drawingml/2006/main" l="0" t="5650" r="0" b="56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" y="2543175"/>
            <a:ext cx="1657350" cy="3181350"/>
          </a:xfrm>
          <a:prstGeom xmlns:a="http://schemas.openxmlformats.org/drawingml/2006/main" prst="roundRect">
            <a:avLst>
              <a:gd name="adj" fmla="val 12644"/>
            </a:avLst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71387D-7C67-4AFC-B280-439769AC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94360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9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32F8B8A-961D-4144-9A55-52D8A1BC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94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ASK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F89C25-2138-4422-8C71-6F65D4F3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1719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5B3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B9BC79-58B1-445F-9334-DC8F98FD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0005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C5B3FF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C5B3FF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7B7E01-6C20-4FB7-9D39-34A3B644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66975"/>
            <a:ext cx="1809750" cy="3333750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17151B"/>
          </a:solidFill>
          <a:ln xmlns:a="http://schemas.openxmlformats.org/drawingml/2006/main" w="0">
            <a:solidFill>
              <a:srgbClr val="17151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0a094197ad40c6"/>
          <a:srcRect xmlns:a="http://schemas.openxmlformats.org/drawingml/2006/main" l="0" t="5650" r="0" b="56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0" y="2543175"/>
            <a:ext cx="1657350" cy="3181350"/>
          </a:xfrm>
          <a:prstGeom xmlns:a="http://schemas.openxmlformats.org/drawingml/2006/main" prst="roundRect">
            <a:avLst>
              <a:gd name="adj" fmla="val 12644"/>
            </a:avLst>
          </a:prstGeom>
        </p:spPr>
      </p:pic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76F2E05-1D0E-42EE-B058-2855942D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94360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9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C05563A-78EB-49AF-AB41-A6F238DC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94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PREPARE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A7FD303-E22E-41A7-A2D9-068EEB5A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1719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5B3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3C932F-1F5D-4849-9062-D3AB11EB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005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C5B3FF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C5B3FF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D822ACC-A50B-4EF9-B97A-F2E812D2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66975"/>
            <a:ext cx="1809750" cy="3333750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17151B"/>
          </a:solidFill>
          <a:ln xmlns:a="http://schemas.openxmlformats.org/drawingml/2006/main" w="0">
            <a:solidFill>
              <a:srgbClr val="17151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f0a2ce579c4cbc"/>
          <a:srcRect xmlns:a="http://schemas.openxmlformats.org/drawingml/2006/main" l="0" t="5650" r="0" b="56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543175"/>
            <a:ext cx="1657350" cy="3181350"/>
          </a:xfrm>
          <a:prstGeom xmlns:a="http://schemas.openxmlformats.org/drawingml/2006/main" prst="roundRect">
            <a:avLst>
              <a:gd name="adj" fmla="val 12644"/>
            </a:avLst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049AB26-A07A-42BA-B92D-637525BB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94360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9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CBAB4D6-A74C-4D72-AD43-60F32472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94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CONFIRM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B17CE71-D7A0-4C0B-A7A6-70692332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1719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5B3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ED48FE2-611E-47A0-BD44-42C8E0F8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005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C5B3FF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C5B3FF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5E18A28-67E6-475A-907B-5D1BDAE2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66975"/>
            <a:ext cx="1809750" cy="3333750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17151B"/>
          </a:solidFill>
          <a:ln xmlns:a="http://schemas.openxmlformats.org/drawingml/2006/main" w="0">
            <a:solidFill>
              <a:srgbClr val="17151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1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4b0af48184c78"/>
          <a:srcRect xmlns:a="http://schemas.openxmlformats.org/drawingml/2006/main" l="0" t="5650" r="0" b="56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0" y="2543175"/>
            <a:ext cx="1657350" cy="3181350"/>
          </a:xfrm>
          <a:prstGeom xmlns:a="http://schemas.openxmlformats.org/drawingml/2006/main" prst="roundRect">
            <a:avLst>
              <a:gd name="adj" fmla="val 12644"/>
            </a:avLst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313E152-CAB6-4E02-940F-728D0894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94360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9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2C06175-5506-40D6-AD43-CA56829F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94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SETTLE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72951C2-4463-4F11-A131-0E4F350A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4D95DE3-FB15-40D8-80FF-2FD779B4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16938279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ff8bd535c3cd4eca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EFDFBFE-9439-4654-8072-AD2BBDD7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EFF397-49B8-44AA-90E6-646F5574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01EE8F-FF65-47F8-9129-2B5D30C6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B76E63-5856-4B99-B314-907FF66A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687270-6E05-415B-B3C6-D2E257A9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8539F3-C1C2-4196-A9FA-2657B95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4E575E-93F1-4A87-B431-ECEAA5D7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7D0A04-7ECB-4D5B-8B7E-E4270982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F51690-6AE1-41F0-AD8A-4B46E624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74AA7-904B-41CE-9D70-68336480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50283-7C73-45F7-9F6C-B14007EE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EE0E31-6FF6-4D67-A342-98829736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2EAD51-753D-4587-84BA-DA493DCE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A77CBE-ED55-44BA-B0E6-7360ED5A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AD3C7-C233-47C8-BAA7-2B65AEA1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8E9E68-FE9A-44D3-B308-8FB531B6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D3C083-74E4-4E6E-BD7B-9BD7C536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0DB802-A41E-4CE0-970B-2C597149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62FDC6-3C6A-47D0-84D2-F27209F2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A54DC8-B66C-435A-B7D8-1C6153F0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81C4A3-A368-4B42-82DB-573F6A4D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B6B7FE-0E2E-4C70-8F1C-10CE4D0C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2BDC9B-549E-4171-92A3-BEF0DD93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CF7043-2B0E-4079-AFA3-B1DD1B8E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97AA60-2807-47B3-9CC4-5187BBC0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CADD3F-5C96-43D2-80CC-C772B785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3A6567-EDBE-4B85-B195-2C8E40DF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8623cb75af4335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9997deb9eb43c1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F48EAD-5E6E-4AAE-8862-6DC10AC0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B35AB2-0887-45B8-8170-13A4F7276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639F31-EBD8-4B06-9601-6A7151681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45161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DUAL-USER PRODUCT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B7DEF2-347A-494D-8130-EC7AAAFE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One account. Two distinct roles.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224549-E584-4A86-AEAE-7620D684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19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Nana separates the person who acts from the person who can help when something looks wrong.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DF67BE-0353-47F0-8288-2023FAD9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4476750" cy="29146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F406EC-7828-4A5C-A8DD-B9B0B24E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43225"/>
            <a:ext cx="12382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6C878BF-0FE7-4B5C-BE01-06C01809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028950"/>
            <a:ext cx="1009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END USER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35C36A-37E5-4A05-88D9-0AEC3776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Acts independently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93331B-F7CF-414C-B394-C6E82895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105275"/>
            <a:ext cx="32861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• Speaks the intent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• Reviews every consequence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• Keeps final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0FE14E-32EC-4FE2-AF90-C2C0CB18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47950"/>
            <a:ext cx="4476750" cy="29146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E8FF">
              <a:alpha val="70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D4FD28-E459-4ABE-B9AA-5864D8C9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943225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01A07F-8B6D-4773-9737-782A17D5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028950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RESPONSIBLE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EB9C37-C551-439D-8764-79F264D1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5242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Helps by exception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1A72C41-F7B4-43E9-869E-9206A45E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105275"/>
            <a:ext cx="3524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• Receives unusual-event alerts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• Can co-approve if policy requires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• Never silently takes control</a:t>
            </a:r>
          </a:p>
        </p:txBody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b6a1115b8d4ab0"/>
          <a:stretch xmlns:a="http://schemas.openxmlformats.org/drawingml/2006/main"/>
        </p:blipFill>
        <p:spPr>
          <a:xfrm xmlns:a="http://schemas.openxmlformats.org/drawingml/2006/main">
            <a:off x="5391150" y="3162300"/>
            <a:ext cx="1409700" cy="1409700"/>
          </a:xfrm>
          <a:prstGeom xmlns:a="http://schemas.openxmlformats.org/drawingml/2006/main" prst="rect">
            <a:avLst/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81DFD5-31C5-43B4-870A-06D2E849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95700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1050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trusted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1050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relationship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8173502-65C7-4527-921E-710D47E6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E1B33FC-065E-4B64-A484-B735656D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1210468853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a9712f10d1924095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3595F8C-1E00-49B9-8DAB-B963507A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9174D4-EE8F-4300-98F8-5BA66DFB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27C1FB-BD77-4D0F-A7AC-B3854500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B0948-0EC6-4484-BBB0-35C54F46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26B96E-F862-4AAE-98CA-03959C3D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6C739-353D-4B97-8B1D-5E8B50D0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479498-BF78-4638-B2C9-C6BDB52F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83EE0-7A9E-4B9B-9073-725DE7DA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5DE2F1-24CD-4A9B-B058-D174226E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B61C5-71B6-4429-81F9-69EF1470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3A3BAB-0285-46C5-9254-F3F9DD2D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803279-0599-4313-9188-7E8CA930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AD4E35-6393-4703-9038-1D37A21F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841812-97B1-44D4-B14C-A437CB3D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A68A01-B457-4B0E-BCBC-B864F528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80C522-BA97-4458-A811-DBF47E0B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77E4F3-3D37-46ED-AFE5-0AE1D3A2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291C57-BB19-4FC7-8B0A-E7947F58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12EE7A-5249-476E-96E1-5825D9F0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C2DD21-4477-4786-B2D4-64A63353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1F2EAB-47CC-4680-B904-BD717F9A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66E0F7-365E-4C9D-AA2E-75D4A971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48EFA7-329F-44EF-83E1-A4E22439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564FDF-2485-4710-AA50-D5995870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A74959-70BE-4360-A963-ADA72F38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DAFA94-5E1F-4A97-B8F2-280B6A3A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FA6577-A31A-42CA-95C4-65B3ECCF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95f24742c4ec5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c52120db204b48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D654EC-85B3-47DE-BD72-44CB3C989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23BDA8-6E57-4662-B62A-46B55F59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0FA4B6-E858-435B-ABE1-5DB81FB2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72593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15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THE PRODUCT PRINCIPLE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E5A57B-ED98-40E3-8EC5-279470116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Intervention by exception — not by default.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5D8934-86FA-4D39-8CC1-3F6AA21C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819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EDE8FF"/>
                </a:solidFill>
                <a:latin typeface="Nunito"/>
                <a:ea typeface="Nunito"/>
                <a:cs typeface="Nunito"/>
              </a:rPr>
              <a:t>Protection should remain invisible until a transaction crosses a clear, understandable boundary.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47767B-1CE2-4BFF-9072-441E2A14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81300"/>
            <a:ext cx="657225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4000"/>
            </a:srgbClr>
          </a:solidFill>
          <a:ln xmlns:a="http://schemas.openxmlformats.org/drawingml/2006/main" w="9525">
            <a:solidFill>
              <a:srgbClr val="FFFFFF">
                <a:alpha val="3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473818-A3B5-4272-A129-4E6C2DCE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52775"/>
            <a:ext cx="3619500" cy="1952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E2E7">
              <a:alpha val="18000"/>
            </a:srgbClr>
          </a:solidFill>
          <a:ln xmlns:a="http://schemas.openxmlformats.org/drawingml/2006/main" w="9525">
            <a:solidFill>
              <a:srgbClr val="FFD0DA">
                <a:alpha val="4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5F5304-49AF-462B-9C83-416ED518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15277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F7D5A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BDF3D5"/>
                </a:solidFill>
                <a:latin typeface="Nunito"/>
                <a:ea typeface="Nunito"/>
                <a:cs typeface="Nunito"/>
              </a:rPr>
              <a:t>DEFAULT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814861-A165-4FA7-AC9E-550294E0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5433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7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User acts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2EE21C-6595-44CA-A41A-AB2F0B24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162425"/>
            <a:ext cx="342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FFFFFF"/>
                </a:solidFill>
                <a:latin typeface="Nunito"/>
                <a:ea typeface="Nunito"/>
                <a:cs typeface="Nunito"/>
              </a:rPr>
              <a:t>Nana prepares, explains and executes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FFFFFF"/>
                </a:solidFill>
                <a:latin typeface="Nunito"/>
                <a:ea typeface="Nunito"/>
                <a:cs typeface="Nunito"/>
              </a:rPr>
              <a:t>after explicit confirmation.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441A6A-433F-45E3-910B-06116E97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480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B44959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FFD0DA"/>
                </a:solidFill>
                <a:latin typeface="Nunito"/>
                <a:ea typeface="Nunito"/>
                <a:cs typeface="Nunito"/>
              </a:rPr>
              <a:t>EXCEPTION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C47831-E46F-4336-B624-36F73D00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766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Pause + escalate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D789A4-525B-4BFB-852E-0BB0446C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57700"/>
            <a:ext cx="2143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53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350" b="0">
                <a:solidFill>
                  <a:srgbClr val="FFFFFF"/>
                </a:solidFill>
                <a:latin typeface="Nunito"/>
                <a:ea typeface="Nunito"/>
                <a:cs typeface="Nunito"/>
              </a:rPr>
              <a:t>Only when the action breaks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350" b="0">
                <a:solidFill>
                  <a:srgbClr val="FFFFFF"/>
                </a:solidFill>
                <a:latin typeface="Nunito"/>
                <a:ea typeface="Nunito"/>
                <a:cs typeface="Nunito"/>
              </a:rPr>
              <a:t>policy or context.</a:t>
            </a:r>
          </a:p>
        </p:txBody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3f0ebc1b74673"/>
          <a:stretch xmlns:a="http://schemas.openxmlformats.org/drawingml/2006/main"/>
        </p:blipFill>
        <p:spPr>
          <a:xfrm xmlns:a="http://schemas.openxmlformats.org/drawingml/2006/main">
            <a:off x="9763125" y="4038600"/>
            <a:ext cx="1000125" cy="1000125"/>
          </a:xfrm>
          <a:prstGeom xmlns:a="http://schemas.openxmlformats.org/drawingml/2006/main" prst="rect">
            <a:avLst/>
          </a:prstGeom>
        </p:spPr>
      </p:pic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0A12202-DD11-463B-8A64-8877CAB7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C3D71A6-8AFC-49FC-BC1C-5BE026A2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D8CBFF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1369540656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5394d5df69c64e71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4F5D8C8-DDAF-4A4E-B93E-D444BBFD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207040-7331-47E3-87CA-F4581A9A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597B32-A72F-4DCC-8878-AC545C04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14792C-F6E7-4E5C-A597-40C6ACA6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90E809-ED3D-4A05-B28E-71DA5909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232DB4-660D-42CF-A970-D105EF11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6003CF-718D-4C3C-8672-A9B32D5A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DFFC5-1D85-4637-B32B-16E0B6CF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4DD41-2D47-4A88-A900-80DA4825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9F7405-D481-4CA3-9FAA-87CC8DC7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5CED75-EB49-40EE-89A9-1513EBCB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92605-ED42-40E2-A4E7-2D4A5816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5F49FA-9EF4-4545-B854-F6C22DCC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72FECE-03A5-4806-8E01-0840C14A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CFECD9-3DC0-4A3A-B8C5-628B0A6A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841DCB-0FEF-46EC-A9FD-2DA54DAB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3DA1BE-5814-4061-A00E-28D6F6A5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CEB8FE-059D-4738-9AAB-61BCDFD2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6787E2-3EAD-49BF-9A3D-4ECF85B8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BF2486-329E-4FA2-ACB2-1A292F76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3E805C-E8FD-448D-8A3E-41138B98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00EA72-B2DC-40B0-9363-D06117BF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467F9E-219A-48A9-B97F-3C5ED51C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17B546-1814-4C92-B740-44EF0095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3439B5-0FB4-4F19-ADDB-B880ED75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39D28B-6D84-465C-B5FD-7A3D10603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1B141F-234F-4DD6-A8B5-86947458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4ef03038b84d9c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dd16c6953549ad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D2E1F3-C692-4D1A-B125-864673AB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0EF5BC-AA88-488D-8CD4-7E90046B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3649D9-A58F-48CD-892D-806A71D8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45161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PROTECTION ENGINE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25CBF4-C27B-479B-8BA3-073EC007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Normal intent flows. Unusual intent pauses.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3A52A8-7A96-4327-8725-2A246BFD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The same simple interaction can produce two different safety outcomes.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908F71-AA98-423F-B0E6-AECFE9EE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34700" cy="12001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DF5E8">
              <a:alpha val="78000"/>
            </a:srgbClr>
          </a:solidFill>
          <a:ln xmlns:a="http://schemas.openxmlformats.org/drawingml/2006/main" w="9525">
            <a:solidFill>
              <a:srgbClr val="2F7D5A">
                <a:alpha val="2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3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D6021C-C275-4457-8624-3ED76CB1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8607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F7D5A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2F7D5A"/>
                </a:solidFill>
                <a:latin typeface="Nunito"/>
                <a:ea typeface="Nunito"/>
                <a:cs typeface="Nunito"/>
              </a:rPr>
              <a:t>ORDINARY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724CD3-C1FA-4B75-B7F0-9AA20033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34341A-745D-492A-A3F7-B9938722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861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F917BC-6145-4BC9-A795-E7CDB90E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242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Intent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436DE0-6568-4C12-98B0-AFD18170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480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7D5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186334-C93A-4077-B396-755EFDC0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2766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A56A5FF-CAB4-4E6B-830C-FA2046A5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09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603E6A-089D-44C7-87E0-8E54E9A51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861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BD1F755-C417-4FC9-B1D4-6033AA69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3242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Explain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F9AA903-1038-468C-84F0-D72922F6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4480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7D5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CB3307-267B-46C5-91C7-BF230D5E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2766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43F3D91-0EB9-46E3-85F3-F46F45D0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09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F476063-2982-4151-A93D-ECD11BAF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861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3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39827D9-83B1-4EE4-AECA-3D55799A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242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Confirm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5706FBA-2B0E-475E-9A92-AC302687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4480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7D5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ADE53CE-D55D-4AF1-8CB4-0F79F5C9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766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B67B537-F13F-41AC-95FE-62C57A76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09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93B6123-D437-4E9F-A143-AA6CA515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861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A531947-859C-4385-AA31-0B7EA784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3242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Execute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FA1A483-C43E-4EB4-9F0E-80D48EDC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934700" cy="12001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8E2E7">
              <a:alpha val="78000"/>
            </a:srgbClr>
          </a:solidFill>
          <a:ln xmlns:a="http://schemas.openxmlformats.org/drawingml/2006/main" w="9525">
            <a:solidFill>
              <a:srgbClr val="B44959">
                <a:alpha val="2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4"/>
          <a:fontRef xmlns:a="http://schemas.openxmlformats.org/drawingml/2006/main" idx="major"/>
        </p:style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70DA4CA-EBB8-4A73-85BD-7850A775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2437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B44959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B44959"/>
                </a:solidFill>
                <a:latin typeface="Nunito"/>
                <a:ea typeface="Nunito"/>
                <a:cs typeface="Nunito"/>
              </a:rPr>
              <a:t>UNUSUAL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AB0DAED-83AA-426D-B19C-F277E504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482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7E18876-1032-4FB0-A8B7-1C769620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244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1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0FFF305-D403-4389-BD2F-22B793C8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625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Intent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2214CB9-42B8-48F8-9E02-B8237D0D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86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4959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BD0D01B-B9B0-4B2B-8666-D504B6D4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9149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0EB809D-DFF0-4CFB-9CF1-DB3911A2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482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E3D35F4-A364-460D-A0F5-997EC8377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244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BA91E8F-B17C-4371-A733-FA6A126B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625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Detect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BE93B42-2DBD-483E-96EC-7C835211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086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4959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20F1B47-DA1C-4086-B69C-3FCB0D4F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9149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D34B8A4-40CE-4447-A062-21D84358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482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3A7E88F-54E8-49A9-8433-E2AA003E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3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9923787-55C3-41ED-A49E-8B9B2479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625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Pause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32156EC-3D28-4E3C-BA34-D59B0AB9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086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4959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D81F46E-A764-4945-B4D7-AECD2883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9149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6ECECF1-3134-4B4A-9324-B1F95D3E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482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139302A-C8CA-4177-B0F9-A246AD58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9244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A67987F-CEB0-40E9-B95C-B185C0AD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9625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Escalate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9FDEF82-1E02-4340-B6CB-487D0A34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3A77736-C0DC-4EAC-BD60-35B77C38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22756033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f1f58edcf474042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9B82F52-B1F2-493F-ACB4-08BB466F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648B3-891F-412F-B165-DE2A25A1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2F8B17-DEB8-4D57-A0EB-8A3B2BF5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568196-A724-491E-9FF8-80A333C0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91F380-2616-4404-8706-341F2E50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F142E7-F008-428B-A8C2-903F8766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516A7B-911B-476A-BD61-6EF191E7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472E72-57B5-4863-8E04-E1D90E8E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784C7B-76E8-4997-ADFF-EB6566C1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B6B4CB-F443-4C49-B2FA-A96E2F26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A1632D-20D9-4C49-9CA9-B0E30173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6C4A8-B7A8-4B83-86E7-FAEA039F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827B75-E97A-4842-907F-4F99EFE7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A4D4E2-FFF0-4ECE-8B3A-B923462A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ECEA4C-6136-4568-BA09-B7F7FC85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CC6C54-83AB-407F-9086-07CFBAED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133D83-2B73-4CAF-A65C-2709E16E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DC3728-9284-4AF1-B982-6663EDD4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56219D-7B65-427A-9F81-DD007F25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12B4FF-D254-40C2-9DF0-6C8C16AB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50DA65-E6CD-46B9-8FA0-05E77316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14FACE-AC22-48EA-87BC-4F155D5B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89F803-228F-4EF8-BEE2-F92211829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655E9E-10E8-453C-8656-A6B8CBA0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2EBD1B-4BA2-4E70-B3C8-000E2A54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361876-A7EB-4925-9FE5-71B47C95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06814F-E071-4D2B-BDE3-82CDD284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4f2ddb8952496a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f2ac172b5e40dc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67C944-81C2-4073-9907-CAD2EF85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A3DFE3-0CA6-4D79-A6B3-BC5C1DD3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90729A-0007-43DE-AE0F-906D9378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58877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DELEGATED EXECUTION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B08A19-399F-4B74-BF88-3C3BD2E4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9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 agent can act — inside boundaries the user controls.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C02817-1112-4F3A-A76A-4B46C2C0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861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Authority stays with the person. Agent permissions are limited, transparent and revocable.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280C567-8C01-42B0-A1E3-3BDA1132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0375"/>
            <a:ext cx="2362200" cy="2076450"/>
          </a:xfrm>
          <a:prstGeom xmlns:a="http://schemas.openxmlformats.org/drawingml/2006/main" prst="roundRect">
            <a:avLst>
              <a:gd name="adj" fmla="val 13761"/>
            </a:avLst>
          </a:prstGeom>
          <a:solidFill xmlns:a="http://schemas.openxmlformats.org/drawingml/2006/main">
            <a:srgbClr val="EDE8FF">
              <a:alpha val="70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9150AD-E428-4A46-892B-5D1FD6E9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FF491A-8B63-4A09-B5E8-12D0FAE1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242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382FC0-E65F-47E0-A81C-2B04B42A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14775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12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USER AUTHORITY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F6E4E68-7731-4BE8-AD63-F95159C6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Defines who can do what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C209A3F-1B33-4CC0-A1E3-CD81A6FD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38600"/>
            <a:ext cx="409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639D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7D6E3E-A7AC-4FCF-BC8B-C5564661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86715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3D31E9-F5E5-4EA6-8C59-F37705B9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00375"/>
            <a:ext cx="2362200" cy="2076450"/>
          </a:xfrm>
          <a:prstGeom xmlns:a="http://schemas.openxmlformats.org/drawingml/2006/main" prst="roundRect">
            <a:avLst>
              <a:gd name="adj" fmla="val 13761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BDB7FE-FF0E-489B-9B55-697ECF87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480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1B5B67-F834-4E63-8019-05179DE7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242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06F69A5-26A9-44D8-B488-688FAC04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14775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12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POLICY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E55F1F8-A496-44BA-8B2D-C5EF38CD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3387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Limits, recipients and escalation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12E584-664D-478C-AD61-2ABFE691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38600"/>
            <a:ext cx="409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639D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26E4CE6-7B30-4053-86E5-F7CBEE82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6715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86C2B2F-EABC-4AD9-B0EB-5B0FB224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2362200" cy="2076450"/>
          </a:xfrm>
          <a:prstGeom xmlns:a="http://schemas.openxmlformats.org/drawingml/2006/main" prst="roundRect">
            <a:avLst>
              <a:gd name="adj" fmla="val 13761"/>
            </a:avLst>
          </a:prstGeom>
          <a:solidFill xmlns:a="http://schemas.openxmlformats.org/drawingml/2006/main">
            <a:srgbClr val="EDE8FF">
              <a:alpha val="70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DD350B6-EED8-4966-A95B-FF927986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480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134937-4234-4F6B-BD5D-01D03055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3242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3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62CE955-AB69-4792-B9CD-A448D894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14775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12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NANA AGENT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35F1659-AA3D-4FE4-987B-98A062EA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3387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Prepares and explains the action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C1B313D-FCD9-48C5-89EC-C9AFE1B2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38600"/>
            <a:ext cx="409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639DD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3A9DBDA-F4BF-4FC1-8C37-052D6D37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6715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5E4AE6F-C76B-4ED3-AB77-DCDC7F88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000375"/>
            <a:ext cx="2362200" cy="2076450"/>
          </a:xfrm>
          <a:prstGeom xmlns:a="http://schemas.openxmlformats.org/drawingml/2006/main" prst="roundRect">
            <a:avLst>
              <a:gd name="adj" fmla="val 13761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41CA052-1F1B-4959-9944-7F46C8A8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480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0DF8803-C24A-4905-8FFC-654E830E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242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FA3DDE4-234D-47CC-A7F4-1C6E8BBB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914775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12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EXECUTION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05D7A97-548B-4CA5-823E-B0D2CBD4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33387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Execute — or hold and escalate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E891ECD-3C7F-4C29-9A20-9A6C9EF1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467350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0000"/>
            </a:srgbClr>
          </a:solidFill>
          <a:ln xmlns:a="http://schemas.openxmlformats.org/drawingml/2006/main" w="9525">
            <a:solidFill>
              <a:srgbClr val="5639DD">
                <a:alpha val="2200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35A9F82-5996-420A-BBC1-A899E58D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55307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BOUNDED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D5F28DD-E719-49D1-82A1-C5F9EC0F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467350"/>
            <a:ext cx="1619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0000"/>
            </a:srgbClr>
          </a:solidFill>
          <a:ln xmlns:a="http://schemas.openxmlformats.org/drawingml/2006/main" w="9525">
            <a:solidFill>
              <a:srgbClr val="5639DD">
                <a:alpha val="2200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310434A-A4AB-443F-A282-45BDA3E8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5553075"/>
            <a:ext cx="1390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TRANSPARENT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AC8FAB8-DE78-4D41-B5F0-9A4AC4EB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467350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0000"/>
            </a:srgbClr>
          </a:solidFill>
          <a:ln xmlns:a="http://schemas.openxmlformats.org/drawingml/2006/main" w="9525">
            <a:solidFill>
              <a:srgbClr val="5639DD">
                <a:alpha val="2200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ECF93C0-0CFB-4976-8299-AC7859D3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5307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REVOCABLE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75BBB62-8FFC-41F8-81F4-1EBD9A64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5467350"/>
            <a:ext cx="18478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0000"/>
            </a:srgbClr>
          </a:solidFill>
          <a:ln xmlns:a="http://schemas.openxmlformats.org/drawingml/2006/main" w="9525">
            <a:solidFill>
              <a:srgbClr val="5639DD">
                <a:alpha val="2200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BCD7024-097F-47B1-8880-AAB5107E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5553075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USER-CONTROLLED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EE302FB-D33F-4F74-85C8-64D22579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B1F2615-1567-4BDA-91DD-94FB1D99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332555637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a175d66c16514bc3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87BA074-7F1B-41F5-AD69-ABD001A2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122D6E-9FB7-4F46-82DB-272E83FC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7F13EF-6548-4343-B6C7-9E5F16C7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46908-7B38-41F2-BF66-470E0BE1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CFD2A3-D3C3-4D59-85C2-719B1734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FE359-7E24-4415-9D33-7ECC2DF6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065E69-420E-4774-ABBB-2947B5621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9DF815-77D3-4E98-A1A3-E8C00F51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FC084-E17F-469E-B3E1-0BDC25ED5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530BA6-F6E2-4E2D-8713-E0BB6105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BADCE4-2BAF-48F9-B316-CA47CAEF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6D0517-376F-40D2-BDE2-0AE74DD7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AE23C6-B108-4B17-A822-F45D455A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43D0A3-4FFC-45DF-84D1-8C33E267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355F36-BB12-4DE9-84E5-7C251900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090C60-DB6B-47AD-A055-F71B6756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1054DF-2945-4182-9063-D06FCC41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172AF6-8D10-44E8-886C-F5686EC3B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388FD1-919C-49DB-B809-5AAE9278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2DFE40-CC93-4D74-AA68-4788FA9C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03015D-3204-453A-B63B-C605132B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0F694-F808-4E80-A10C-EE2AE06E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6CA516-3951-455C-8F4A-864BE2D8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A36D63-32DC-4C76-9DF1-9E9C336A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B80CAA-64F3-44BC-95FA-5DB60A7C4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D1486B-F622-48F0-9EF5-47CA2DD6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9669DC-439F-4C6D-8B31-12C90A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dc69bbf2cc4944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c1a956551b464a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F61347-3DB7-45AE-A2B5-8ECFF9C0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C5BD33-7FF5-4D34-9301-9F39A31C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D3206A-DACB-4FBF-8BA5-8510B301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PROOF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5BF9F3-6C4B-4F58-8FCF-C788D7B1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 first agentic transfer loop already works.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68FCA2-B99D-4D41-988B-7B0C9B72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6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We built the core interaction, shipped a safety floor and validated the direction in public.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8A59D3-4D4B-4AEA-A12E-D38AEDC6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2381250" cy="171450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F4AA49-E564-4146-96CB-7CF95B53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33700"/>
            <a:ext cx="1809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39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BDB079-AD85-4664-A378-B024A01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AGENTIC TRANSFERS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887336-78EC-465C-9146-12DF5614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2724150"/>
            <a:ext cx="2381250" cy="171450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DCEDA6-A1A8-411F-9F84-E6CC2653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933700"/>
            <a:ext cx="1809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39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2nd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5EF33B-93E6-4CE5-80B6-D3A97E80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752850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TETHER WDK HACKATHON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02F5BFF-9E44-44F3-BBE5-38EDC307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24150"/>
            <a:ext cx="2381250" cy="171450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95D6E9A-C9D8-4F65-BAF1-03DF20B1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33700"/>
            <a:ext cx="1809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39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E32E00-6D09-4C69-8EE0-FF66A69D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52850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WORKING DUAL-USER LOOP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9F3D460-6DD3-40FB-816C-F7357B90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00300"/>
            <a:ext cx="2152650" cy="3714750"/>
          </a:xfrm>
          <a:prstGeom xmlns:a="http://schemas.openxmlformats.org/drawingml/2006/main" prst="roundRect">
            <a:avLst>
              <a:gd name="adj" fmla="val 13274"/>
            </a:avLst>
          </a:prstGeom>
          <a:solidFill xmlns:a="http://schemas.openxmlformats.org/drawingml/2006/main">
            <a:srgbClr val="17151B"/>
          </a:solidFill>
          <a:ln xmlns:a="http://schemas.openxmlformats.org/drawingml/2006/main" w="0">
            <a:solidFill>
              <a:srgbClr val="17151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87053847a043f2"/>
          <a:srcRect xmlns:a="http://schemas.openxmlformats.org/drawingml/2006/main" l="0" t="8852" r="0" b="88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82050" y="2476500"/>
            <a:ext cx="2000250" cy="3562350"/>
          </a:xfrm>
          <a:prstGeom xmlns:a="http://schemas.openxmlformats.org/drawingml/2006/main" prst="roundRect">
            <a:avLst>
              <a:gd name="adj" fmla="val 11429"/>
            </a:avLst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676A9EB-296B-4DE1-AFA6-C0B8ECB0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Built, not rendered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99C6ACF-9539-4193-BD61-111347F3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42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Voice input · intent parsing · explicit confirmation · receipt · unusual-event controls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D08F888-C783-4549-9BE9-10000A81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746E0D3-3924-4D8E-93CA-A5D8B9B9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2482810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0c01f8aabbb64cfa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BBA0AEA-74A4-475F-8EE3-3F9AEA41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3C9784-A8CA-4F1D-A027-5387DE82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F233D3-05EF-46A3-A743-00EEACC0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CA4EF3-129C-4B5C-ACDC-EC40693F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DF4FE-778B-4CA3-877C-D5106EE4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8E7A5A-9AC5-401A-B102-BDC8283F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0ABB38-36C9-4271-AB92-34DB2DEB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86E5E8-DD50-49B9-AA6F-87735958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C42FE-611F-4A6C-B71B-D2ED0F1D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3DBD39-C4E3-4556-BCD1-72573036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698A6-5E4A-47E8-ABA2-2B79E25B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28A36-6772-4973-A1F2-63B851D5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40494F-1BE1-45F6-B4EC-2A7B6A696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A08A04-E7BB-40FA-901C-2D7EAE29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3B93E1-A75F-46D4-8220-3F65356C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039906-526B-4079-8BD1-6C06CFA1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7EE1FD-27CA-4701-B25B-20B49AE2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5569D8-6F04-4BDA-A321-F66F5B84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2F2528-D462-4827-A50F-3DFF77F2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ABA965-C410-4C65-BBFB-9A132622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C8035E-7113-428C-BF47-D05889DF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C8A1CB-BCF7-4969-AC3E-36E35DC3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454531-07FE-4B40-900A-1F1409EA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915D26-6822-4E7D-91FF-F33F980E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263621-24E8-430F-A1DC-49CB33A1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4B378B-8212-4CB1-B1E1-3E602ABD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FDEB75-1A7C-4A7B-82F1-78F1EF57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fb5a4d01cd4223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7dfe5fee3c4476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75EAD4-FE46-487D-8FED-89C002A7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FDD6B1-CCC4-4A5B-8294-76C1245E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390923-7FE3-4AD4-A003-F97CBEFC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871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OUR BOUNDARY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1D095D-0B4C-4DDD-B8F1-3CE75E15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 owns the experience and the trust layer.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24837F-69A3-48AB-9E4E-5C5CB7AE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Infrastructure can evolve without changing the user relationship or product promise.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824A27-ACC2-4F87-ADC5-A09246729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381625" cy="3048000"/>
          </a:xfrm>
          <a:prstGeom xmlns:a="http://schemas.openxmlformats.org/drawingml/2006/main" prst="roundRect">
            <a:avLst>
              <a:gd name="adj" fmla="val 11250"/>
            </a:avLst>
          </a:prstGeom>
          <a:gradFill xmlns:a="http://schemas.openxmlformats.org/drawingml/2006/main">
            <a:gsLst>
              <a:gs pos="0">
                <a:srgbClr val="4B2FC7"/>
              </a:gs>
              <a:gs pos="100000">
                <a:srgbClr val="6D53F2"/>
              </a:gs>
            </a:gsLst>
            <a:lin ang="810000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F249C1-F5F4-4231-ACDA-D7429D30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81325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CBFF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D8CBFF"/>
                </a:solidFill>
                <a:latin typeface="Nunito"/>
                <a:ea typeface="Nunito"/>
                <a:cs typeface="Nunito"/>
              </a:rPr>
              <a:t>NANA OWNS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220D99-2493-46DE-9A5B-ADEA07C0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00425"/>
            <a:ext cx="400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88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292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The product</a:t>
            </a:r>
          </a:p>
          <a:p xmlns:a="http://schemas.openxmlformats.org/drawingml/2006/main">
            <a:pPr algn="l">
              <a:buNone/>
              <a:defRPr sz="292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292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people trust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E249B97-2FC9-42EC-A7E6-25F90BE5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05325"/>
            <a:ext cx="419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EDE8FF"/>
                </a:solidFill>
                <a:latin typeface="Nunito"/>
                <a:ea typeface="Nunito"/>
                <a:cs typeface="Nunito"/>
              </a:defRPr>
            </a:pPr>
            <a:r>
              <a:rPr sz="1425" b="0">
                <a:solidFill>
                  <a:srgbClr val="EDE8FF"/>
                </a:solidFill>
                <a:latin typeface="Nunito"/>
                <a:ea typeface="Nunito"/>
                <a:cs typeface="Nunito"/>
              </a:rPr>
              <a:t>Agent · voice UX · Family Graph · Protection Engine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EDE8FF"/>
                </a:solidFill>
                <a:latin typeface="Nunito"/>
                <a:ea typeface="Nunito"/>
                <a:cs typeface="Nunito"/>
              </a:defRPr>
            </a:pPr>
            <a:r>
              <a:rPr sz="1425" b="0">
                <a:solidFill>
                  <a:srgbClr val="EDE8FF"/>
                </a:solidFill>
                <a:latin typeface="Nunito"/>
                <a:ea typeface="Nunito"/>
                <a:cs typeface="Nunito"/>
              </a:rPr>
              <a:t>policies · orchestration · user relationship · brand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5C03C9A-B9A6-43ED-9B14-3C0CFCAE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67000"/>
            <a:ext cx="5162550" cy="3048000"/>
          </a:xfrm>
          <a:prstGeom xmlns:a="http://schemas.openxmlformats.org/drawingml/2006/main" prst="roundRect">
            <a:avLst>
              <a:gd name="adj" fmla="val 11250"/>
            </a:avLst>
          </a:prstGeom>
          <a:solidFill xmlns:a="http://schemas.openxmlformats.org/drawingml/2006/main">
            <a:srgbClr val="FFFFFF">
              <a:alpha val="70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B9E065-D97E-4BCC-8B76-C336AD27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813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PARTNERS PROVIDE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50CBD5-5BD7-42B2-84D6-358F7BAC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00425"/>
            <a:ext cx="4095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6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 rails beneath it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EFC6419-B41D-4B1B-998D-66192411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481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0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Wallet infrastructure · stablecoins · settlement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0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fiat rails · KYC · bill pay · liquidity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7B9850-CC1D-41CC-8D53-920695E5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72075"/>
            <a:ext cx="20764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DF5E8"/>
          </a:solidFill>
          <a:ln xmlns:a="http://schemas.openxmlformats.org/drawingml/2006/main" w="9525">
            <a:solidFill>
              <a:srgbClr val="DDF5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5FE20A9-26A6-4486-A3AE-01E95BC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257800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F7D5A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2F7D5A"/>
                </a:solidFill>
                <a:latin typeface="Nunito"/>
                <a:ea typeface="Nunito"/>
                <a:cs typeface="Nunito"/>
              </a:rPr>
              <a:t>WDK / USDT · PROVEN PATH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D7B47A-5E0C-4003-8D8A-AFEAFA72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172075"/>
            <a:ext cx="2143125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EDE8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8E7C0E2-4973-4FE0-B2C8-5F69B3FF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257800"/>
            <a:ext cx="1914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ARC / USDC · EVALUATING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57290F5-4ACA-41C3-8023-1A4D3E11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2E4BB04-C299-4FEE-82EA-BE21D8B88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709715039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4bf1f1bd61094a91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4397AF7-6A65-472D-9647-71D544418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53F499-CCFB-4C9C-9881-A9C37F29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31A993-769D-4452-9677-2BE8533E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07EE0-8EC3-40D1-A5EA-B3068F28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1DA959-B6FB-4D8F-942E-22A45CC2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FF3D74-2DF5-4FC4-8DDF-5706331EE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BB6B45-9021-4A88-808F-4EEFF2ED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B104C4-5FC3-402F-A456-2E1FE6A5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AA856E-765B-40A0-97AC-E9D579B5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B15FF2-8BBE-441B-BEE1-93E0E9F9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4455FA-40AA-4AA6-889A-01363AC7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6078B2-2D1D-48BD-B1DD-583F31C8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2B8B39-73EE-4E69-AEEF-A887CFD0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541943-0106-4BC2-A3DF-42B8DFAD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F6EA0F-02AE-4C6F-ACCF-4CC4C7A9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095099-AD46-4843-9CE7-F9A0B17E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A6313F-9AEC-4604-B2BB-56B04515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2A47D2-A4EA-42A8-B522-B5C5FD3C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ED0E84-B38E-4C9F-A002-672B2737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0826D9-C267-496B-97F8-D86CE958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BA2914-637A-4D26-8A7A-D7AA10BC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6D72F8-4CF7-441D-BC4B-D1B38517C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B18C3-4D5E-4302-9938-89D94234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E06371-6C67-42D7-9099-0CE7D887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90930C-1A10-41D5-82EC-68485CB8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BFD737-D6AF-478C-BA5F-FE8F82CDD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DA8ED9-9FFC-4F2D-AD10-A0D46A85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0b3d254bd74366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ef9868814149b7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6ED8F8-CC2F-4543-A170-B6B669FD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D506B7-6BD3-40BC-BD18-C508D284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4303F1-D3B1-445F-8F75-9676A1FD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24587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BUSINESS MODEL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BF6D9A-D81E-45F4-937E-DAC1F51A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Three hypotheses. One non-negotiable.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CEA5AD-DCB4-4008-BC7E-CF011861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We will validate monetization without putting the safety floor behind a paywall.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FD59B6-0EF4-48BD-955D-698D5EC0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333750" cy="25146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56647F-BB52-473B-99B1-EE1A41A0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612C94-82DD-40F6-A21A-A5D74245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14650"/>
            <a:ext cx="12192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FFCF7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C54404-4300-42F6-862D-7CB25C3B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00375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HYPOTHESIS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4592C55-AF40-4EB8-957C-813F211F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2809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0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Financial activity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498650-3764-492E-9FFD-A655C666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24325"/>
            <a:ext cx="2800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42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Revenue from transactions and embedded financial flows.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B288412-D94D-47B4-9E22-86D000D8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3333750" cy="25146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EDE8FF">
              <a:alpha val="72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95E37D-A6EE-4463-B0C9-DF3E81DA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527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39A9C6-222D-46DC-83E5-BE386ABD7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14650"/>
            <a:ext cx="12192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FFCF7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60EDCB9-EA68-42C5-B1AF-013F6264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00375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HYPOTHESIS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F2DE04-2A4D-4A8A-B089-7533C2A0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24250"/>
            <a:ext cx="2809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0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 Family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03896A5-C7FE-45C2-9D85-9D5A791D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124325"/>
            <a:ext cx="2800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42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Paid coordination, visibility and family-level controls. Pricing unit: TBD.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CFFD93-4063-435D-81D6-6B7C3DAD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3333750" cy="25146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AD1BE1-F81F-4A23-ACA6-51C8025B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9527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03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65BF091-740D-435E-B38C-374BD852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14650"/>
            <a:ext cx="12192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FFCF7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475ACFD-ABB2-46D8-8D43-0CE20719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0375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HYPOTHESIS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90C883A-162B-40AC-9DAB-2353E3A5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524250"/>
            <a:ext cx="2809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0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B2B2C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8E52B30-F432-487C-99D7-86AA9F60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124325"/>
            <a:ext cx="2800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42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Distribution through institutions serving seniors, families and care networks.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8A1D4D7-7BF9-4371-903F-A3DB819F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43550"/>
            <a:ext cx="7905750" cy="552450"/>
          </a:xfrm>
          <a:prstGeom xmlns:a="http://schemas.openxmlformats.org/drawingml/2006/main" prst="roundRect">
            <a:avLst>
              <a:gd name="adj" fmla="val 44828"/>
            </a:avLst>
          </a:prstGeom>
          <a:gradFill xmlns:a="http://schemas.openxmlformats.org/drawingml/2006/main">
            <a:gsLst>
              <a:gs pos="0">
                <a:srgbClr val="4930C0"/>
              </a:gs>
              <a:gs pos="100000">
                <a:srgbClr val="684CF6"/>
              </a:gs>
            </a:gsLst>
            <a:lin ang="8100000"/>
          </a:gradFill>
          <a:ln xmlns:a="http://schemas.openxmlformats.org/drawingml/2006/main" w="9525">
            <a:solidFill>
              <a:srgbClr val="FFFFFF">
                <a:alpha val="16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6"/>
          <a:fontRef xmlns:a="http://schemas.openxmlformats.org/drawingml/2006/main" idx="major"/>
        </p:style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198E78-354C-4FAD-A872-3754160C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715000"/>
            <a:ext cx="733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1125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THE NON-NEGOTIABLE · CORE SAFETY REMAINS FREE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5FF4CED-F412-49F1-BC27-0D7C9BD6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8BC6138-2FFC-4C55-AE8B-ECA16C72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1610436038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b54eb4b3fc1d4127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CFD4789-8030-4300-9616-D26B66A9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D05BEB-6A71-4D01-8F46-AC2AE1D4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A0B92-9718-4B11-8E5D-8AD8A3D5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E0C03A-285C-4DAF-8B19-4B6CE6F0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3EAD0F-9427-48B0-80EF-58B65C4C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A8EFF-1465-4D57-9D07-F17C9C38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EFA6B7-C813-42C2-85DC-EE79EC9D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501E81-C36F-499A-BD73-8F52FE9C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95A14-BA3E-4C85-A512-83D73966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8ECBEE-AAC0-4A5C-92CB-28C3BD69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0BC35B-A1C4-4FDC-84E1-45A9C957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FE2DE1-0F5E-4138-9C1D-5B57876D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3ED15E-FFD0-4B16-9CAB-FDB8EDBD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B4D8F4-0501-4319-BF83-CA6544A8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3A5A86-B406-4FB6-9413-BF0204B8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FE7006-EB27-4A97-B47E-269B93F6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900524-82AB-4091-9BF4-772E4D0A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6D2240-DB1F-4EDA-9A68-0CC05F49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B26523-B161-4549-8E74-BFBDCB1E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20BF4D-F435-4DEF-BD97-C074F781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D4F340-B0E2-4B76-8407-563A0324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1995A7-97F6-453D-BFCA-13CE9E85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2D116E-C470-4DAD-8CD9-33EC102E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424AFC-8218-4F79-B929-40E4E38A3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CBE489-21A6-4A30-845F-4D9487C7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8F93F5-1811-4852-8807-5A990370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04E080-D8FB-4E8F-BF5B-B76948F2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ec022e9b1a41fa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fd1bf8b6e94855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C50769-FE16-42A4-8793-D5E96B23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840970-315C-427D-BF77-212279A4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452623-98B6-4EB6-89E8-DCEFB0FA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EXPANSION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FAFBEC-0798-46A2-B687-DB0B4B0A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 focused wedge into a broader financial primitive.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24AB02-E436-4FC0-A206-40C7E7A3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866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Start where the cost of inaccessible finance is highest — then expand through trusted relationships.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9E1EA3-C63C-43F0-AED3-0073EFB2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1038225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B510E62-7644-46A4-B29C-6A34E9E8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038475"/>
            <a:ext cx="7524750" cy="2457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7D27C13-0096-40C2-AD5E-D3AB475C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00425"/>
            <a:ext cx="3857625" cy="1752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305D37-7224-408D-86BD-1DAABB8D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5755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9A1383-F13E-42D3-A578-CA252C93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766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Seniors +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limited mobility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3565DC-30F0-4349-BE29-0C07E75B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72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Accessible action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A0F4DC-E4B9-41C4-B761-CA4D5C09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4385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9A9D9F-2342-41B5-A933-9D5779F1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876675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2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Family finance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5A6697-A1FA-4E38-A450-30F1492E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48627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Trusted coordination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867753-52FF-4A26-B987-557BB858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052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8CB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47BC64D-9905-466F-8EFB-BEF63F7B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8622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22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Delegated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22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finance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5490195-B7A9-4AB1-A290-EAEDD459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5BDE0F8-F344-4300-BF15-68053A9E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6A36164-EEC3-49EC-A845-345CCCEE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3429000" cy="3429000"/>
          </a:xfrm>
          <a:prstGeom xmlns:a="http://schemas.openxmlformats.org/drawingml/2006/main" prst="rect">
            <a:avLst/>
          </a:prstGeom>
          <a:blipFill xmlns:a="http://schemas.openxmlformats.org/drawingml/2006/main">
            <a:blip xmlns:r="http://schemas.openxmlformats.org/officeDocument/2006/relationships" r:embed="R552ae498d3c044fe"/>
            <a:stretch/>
          </a:blip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2AE0AA5-2953-4810-8FD9-44672A89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76550"/>
            <a:ext cx="3028950" cy="3028950"/>
          </a:xfrm>
          <a:prstGeom xmlns:a="http://schemas.openxmlformats.org/drawingml/2006/main" prst="rect">
            <a:avLst/>
          </a:prstGeom>
          <a:blipFill xmlns:a="http://schemas.openxmlformats.org/drawingml/2006/main">
            <a:blip xmlns:r="http://schemas.openxmlformats.org/officeDocument/2006/relationships" r:embed="R54cb0dd265584460"/>
            <a:stretch/>
          </a:blip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74082ED-97AB-466E-9DD8-272487B4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90875"/>
            <a:ext cx="2476500" cy="2476500"/>
          </a:xfrm>
          <a:prstGeom xmlns:a="http://schemas.openxmlformats.org/drawingml/2006/main" prst="rect">
            <a:avLst/>
          </a:prstGeom>
          <a:blipFill xmlns:a="http://schemas.openxmlformats.org/drawingml/2006/main">
            <a:blip xmlns:r="http://schemas.openxmlformats.org/officeDocument/2006/relationships" r:embed="R5d24dccc17cc4901"/>
            <a:stretch/>
          </a:blip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11652726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4ab567266700424c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330AA16-F45F-4117-BBAC-489BEAAF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BD0F82-0A69-438A-87F7-878A51F8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E79F56-BCAB-4026-BC86-207691D2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B4BEAC-96E6-430B-9815-A94A3D2C1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65C56-2AF1-4682-8387-E0B49D55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EEFA0E-1154-4E40-BA27-5715211B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8DCDF3-C0E1-414C-9BC4-E6FEDFB2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4359E7-94E0-4078-AD65-B7EA22A7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894186-0837-435B-BD0A-8A464428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C76A3E-43D9-473E-80C0-748FDA1C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335F9F-58C5-4BE9-BABE-B33627CA2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DE8215-049B-45A4-9EC5-3B296CB7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E3B025-8CFD-4A2E-BE12-3B179570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4B30A4-47E1-4F9C-8E17-BA5EA2BE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7A7425-C254-4D02-83C1-DF776C02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8EA1BD-F127-4C6D-A6E8-A0DA9400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7B2421-83F1-4A05-930E-BD58F139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08E5FF-BD03-4275-840E-E8BF283F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0919AC-ECF3-4D69-8B70-12727BFB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5F6D42-D0A4-4D11-B040-BC24C720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45000D-933B-492C-9D7D-FA2AEB52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C8734C-0268-40FA-875C-EEB05F2B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015E21-5600-42AD-88F9-E8886C06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27A681-4045-4FB7-BAD1-155E87C7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B5746E-B331-4A8B-A5E4-8CC6F61B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49B4EE-2E37-4C1B-8450-5BEE2FF7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22E28C-7E77-4611-AD59-C61FD2A1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3f717dfe2140be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25804f0dd4e70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45BD6B-577F-4261-89CA-569FAAF5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51F008-B88E-4A81-BC56-15C64ACC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5820CC-07F2-4ACF-A89C-D46978A1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871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GO TO MARKET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E89B2C9-913E-4459-AE31-A20229AC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 responsible person opens the door.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AC6AFB-B131-4D0E-B42C-2C62BD00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Distribution starts with the family member who already helps — without turning them into the account owner.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640146-61B8-41B4-8284-9A2D4E1D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9875"/>
            <a:ext cx="3333750" cy="2457450"/>
          </a:xfrm>
          <a:prstGeom xmlns:a="http://schemas.openxmlformats.org/drawingml/2006/main" prst="roundRect">
            <a:avLst>
              <a:gd name="adj" fmla="val 13178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20AA676-FAE7-489B-87B6-A18B74B8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95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627809-0112-4A6E-830A-12354132B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718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AF0ADB-42BF-448E-9DDB-E417240C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DISCOVER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D68E01-51E6-4B94-AF76-870BBD3E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19575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 daughter, son or trusted person finds Nana.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3FDF79-1FD1-4E56-BAE6-74FCBDAF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0576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639D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45511BE-04B8-4210-97BB-08791665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62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97E2FD-F6E2-4C17-AFB9-FEE9B591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9875"/>
            <a:ext cx="3333750" cy="2457450"/>
          </a:xfrm>
          <a:prstGeom xmlns:a="http://schemas.openxmlformats.org/drawingml/2006/main" prst="roundRect">
            <a:avLst>
              <a:gd name="adj" fmla="val 13178"/>
            </a:avLst>
          </a:prstGeom>
          <a:solidFill xmlns:a="http://schemas.openxmlformats.org/drawingml/2006/main">
            <a:srgbClr val="EDE8FF">
              <a:alpha val="70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BC0418C-1868-42DB-9245-9BBA4094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95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9C4EA9B-664D-4DD8-8318-9D8CC1F2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718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DD8B1B5-27E4-4300-BA85-BB7EBE5B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ASSIST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8F3A598-55FB-4E85-A3F0-8D5CC498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219575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They help with setup, trusted contacts and preferences.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9D06B19-1463-4B74-AAE8-2C4D1BA28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0576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639D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0FB2863-D37C-4D52-ABB9-C8729C88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862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5834089-AE60-4012-8957-714C97FB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9875"/>
            <a:ext cx="3333750" cy="2457450"/>
          </a:xfrm>
          <a:prstGeom xmlns:a="http://schemas.openxmlformats.org/drawingml/2006/main" prst="roundRect">
            <a:avLst>
              <a:gd name="adj" fmla="val 13178"/>
            </a:avLst>
          </a:prstGeom>
          <a:gradFill xmlns:a="http://schemas.openxmlformats.org/drawingml/2006/main">
            <a:gsLst>
              <a:gs pos="0">
                <a:srgbClr val="4930C0"/>
              </a:gs>
              <a:gs pos="100000">
                <a:srgbClr val="684CF6"/>
              </a:gs>
            </a:gsLst>
            <a:lin ang="8100000"/>
          </a:gradFill>
          <a:ln xmlns:a="http://schemas.openxmlformats.org/drawingml/2006/main" w="9525">
            <a:solidFill>
              <a:srgbClr val="FFFFFF">
                <a:alpha val="16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7"/>
          <a:fontRef xmlns:a="http://schemas.openxmlformats.org/drawingml/2006/main" idx="major"/>
        </p:style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C4B8760-8D11-4490-BB14-F4E1EABA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095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7D63547-1DB9-4AF2-90F2-77E4EAA8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718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3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6D60E57-78CB-4E0D-A62D-926FB998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790950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CBFF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D8CBFF"/>
                </a:solidFill>
                <a:latin typeface="Nunito"/>
                <a:ea typeface="Nunito"/>
                <a:cs typeface="Nunito"/>
              </a:rPr>
              <a:t>STEP BACK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A0C7E94-E02C-445C-A0FC-12640089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19575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The end user speaks, confirms and keeps authority.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1022D1A-8FD9-4035-B82E-913FEAD2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705475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8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Acquisition by trust. Retention by independence.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E4904C7-EB74-4B8F-B611-171BED84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E56FA80-DF29-4C8B-8EBF-7CEE6E1C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42009295"/>
      </p:ext>
    </p:extLst>
  </p:cSld>
</p:sld>
</file>

<file path=ppt/slides/slide1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9dce4bd2ee644489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8ECFDD0-820A-49CA-B3F3-6A727943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90CC1A-6450-409E-BD11-833ACFC2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C596F2-8818-424B-99B2-F99F11B2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1B75A-D8FC-46CD-B305-729722EC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99361F-093F-4829-A890-F18D3707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8E0244-EAD2-4495-A175-300740B3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6F0E19-C41A-4BBE-92E4-E3A85336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89439B-7EA8-4662-BB52-C6286364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B4F956-9452-41EB-AC85-0A36ECDA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6D4936-BA7E-4CE6-A92D-1AD84AF4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7CC6C9-F50D-4FE3-B1C9-5D1B7221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56430D-1B54-49E7-A3E4-E9048B2E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E4DEDE-0E45-4C08-9BC9-7ABF92DB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31F1B6-15C7-4923-A222-51FAF3D8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161046-5DB9-4CDA-9506-F51CB4AB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3546B5-C8D2-4F1D-AF8A-6A949812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BF8530-D7CB-4014-9364-BCC836F5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66F4EA-50EE-4B22-BB02-210FE711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8CCC58-7A9E-4F72-83EC-C2C9A6B9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276D4F-2646-412D-92DF-06D101B8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FA5E8B-698E-4C54-B625-8AD116B5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AB6427-45A1-4E72-BB8F-D3B46527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2EF342-61A6-4B69-AC5C-6676876B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807D26-BFD6-4B53-8BC2-AB279A46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8210D9-1DA4-4C15-9285-6F011725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7A9E26-A694-434A-B33B-ADB2D7D4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48C389-2424-4490-8A96-64A2BF30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dd8afd6564133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d1b3b240ff46ec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A7BF74-C854-469E-A59E-5D34E588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876EC6-AE5A-4F2C-897D-4C04C95E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AB324B-2552-4BCE-A30F-EB6EF211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EXECUTION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0C65CC-89BA-4FAB-A5F2-B5D85E45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 working core — and a focused validation plan.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E610B7-E2A0-4319-ADA6-D170538C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What exists today is separated from what we need to learn next.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FDAD38-4D29-41DA-8D00-4CB158738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5238750" cy="3238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5E8">
              <a:alpha val="76000"/>
            </a:srgbClr>
          </a:solidFill>
          <a:ln xmlns:a="http://schemas.openxmlformats.org/drawingml/2006/main" w="9525">
            <a:solidFill>
              <a:srgbClr val="2F7D5A">
                <a:alpha val="16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B46062-F66B-4F90-AB5B-9197F150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4175"/>
            <a:ext cx="9906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C876C6-708E-4EC9-A968-6F7DF0AA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990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F7D5A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2F7D5A"/>
                </a:solidFill>
                <a:latin typeface="Nunito"/>
                <a:ea typeface="Nunito"/>
                <a:cs typeface="Nunito"/>
              </a:rPr>
              <a:t>BUILT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E5ED09-E253-461A-9364-D8544E4B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4725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3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Working product core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234B64-FA65-4B26-9279-D8911D89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850"/>
            <a:ext cx="3905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✓ Voice-led intent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✓ Agent prepares a transfer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✓ Explicit confirmation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✓ Transaction receipt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✓ Dual-user safety concept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622755-603A-42B9-9A79-83DC770B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28900"/>
            <a:ext cx="5238750" cy="3238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DE8FF">
              <a:alpha val="74000"/>
            </a:srgbClr>
          </a:solidFill>
          <a:ln xmlns:a="http://schemas.openxmlformats.org/drawingml/2006/main" w="9525">
            <a:solidFill>
              <a:srgbClr val="5639DD">
                <a:alpha val="16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1B1530-A5AB-40C1-87E9-1220DA14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24175"/>
            <a:ext cx="17145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D00EF5D-EDC7-44EA-8960-67CC5253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09900"/>
            <a:ext cx="1485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NEXT TO VALIDATE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AD7E6A9-5CB6-41B0-A952-A7B0D786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51472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3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 riskiest assumptions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0A6635-8385-40C5-B275-83691ED3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33850"/>
            <a:ext cx="4191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→ Responsible-person acquisition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→ Family Graph configuration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→ Escalation thresholds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→ Nana Family willingness to pay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→ Infrastructure path by market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4BF4485-06F4-4F56-BE42-53D73D933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1A1626-F05F-4AF7-8C77-0A27438E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92223845"/>
      </p:ext>
    </p:extLst>
  </p:cSld>
</p:sld>
</file>

<file path=ppt/slides/slide1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d496c7bb7d554697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6E90872-5DCD-4902-8909-DCCFFB28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D4908F-03C9-4AE4-AB62-7807A5EE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045277-C0D7-4522-8E4A-966D3530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DB7721-D87F-4C61-81A4-AAF7CE6B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EC7E9-BA20-40F2-91A3-BA2A7391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E2C04F-2D64-4456-8746-567C4098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D5EBE9-F344-4205-941E-9300D719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B5868F-94B8-4705-841D-178739046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9AE8CA-48F5-46AB-8B14-6D28432D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CB254C-FFDF-4EB7-B4E2-C5375552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B8E44D-612B-437D-978D-5A4A67EB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5A7B80-E72B-44C0-9470-DFEDD44C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311160-36D7-4A8E-BEC3-7E55AF7E2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0A8BAB-518A-424D-9B73-B765A933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415763-C467-4E33-945D-3C9A2F7B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02380B-7241-4D32-9C3B-B0EC8DCD7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789DAD-0F29-42D1-BAFB-A1E653EC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B247D2-9647-4138-9842-51BBB4FE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4AF7E5-B229-4F7B-A5F5-EAAF7391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740FED-8191-41E5-8DD2-5EF41D53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F50E29-73E1-43BA-ACC4-257413BD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F20E69-8EBD-40BF-930E-707F8587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38E57C-9E03-4253-8B52-9AF475B2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89ACBC-5323-4B72-AA4F-4DF851E4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1A29E3-FA4B-4F0E-A17E-CA8E0BF2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5998B2-AE16-4898-866F-69D84765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A093F0-E97D-4A27-B204-C85FC36C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c25aee14644fe9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09aaabd0364882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04441E-B6AA-4A44-B1EA-9C7B6DBB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D93094-B230-4123-B38E-7825C580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C1C8FE-5DB1-43DA-9F67-65A9B83E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TEAM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8A9F31-613B-4D62-B86F-BA11A4C6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Four builders, one product thesis.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92AF5D-E117-4CD2-853E-368D9539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5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Product, mobile, agent flows, wallet infrastructure and voice — built together in the open.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A3100A-BCFC-4521-BFC4-5C16E6C8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2533650" cy="3152775"/>
          </a:xfrm>
          <a:prstGeom xmlns:a="http://schemas.openxmlformats.org/drawingml/2006/main" prst="roundRect">
            <a:avLst>
              <a:gd name="adj" fmla="val 11278"/>
            </a:avLst>
          </a:prstGeom>
          <a:solidFill xmlns:a="http://schemas.openxmlformats.org/drawingml/2006/main">
            <a:srgbClr val="FFFFFF">
              <a:alpha val="58000"/>
            </a:srgbClr>
          </a:solidFill>
          <a:ln xmlns:a="http://schemas.openxmlformats.org/drawingml/2006/main" w="9525">
            <a:solidFill>
              <a:srgbClr val="5639DD">
                <a:alpha val="1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7cc88ad12f4776"/>
          <a:srcRect xmlns:a="http://schemas.openxmlformats.org/drawingml/2006/main" l="0" t="7176" r="0" b="71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6775" y="2847975"/>
            <a:ext cx="2057400" cy="1762125"/>
          </a:xfrm>
          <a:prstGeom xmlns:a="http://schemas.openxmlformats.org/drawingml/2006/main" prst="roundRect">
            <a:avLst>
              <a:gd name="adj" fmla="val 12973"/>
            </a:avLst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1717C0-E4D8-4C7D-B768-201AD304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05375"/>
            <a:ext cx="20764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Robertino Barbuto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2159AB-3FD3-4992-B9A9-048001DD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102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@rober8b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349967-2395-468F-BD2C-A6CAC529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28900"/>
            <a:ext cx="2533650" cy="3152775"/>
          </a:xfrm>
          <a:prstGeom xmlns:a="http://schemas.openxmlformats.org/drawingml/2006/main" prst="roundRect">
            <a:avLst>
              <a:gd name="adj" fmla="val 11278"/>
            </a:avLst>
          </a:prstGeom>
          <a:solidFill xmlns:a="http://schemas.openxmlformats.org/drawingml/2006/main">
            <a:srgbClr val="FFFFFF">
              <a:alpha val="58000"/>
            </a:srgbClr>
          </a:solidFill>
          <a:ln xmlns:a="http://schemas.openxmlformats.org/drawingml/2006/main" w="9525">
            <a:solidFill>
              <a:srgbClr val="5639DD">
                <a:alpha val="1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68072772ec4650"/>
          <a:srcRect xmlns:a="http://schemas.openxmlformats.org/drawingml/2006/main" l="0" t="7176" r="0" b="71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14750" y="2847975"/>
            <a:ext cx="2057400" cy="1762125"/>
          </a:xfrm>
          <a:prstGeom xmlns:a="http://schemas.openxmlformats.org/drawingml/2006/main" prst="roundRect">
            <a:avLst>
              <a:gd name="adj" fmla="val 12973"/>
            </a:avLst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FAB1090-054C-40D5-B9F2-AE6325C5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905375"/>
            <a:ext cx="20764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7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Ramiro Carnicer Souble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5D999F-AD22-4207-B222-50021C00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54102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@ram4-dev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2D61742-4AB5-495C-9916-A7B06920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28900"/>
            <a:ext cx="2533650" cy="3152775"/>
          </a:xfrm>
          <a:prstGeom xmlns:a="http://schemas.openxmlformats.org/drawingml/2006/main" prst="roundRect">
            <a:avLst>
              <a:gd name="adj" fmla="val 11278"/>
            </a:avLst>
          </a:prstGeom>
          <a:solidFill xmlns:a="http://schemas.openxmlformats.org/drawingml/2006/main">
            <a:srgbClr val="FFFFFF">
              <a:alpha val="58000"/>
            </a:srgbClr>
          </a:solidFill>
          <a:ln xmlns:a="http://schemas.openxmlformats.org/drawingml/2006/main" w="9525">
            <a:solidFill>
              <a:srgbClr val="5639DD">
                <a:alpha val="1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fb317e069460a"/>
          <a:srcRect xmlns:a="http://schemas.openxmlformats.org/drawingml/2006/main" l="0" t="7176" r="0" b="71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62725" y="2847975"/>
            <a:ext cx="2057400" cy="1762125"/>
          </a:xfrm>
          <a:prstGeom xmlns:a="http://schemas.openxmlformats.org/drawingml/2006/main" prst="roundRect">
            <a:avLst>
              <a:gd name="adj" fmla="val 12973"/>
            </a:avLst>
          </a:prstGeom>
        </p:spPr>
      </p:pic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7E1E275-25A0-475D-8BC6-056CFCB5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05375"/>
            <a:ext cx="20764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Ignacio Becerra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F50BB66-CED9-44A9-BFF8-2175F14D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102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@BecerraIgnacio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D7847AC-A68B-4183-AAAE-2E9ECA0E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628900"/>
            <a:ext cx="2533650" cy="3152775"/>
          </a:xfrm>
          <a:prstGeom xmlns:a="http://schemas.openxmlformats.org/drawingml/2006/main" prst="roundRect">
            <a:avLst>
              <a:gd name="adj" fmla="val 11278"/>
            </a:avLst>
          </a:prstGeom>
          <a:solidFill xmlns:a="http://schemas.openxmlformats.org/drawingml/2006/main">
            <a:srgbClr val="FFFFFF">
              <a:alpha val="58000"/>
            </a:srgbClr>
          </a:solidFill>
          <a:ln xmlns:a="http://schemas.openxmlformats.org/drawingml/2006/main" w="9525">
            <a:solidFill>
              <a:srgbClr val="5639DD">
                <a:alpha val="1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36073dad9845ca"/>
          <a:srcRect xmlns:a="http://schemas.openxmlformats.org/drawingml/2006/main" l="0" t="17882" r="0" b="178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10700" y="2847975"/>
            <a:ext cx="2057400" cy="1762125"/>
          </a:xfrm>
          <a:prstGeom xmlns:a="http://schemas.openxmlformats.org/drawingml/2006/main" prst="roundRect">
            <a:avLst>
              <a:gd name="adj" fmla="val 12973"/>
            </a:avLst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FBAB927-5C53-4000-AAFF-806346AE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905375"/>
            <a:ext cx="20764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Marcos Lanzani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81186D4-86AF-4D74-BB2B-4D3FBFCE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4102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@theboyplunger0x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22EE0B-1D1B-44E4-BB7D-BB9D13CD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CA124D6-6D26-4C97-AAC3-04E04DB2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8950737"/>
      </p:ext>
    </p:extLst>
  </p:cSld>
</p:sld>
</file>

<file path=ppt/slides/slide1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ffb988a011384456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B88C48-86C6-4346-BEF9-00783027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1F1188-8431-4264-BAFE-7D3E97FE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FCEB4-34FE-4CBD-B4BB-D03CAE78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AE5AD4-F528-4E34-AB4B-4E4B83E4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C100BF-8E75-4745-81A9-9FC23174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894F80-89A0-4277-B5D5-C1B85D3D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85019-147B-4C38-ADEB-A1F6C9D9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EA00A7-DC1A-430C-A251-A4FBD3C8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FBF0E8-A17A-48A3-836E-A6D0EFF5E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BE92DB-2E4F-44EB-A06D-3041CCF4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A2D78B-53F3-4A87-8932-95A38E69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244A97-2942-4D11-A872-CFDE3428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C28B8-DC41-4A8F-9AEF-28955EAB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07C4A7-D73D-4EBD-AAC7-95106893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C92835-599C-4B50-B445-480746B7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EC769F-9322-484E-9FC0-9317A7FEE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0C6AD-7237-4AFE-BC10-174C7DBB7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2CD66A-34B1-4062-8EEB-B22943D5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EC4460-0C01-4189-B241-688C0796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3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430446-D6D8-49B2-988E-26D8AF61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47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A4B147-40A1-4019-AE50-775CD5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72D2B6-AFC5-466F-84B8-7B63D84D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41C96C-5F71-4946-BD95-5DBB85A7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19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58DF20-5500-4995-94B0-EFAEC6B9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343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DCBA0C-283F-42C5-B397-F6D471C5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00FC89-B967-4452-B3D1-DBB717DA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91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F4E566-54B1-46C8-998B-6E521C4F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596722dd564ceb"/>
          <a:stretch xmlns:a="http://schemas.openxmlformats.org/drawingml/2006/main"/>
        </p:blipFill>
        <p:spPr>
          <a:xfrm xmlns:a="http://schemas.openxmlformats.org/drawingml/2006/main">
            <a:off x="9525000" y="0"/>
            <a:ext cx="2667000" cy="2667000"/>
          </a:xfrm>
          <a:prstGeom xmlns:a="http://schemas.openxmlformats.org/drawingml/2006/main" prst="rect">
            <a:avLst/>
          </a:prstGeom>
        </p:spPr>
      </p:pic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f2f3ee59104acc"/>
          <a:stretch xmlns:a="http://schemas.openxmlformats.org/drawingml/2006/main"/>
        </p:blipFill>
        <p:spPr>
          <a:xfrm xmlns:a="http://schemas.openxmlformats.org/drawingml/2006/main">
            <a:off x="6667500" y="904875"/>
            <a:ext cx="4429125" cy="4429125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43DF42-E31A-431F-8AFB-3067B8CB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"/>
            <a:ext cx="1476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300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F435FC-1F33-42FD-A170-B4BBC2A32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619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33"/>
          </a:bodyPr>
          <a:lstStyle xmlns:a="http://schemas.openxmlformats.org/drawingml/2006/main"/>
          <a:p xmlns:a="http://schemas.openxmlformats.org/drawingml/2006/main">
            <a:pPr algn="l">
              <a:buNone/>
              <a:defRPr sz="442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442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The next financial</a:t>
            </a:r>
          </a:p>
          <a:p xmlns:a="http://schemas.openxmlformats.org/drawingml/2006/main">
            <a:pPr algn="l">
              <a:buNone/>
              <a:defRPr sz="442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442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account is agentic.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88D23F-D294-42BB-86BF-CD1AECC3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DE8FF"/>
                </a:solidFill>
                <a:latin typeface="Nunito"/>
                <a:ea typeface="Nunito"/>
                <a:cs typeface="Nunito"/>
              </a:defRPr>
            </a:pPr>
            <a:r>
              <a:rPr sz="1875" b="1">
                <a:solidFill>
                  <a:srgbClr val="EDE8FF"/>
                </a:solidFill>
                <a:latin typeface="Nunito"/>
                <a:ea typeface="Nunito"/>
                <a:cs typeface="Nunito"/>
              </a:rPr>
              <a:t>It lets people act independently inside a trusted, programmable network of relationships and permissions.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0243AF-289C-43A9-879E-F612DD7D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5095875" cy="895350"/>
          </a:xfrm>
          <a:prstGeom xmlns:a="http://schemas.openxmlformats.org/drawingml/2006/main" prst="roundRect">
            <a:avLst>
              <a:gd name="adj" fmla="val 31915"/>
            </a:avLst>
          </a:prstGeom>
          <a:solidFill xmlns:a="http://schemas.openxmlformats.org/drawingml/2006/main">
            <a:srgbClr val="FFFFFF">
              <a:alpha val="88000"/>
            </a:srgbClr>
          </a:solidFill>
          <a:ln xmlns:a="http://schemas.openxmlformats.org/drawingml/2006/main" w="9525">
            <a:solidFill>
              <a:srgbClr val="FFFFFF">
                <a:alpha val="4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F31660-40A8-436B-8EE6-F6DCB3F5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933950"/>
            <a:ext cx="4524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8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Independence through voice.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8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Protection when it matters.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65AF7E-7B10-41C2-AC47-C443ED9B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1050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nana-wallet-hybrid.vercel.app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8FC479-0B43-460A-A3EF-F1B7828B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6219825"/>
            <a:ext cx="352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DE8FF"/>
                </a:solidFill>
                <a:latin typeface="Nunito"/>
                <a:ea typeface="Nunito"/>
                <a:cs typeface="Nunito"/>
              </a:defRPr>
            </a:pPr>
            <a:r>
              <a:rPr sz="1050" b="1">
                <a:solidFill>
                  <a:srgbClr val="EDE8FF"/>
                </a:solidFill>
                <a:latin typeface="Nunito"/>
                <a:ea typeface="Nunito"/>
                <a:cs typeface="Nunito"/>
              </a:rPr>
              <a:t>github.com/rober8b/aleph-hackathon</a:t>
            </a:r>
          </a:p>
        </p:txBody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65ddaf23242a8"/>
          <a:stretch xmlns:a="http://schemas.openxmlformats.org/drawingml/2006/main"/>
        </p:blipFill>
        <p:spPr>
          <a:xfrm xmlns:a="http://schemas.openxmlformats.org/drawingml/2006/main">
            <a:off x="6981825" y="1317308"/>
            <a:ext cx="3829050" cy="459486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307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342900" dist="133350" dir="5400000">
              <a:srgbClr val="3C239F">
                <a:alpha val="10000"/>
              </a:srgbClr>
            </a:outerShdw>
          </a:effectLst>
        </a:effectStyle>
        <a:effectStyle>
          <a:effectLst>
            <a:outerShdw blurRad="419100" dist="171450" dir="5400000">
              <a:srgbClr val="210F72">
                <a:alpha val="28000"/>
              </a:srgbClr>
            </a:outerShdw>
          </a:effectLst>
        </a:effectStyle>
        <a:effectStyle>
          <a:effectLst>
            <a:outerShdw blurRad="419100" dist="171450" dir="5400000">
              <a:srgbClr val="210F72">
                <a:alpha val="24000"/>
              </a:srgbClr>
            </a:outerShdw>
          </a:effectLst>
        </a:effectStyle>
        <a:effectStyle>
          <a:effectLst>
            <a:outerShdw blurRad="323850" dist="114300" dir="5400000">
              <a:srgbClr val="2F7D5A">
                <a:alpha val="8000"/>
              </a:srgbClr>
            </a:outerShdw>
          </a:effectLst>
        </a:effectStyle>
        <a:effectStyle>
          <a:effectLst>
            <a:outerShdw blurRad="323850" dist="114300" dir="5400000">
              <a:srgbClr val="B44959">
                <a:alpha val="8000"/>
              </a:srgbClr>
            </a:outerShdw>
          </a:effectLst>
        </a:effectStyle>
        <a:effectStyle>
          <a:effectLst>
            <a:outerShdw blurRad="457200" dist="190500" dir="5400000">
              <a:srgbClr val="3C239F">
                <a:alpha val="22000"/>
              </a:srgbClr>
            </a:outerShdw>
          </a:effectLst>
        </a:effectStyle>
        <a:effectStyle>
          <a:effectLst>
            <a:outerShdw blurRad="323850" dist="133350" dir="5400000">
              <a:srgbClr val="3C239F">
                <a:alpha val="18000"/>
              </a:srgbClr>
            </a:outerShdw>
          </a:effectLst>
        </a:effectStyle>
        <a:effectStyle>
          <a:effectLst>
            <a:outerShdw blurRad="419100" dist="171450" dir="5400000">
              <a:srgbClr val="3C239F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2026-09-02T14:39:35.8880000Z</dcterms:created>
  <dcterms:modified xsi:type="dcterms:W3CDTF">2026-09-02T14:39:35.8880000Z</dcterms:modified>
</coreProperties>
</file>