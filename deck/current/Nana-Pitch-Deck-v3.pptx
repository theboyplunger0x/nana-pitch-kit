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01b13192854493b" /><Relationship Type="http://schemas.openxmlformats.org/officeDocument/2006/relationships/extended-properties" Target="/docProps/app.xml" Id="R4c562e80abe94c6b" /><Relationship Type="http://schemas.openxmlformats.org/officeDocument/2006/relationships/officeDocument" Target="/ppt/presentation.xml" Id="R955e9ec5991e4f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5d14ae8313c43e7"/>
  </p:sldMasterIdLst>
  <p:notesMasterIdLst>
    <p:notesMasterId xmlns:r="http://schemas.openxmlformats.org/officeDocument/2006/relationships" r:id="Rb30549d3a6214e5c"/>
  </p:notesMasterIdLst>
  <p:sldIdLst>
    <p:sldId xmlns:r="http://schemas.openxmlformats.org/officeDocument/2006/relationships" id="256" r:id="Reb0c57cde18047dc"/>
    <p:sldId xmlns:r="http://schemas.openxmlformats.org/officeDocument/2006/relationships" id="257" r:id="R4fe785aececf43ca"/>
    <p:sldId xmlns:r="http://schemas.openxmlformats.org/officeDocument/2006/relationships" id="258" r:id="Rb4d6e3c21cb3451e"/>
    <p:sldId xmlns:r="http://schemas.openxmlformats.org/officeDocument/2006/relationships" id="259" r:id="R566e61eee3cd432b"/>
    <p:sldId xmlns:r="http://schemas.openxmlformats.org/officeDocument/2006/relationships" id="260" r:id="Ra21041d618e748e5"/>
    <p:sldId xmlns:r="http://schemas.openxmlformats.org/officeDocument/2006/relationships" id="261" r:id="Rfb1228f9dafd4856"/>
    <p:sldId xmlns:r="http://schemas.openxmlformats.org/officeDocument/2006/relationships" id="262" r:id="Rfbb8c7b674054123"/>
    <p:sldId xmlns:r="http://schemas.openxmlformats.org/officeDocument/2006/relationships" id="263" r:id="R3bfcb6d034bc488d"/>
    <p:sldId xmlns:r="http://schemas.openxmlformats.org/officeDocument/2006/relationships" id="264" r:id="Rf018141294df4d67"/>
    <p:sldId xmlns:r="http://schemas.openxmlformats.org/officeDocument/2006/relationships" id="265" r:id="R567da3ee08134b20"/>
    <p:sldId xmlns:r="http://schemas.openxmlformats.org/officeDocument/2006/relationships" id="266" r:id="Rbea45a300d6749ac"/>
    <p:sldId xmlns:r="http://schemas.openxmlformats.org/officeDocument/2006/relationships" id="267" r:id="R25c3b28d99904300"/>
    <p:sldId xmlns:r="http://schemas.openxmlformats.org/officeDocument/2006/relationships" id="268" r:id="Rb09d6bc8d3f74047"/>
    <p:sldId xmlns:r="http://schemas.openxmlformats.org/officeDocument/2006/relationships" id="269" r:id="R28be9dfd499f4857"/>
    <p:sldId xmlns:r="http://schemas.openxmlformats.org/officeDocument/2006/relationships" id="270" r:id="Rc58b534d6f7f4a07"/>
    <p:sldId xmlns:r="http://schemas.openxmlformats.org/officeDocument/2006/relationships" id="271" r:id="R5927acdf08a04bfe"/>
    <p:sldId xmlns:r="http://schemas.openxmlformats.org/officeDocument/2006/relationships" id="272" r:id="R2b7e0dc806334c93"/>
    <p:sldId xmlns:r="http://schemas.openxmlformats.org/officeDocument/2006/relationships" id="273" r:id="Rece23e9a93504c75"/>
    <p:sldId xmlns:r="http://schemas.openxmlformats.org/officeDocument/2006/relationships" id="274" r:id="Rf595ea75b4734da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62bc6d4e6be4017" /><Relationship Type="http://schemas.openxmlformats.org/officeDocument/2006/relationships/slideMaster" Target="/ppt/slideMasters/slideMaster1.xml" Id="R15d14ae8313c43e7" /><Relationship Type="http://schemas.openxmlformats.org/officeDocument/2006/relationships/notesMaster" Target="/ppt/notesMasters/notesMaster1.xml" Id="Rb30549d3a6214e5c" /><Relationship Type="http://schemas.openxmlformats.org/officeDocument/2006/relationships/presProps" Target="/ppt/presProps.xml" Id="R0a94eb7f94e1471f" /><Relationship Type="http://schemas.openxmlformats.org/officeDocument/2006/relationships/tableStyles" Target="/ppt/tableStyles.xml" Id="R7b7a0e2f975b4c52" /><Relationship Type="http://schemas.openxmlformats.org/officeDocument/2006/relationships/slide" Target="/ppt/slides/slide1.xml" Id="Reb0c57cde18047dc" /><Relationship Type="http://schemas.openxmlformats.org/officeDocument/2006/relationships/slide" Target="/ppt/slides/slide2.xml" Id="R4fe785aececf43ca" /><Relationship Type="http://schemas.openxmlformats.org/officeDocument/2006/relationships/slide" Target="/ppt/slides/slide3.xml" Id="Rb4d6e3c21cb3451e" /><Relationship Type="http://schemas.openxmlformats.org/officeDocument/2006/relationships/slide" Target="/ppt/slides/slide4.xml" Id="R566e61eee3cd432b" /><Relationship Type="http://schemas.openxmlformats.org/officeDocument/2006/relationships/slide" Target="/ppt/slides/slide5.xml" Id="Ra21041d618e748e5" /><Relationship Type="http://schemas.openxmlformats.org/officeDocument/2006/relationships/slide" Target="/ppt/slides/slide6.xml" Id="Rfb1228f9dafd4856" /><Relationship Type="http://schemas.openxmlformats.org/officeDocument/2006/relationships/slide" Target="/ppt/slides/slide7.xml" Id="Rfbb8c7b674054123" /><Relationship Type="http://schemas.openxmlformats.org/officeDocument/2006/relationships/slide" Target="/ppt/slides/slide8.xml" Id="R3bfcb6d034bc488d" /><Relationship Type="http://schemas.openxmlformats.org/officeDocument/2006/relationships/slide" Target="/ppt/slides/slide9.xml" Id="Rf018141294df4d67" /><Relationship Type="http://schemas.openxmlformats.org/officeDocument/2006/relationships/slide" Target="/ppt/slides/slide10.xml" Id="R567da3ee08134b20" /><Relationship Type="http://schemas.openxmlformats.org/officeDocument/2006/relationships/slide" Target="/ppt/slides/slide11.xml" Id="Rbea45a300d6749ac" /><Relationship Type="http://schemas.openxmlformats.org/officeDocument/2006/relationships/slide" Target="/ppt/slides/slide12.xml" Id="R25c3b28d99904300" /><Relationship Type="http://schemas.openxmlformats.org/officeDocument/2006/relationships/slide" Target="/ppt/slides/slide13.xml" Id="Rb09d6bc8d3f74047" /><Relationship Type="http://schemas.openxmlformats.org/officeDocument/2006/relationships/slide" Target="/ppt/slides/slide14.xml" Id="R28be9dfd499f4857" /><Relationship Type="http://schemas.openxmlformats.org/officeDocument/2006/relationships/slide" Target="/ppt/slides/slide15.xml" Id="Rc58b534d6f7f4a07" /><Relationship Type="http://schemas.openxmlformats.org/officeDocument/2006/relationships/slide" Target="/ppt/slides/slide16.xml" Id="R5927acdf08a04bfe" /><Relationship Type="http://schemas.openxmlformats.org/officeDocument/2006/relationships/slide" Target="/ppt/slides/slide17.xml" Id="R2b7e0dc806334c93" /><Relationship Type="http://schemas.openxmlformats.org/officeDocument/2006/relationships/slide" Target="/ppt/slides/slide18.xml" Id="Rece23e9a93504c75" /><Relationship Type="http://schemas.openxmlformats.org/officeDocument/2006/relationships/slide" Target="/ppt/slides/slide19.xml" Id="Rf595ea75b4734da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137cf46aa274d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42900" dist="133350" dir="5400000">
              <a:srgbClr val="3C239F">
                <a:alpha val="10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8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4000"/>
              </a:srgbClr>
            </a:outerShdw>
          </a:effectLst>
        </a:effectStyle>
        <a:effectStyle>
          <a:effectLst>
            <a:outerShdw blurRad="323850" dist="114300" dir="5400000">
              <a:srgbClr val="2F7D5A">
                <a:alpha val="8000"/>
              </a:srgbClr>
            </a:outerShdw>
          </a:effectLst>
        </a:effectStyle>
        <a:effectStyle>
          <a:effectLst>
            <a:outerShdw blurRad="323850" dist="114300" dir="5400000">
              <a:srgbClr val="B44959">
                <a:alpha val="8000"/>
              </a:srgbClr>
            </a:outerShdw>
          </a:effectLst>
        </a:effectStyle>
        <a:effectStyle>
          <a:effectLst>
            <a:outerShdw blurRad="457200" dist="190500" dir="5400000">
              <a:srgbClr val="3C239F">
                <a:alpha val="22000"/>
              </a:srgbClr>
            </a:outerShdw>
          </a:effectLst>
        </a:effectStyle>
        <a:effectStyle>
          <a:effectLst>
            <a:outerShdw blurRad="323850" dist="133350" dir="5400000">
              <a:srgbClr val="3C239F">
                <a:alpha val="18000"/>
              </a:srgbClr>
            </a:outerShdw>
          </a:effectLst>
        </a:effectStyle>
        <a:effectStyle>
          <a:effectLst>
            <a:outerShdw blurRad="419100" dist="171450" dir="5400000">
              <a:srgbClr val="3C239F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b4d79c24adf4c7b" /><Relationship Type="http://schemas.openxmlformats.org/officeDocument/2006/relationships/notesMaster" Target="/ppt/notesMasters/notesMaster1.xml" Id="R68c7e2c541f74c2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986c2ee3c43485a" /><Relationship Type="http://schemas.openxmlformats.org/officeDocument/2006/relationships/notesMaster" Target="/ppt/notesMasters/notesMaster1.xml" Id="R9ff42d6164494c2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0388df453248f4" /><Relationship Type="http://schemas.openxmlformats.org/officeDocument/2006/relationships/notesMaster" Target="/ppt/notesMasters/notesMaster1.xml" Id="R098e97bd9dac486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44aef9f90d54fc8" /><Relationship Type="http://schemas.openxmlformats.org/officeDocument/2006/relationships/notesMaster" Target="/ppt/notesMasters/notesMaster1.xml" Id="R409a4e6c4dbb42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2accd08cee44efb" /><Relationship Type="http://schemas.openxmlformats.org/officeDocument/2006/relationships/notesMaster" Target="/ppt/notesMasters/notesMaster1.xml" Id="R652bde0ee48f4f4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3d3c25672e47fb" /><Relationship Type="http://schemas.openxmlformats.org/officeDocument/2006/relationships/notesMaster" Target="/ppt/notesMasters/notesMaster1.xml" Id="R04bc2898f3de4f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859924eca84936" /><Relationship Type="http://schemas.openxmlformats.org/officeDocument/2006/relationships/notesMaster" Target="/ppt/notesMasters/notesMaster1.xml" Id="R90624d0ed85040a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37fd00e79b646e1" /><Relationship Type="http://schemas.openxmlformats.org/officeDocument/2006/relationships/notesMaster" Target="/ppt/notesMasters/notesMaster1.xml" Id="R1f8164c1a53f49d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f0ecb59452c49c9" /><Relationship Type="http://schemas.openxmlformats.org/officeDocument/2006/relationships/notesMaster" Target="/ppt/notesMasters/notesMaster1.xml" Id="Red5b7c31093c45d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d683c4b6a154fca" /><Relationship Type="http://schemas.openxmlformats.org/officeDocument/2006/relationships/notesMaster" Target="/ppt/notesMasters/notesMaster1.xml" Id="R314b3b8342334ed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1b60df218e2425a" /><Relationship Type="http://schemas.openxmlformats.org/officeDocument/2006/relationships/notesMaster" Target="/ppt/notesMasters/notesMaster1.xml" Id="R9ed418141b6c46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5db663da6ed4400" /><Relationship Type="http://schemas.openxmlformats.org/officeDocument/2006/relationships/notesMaster" Target="/ppt/notesMasters/notesMaster1.xml" Id="R60b1d3494d4945b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cff9c891ded46c3" /><Relationship Type="http://schemas.openxmlformats.org/officeDocument/2006/relationships/notesMaster" Target="/ppt/notesMasters/notesMaster1.xml" Id="Rf4ad89fb96fb41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84132a548284493" /><Relationship Type="http://schemas.openxmlformats.org/officeDocument/2006/relationships/notesMaster" Target="/ppt/notesMasters/notesMaster1.xml" Id="R868448b58f904a44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10dd0fd9b4c4128" /><Relationship Type="http://schemas.openxmlformats.org/officeDocument/2006/relationships/notesMaster" Target="/ppt/notesMasters/notesMaster1.xml" Id="R3f5463eefa9d4d3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c61ed29b6fe45e2" /><Relationship Type="http://schemas.openxmlformats.org/officeDocument/2006/relationships/notesMaster" Target="/ppt/notesMasters/notesMaster1.xml" Id="R210b373d7db6447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434f3e8f60405c" /><Relationship Type="http://schemas.openxmlformats.org/officeDocument/2006/relationships/notesMaster" Target="/ppt/notesMasters/notesMaster1.xml" Id="R184e3d43b977426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41b706eb4484e29" /><Relationship Type="http://schemas.openxmlformats.org/officeDocument/2006/relationships/notesMaster" Target="/ppt/notesMasters/notesMaster1.xml" Id="R53347519b55846c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d7e1257725644a2" /><Relationship Type="http://schemas.openxmlformats.org/officeDocument/2006/relationships/notesMaster" Target="/ppt/notesMasters/notesMaster1.xml" Id="R04eac86bfc4043c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app/apps/nana-wallet/src/components/HybridLandingIntro.tsx</a:t>
            </a:r>
          </a:p>
          <a:p xmlns:a="http://schemas.openxmlformats.org/drawingml/2006/main">
            <a:r>
              <a:t>- assets/sprites/nani-01-lista.png</a:t>
            </a:r>
          </a:p>
          <a:p xmlns:a="http://schemas.openxmlformats.org/drawingml/2006/main">
            <a:r>
              <a:t>- docs/business-model/nana-business-model.pdf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2 and 4</a:t>
            </a:r>
          </a:p>
          <a:p xmlns:a="http://schemas.openxmlformats.org/drawingml/2006/main">
            <a:r>
              <a:t>- docs/business-model/nana-business-model.pdf · problem and product thesis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https://www.who.int/news-room/fact-sheets/detail/ageing-and-health</a:t>
            </a:r>
          </a:p>
          <a:p xmlns:a="http://schemas.openxmlformats.org/drawingml/2006/main">
            <a:r>
              <a:t>- https://www.who.int/news-room/fact-sheets/detail/disability-and-health</a:t>
            </a:r>
          </a:p>
          <a:p xmlns:a="http://schemas.openxmlformats.org/drawingml/2006/main">
            <a:r>
              <a:t>- WHO figures are global and describe population context, not Nana's addressable market.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assets/landing/agent-command.jpg</a:t>
            </a:r>
          </a:p>
          <a:p xmlns:a="http://schemas.openxmlformats.org/drawingml/2006/main">
            <a:r>
              <a:t>- assets/landing/agent-confirmation.jpg</a:t>
            </a:r>
          </a:p>
          <a:p xmlns:a="http://schemas.openxmlformats.org/drawingml/2006/main">
            <a:r>
              <a:t>- assets/landing/agent-confirmed.jpg</a:t>
            </a:r>
          </a:p>
          <a:p xmlns:a="http://schemas.openxmlformats.org/drawingml/2006/main">
            <a:r>
              <a:t>- assets/landing/agent-home.jpg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6</a:t>
            </a:r>
          </a:p>
          <a:p xmlns:a="http://schemas.openxmlformats.org/drawingml/2006/main">
            <a:r>
              <a:t>- docs/business-model/nana-business-model.pdf · dual-user model</a:t>
            </a:r>
          </a:p>
          <a:p xmlns:a="http://schemas.openxmlformats.org/drawingml/2006/main">
            <a:r>
              <a:t>- docs/mission-board/Nana-Mission-Board.pptx · product principles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7 and 8</a:t>
            </a:r>
          </a:p>
          <a:p xmlns:a="http://schemas.openxmlformats.org/drawingml/2006/main">
            <a:r>
              <a:t>- docs/business-model/nana-business-model.pdf · intervention-by-exception rule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8</a:t>
            </a:r>
          </a:p>
          <a:p xmlns:a="http://schemas.openxmlformats.org/drawingml/2006/main">
            <a:r>
              <a:t>- docs/business-model/nana-business-model.pdf · Protection Engine and policy orchestration</a:t>
            </a:r>
          </a:p>
          <a:p xmlns:a="http://schemas.openxmlformats.org/drawingml/2006/main">
            <a:r>
              <a:t>- Flow is a product model; concrete thresholds remain subject to user testing and compliance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delegated execution architecture</a:t>
            </a:r>
          </a:p>
          <a:p xmlns:a="http://schemas.openxmlformats.org/drawingml/2006/main">
            <a:r>
              <a:t>- Implementation primitives under evaluation include smart accounts, programmable permissions, session keys and multisig escalation.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9</a:t>
            </a:r>
          </a:p>
          <a:p xmlns:a="http://schemas.openxmlformats.org/drawingml/2006/main">
            <a:r>
              <a:t>- https://github.com/theboyplunger0x/nana-wallet</a:t>
            </a:r>
          </a:p>
          <a:p xmlns:a="http://schemas.openxmlformats.org/drawingml/2006/main">
            <a:r>
              <a:t>- assets/landing/agent-confirmed.jpg</a:t>
            </a:r>
          </a:p>
          <a:p xmlns:a="http://schemas.openxmlformats.org/drawingml/2006/main">
            <a:r>
              <a:t>- Hackathon placement and transfer count are team-reported proof points carried forward from the existing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ownership boundary and infrastructure paths</a:t>
            </a:r>
          </a:p>
          <a:p xmlns:a="http://schemas.openxmlformats.org/drawingml/2006/main">
            <a:r>
              <a:t>- https://github.com/theboyplunger0x/nana-wallet</a:t>
            </a:r>
          </a:p>
          <a:p xmlns:a="http://schemas.openxmlformats.org/drawingml/2006/main">
            <a:r>
              <a:t>- Tether/WDK is the proven implementation path; Circle/Arc is an evaluation path, not a committed dependency.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revenue hypotheses and Nana Free / Nana Family</a:t>
            </a:r>
          </a:p>
          <a:p xmlns:a="http://schemas.openxmlformats.org/drawingml/2006/main">
            <a:r>
              <a:t>- Pricing and revenue units are intentionally shown as hypotheses pending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wedge and expansion sequence</a:t>
            </a:r>
          </a:p>
          <a:p xmlns:a="http://schemas.openxmlformats.org/drawingml/2006/main">
            <a:r>
              <a:t>- This slide explains the expansion sequence before the market-sizing scenarios that follow.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assets/market/nana-market-75plus-2560x1440-146KB.png</a:t>
            </a:r>
          </a:p>
          <a:p xmlns:a="http://schemas.openxmlformats.org/drawingml/2006/main">
            <a:r>
              <a:t>- Internal market sizing model dated 1 September 2026.</a:t>
            </a:r>
          </a:p>
          <a:p xmlns:a="http://schemas.openxmlformats.org/drawingml/2006/main">
            <a:r>
              <a:t>- Formula: paying users = total users × 20%; ARR = paying users × USD 15 × 12; SOM users = Argentina population input × 5%.</a:t>
            </a:r>
          </a:p>
          <a:p xmlns:a="http://schemas.openxmlformats.org/drawingml/2006/main">
            <a:r>
              <a:t>- Population inputs and the definition of West require independent source validation before external publication.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assets/market/nana-market-motor-impairment-2560x1440-149KB.png</a:t>
            </a:r>
          </a:p>
          <a:p xmlns:a="http://schemas.openxmlformats.org/drawingml/2006/main">
            <a:r>
              <a:t>- Internal market sizing model dated 1 September 2026.</a:t>
            </a:r>
          </a:p>
          <a:p xmlns:a="http://schemas.openxmlformats.org/drawingml/2006/main">
            <a:r>
              <a:t>- Formula: paying users = total users × 20%; ARR = paying users × USD 15 × 12; SOM users = Argentina population input × 5%.</a:t>
            </a:r>
          </a:p>
          <a:p xmlns:a="http://schemas.openxmlformats.org/drawingml/2006/main">
            <a:r>
              <a:t>- Population inputs, the impairment definition and the definition of West require independent source validation before external publication.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assets/market/nana-market-both-segments-2560x1440-110KB.png</a:t>
            </a:r>
          </a:p>
          <a:p xmlns:a="http://schemas.openxmlformats.org/drawingml/2006/main">
            <a:r>
              <a:t>- Internal market sizing model dated 1 September 2026.</a:t>
            </a:r>
          </a:p>
          <a:p xmlns:a="http://schemas.openxmlformats.org/drawingml/2006/main">
            <a:r>
              <a:t>- The two segment estimates overlap and must not be summed.</a:t>
            </a:r>
          </a:p>
          <a:p xmlns:a="http://schemas.openxmlformats.org/drawingml/2006/main">
            <a:r>
              <a:t>- All values are scenario outputs, not observed revenue or conversion.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 15</a:t>
            </a:r>
          </a:p>
          <a:p xmlns:a="http://schemas.openxmlformats.org/drawingml/2006/main">
            <a:r>
              <a:t>- docs/business-model/nana-business-model.pdf · initial distribution thesis</a:t>
            </a:r>
          </a:p>
          <a:p xmlns:a="http://schemas.openxmlformats.org/drawingml/2006/main">
            <a:r>
              <a:t>- GTM sequence is a hypothesis to validate, not a reported funnel.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docs/deck/nana-deck.pdf · slides 9 and 16</a:t>
            </a:r>
          </a:p>
          <a:p xmlns:a="http://schemas.openxmlformats.org/drawingml/2006/main">
            <a:r>
              <a:t>- docs/business-model/nana-business-model.pdf · open questions and validation priorities</a:t>
            </a:r>
          </a:p>
          <a:p xmlns:a="http://schemas.openxmlformats.org/drawingml/2006/main">
            <a:r>
              <a:t>- The previous claim that two experiments were already running has been removed because it was not independently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https://github.com/theboyplunger0x/nana-wallet</a:t>
            </a:r>
          </a:p>
          <a:p xmlns:a="http://schemas.openxmlformats.org/drawingml/2006/main">
            <a:r>
              <a:t>- https://github.com/rober8b</a:t>
            </a:r>
          </a:p>
          <a:p xmlns:a="http://schemas.openxmlformats.org/drawingml/2006/main">
            <a:r>
              <a:t>- https://github.com/ram4-dev</a:t>
            </a:r>
          </a:p>
          <a:p xmlns:a="http://schemas.openxmlformats.org/drawingml/2006/main">
            <a:r>
              <a:t>- https://github.com/BecerraIgnacio</a:t>
            </a:r>
          </a:p>
          <a:p xmlns:a="http://schemas.openxmlformats.org/drawingml/2006/main">
            <a:r>
              <a:t>- https://github.com/theboyplunger0x</a:t>
            </a:r>
          </a:p>
          <a:p xmlns:a="http://schemas.openxmlformats.org/drawingml/2006/main">
            <a:r>
              <a:t>- Role labels were intentionally omitted rather than inferred from limited public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docs/business-model/nana-business-model.pdf · final product primitive</a:t>
            </a:r>
          </a:p>
          <a:p xmlns:a="http://schemas.openxmlformats.org/drawingml/2006/main">
            <a:r>
              <a:t>- assets/sprites/nani-02-escuchando.png</a:t>
            </a:r>
          </a:p>
          <a:p xmlns:a="http://schemas.openxmlformats.org/drawingml/2006/main">
            <a:r>
              <a:t>- https://nana-wallet-hybrid.vercel.app</a:t>
            </a:r>
          </a:p>
          <a:p xmlns:a="http://schemas.openxmlformats.org/drawingml/2006/main">
            <a:r>
              <a:t>- https://github.com/theboyplunger0x/nana-wallet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80d20c3c12405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3bc926a482574632" /><Relationship Type="http://schemas.openxmlformats.org/officeDocument/2006/relationships/slideLayout" Target="/ppt/slideLayouts/slideLayout1.xml" Id="R620c767e4bbe445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0c767e4bbe445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24685d38424527" /><Relationship Type="http://schemas.openxmlformats.org/officeDocument/2006/relationships/image" Target="/ppt/media/image.jpeg" Id="Rde21e5cb095b42f1" /><Relationship Type="http://schemas.openxmlformats.org/officeDocument/2006/relationships/image" Target="/ppt/media/image.png" Id="R6fbb9156e81c4222" /><Relationship Type="http://schemas.openxmlformats.org/officeDocument/2006/relationships/image" Target="/ppt/media/image2.png" Id="R12f7539e650c4fca" /><Relationship Type="http://schemas.openxmlformats.org/officeDocument/2006/relationships/image" Target="/ppt/media/image3.png" Id="Rd93070b859b94496" /><Relationship Type="http://schemas.openxmlformats.org/officeDocument/2006/relationships/image" Target="/ppt/media/image4.png" Id="R933c95598c0d4155" /><Relationship Type="http://schemas.openxmlformats.org/officeDocument/2006/relationships/notesSlide" Target="/ppt/notesSlides/notesSlide1.xml" Id="R7498cd5a79794a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3b07c98be84b05" /><Relationship Type="http://schemas.openxmlformats.org/officeDocument/2006/relationships/image" Target="/ppt/media/image2.jpeg" Id="R9f5378d033fa4e0a" /><Relationship Type="http://schemas.openxmlformats.org/officeDocument/2006/relationships/image" Target="/ppt/media/image5.png" Id="R928ef7d5a7044efa" /><Relationship Type="http://schemas.openxmlformats.org/officeDocument/2006/relationships/image" Target="/ppt/media/image6.png" Id="R6d433be2bcb94443" /><Relationship Type="http://schemas.openxmlformats.org/officeDocument/2006/relationships/image" Target="/ppt/media/image7.png" Id="R88912cdbc04440ab" /><Relationship Type="http://schemas.openxmlformats.org/officeDocument/2006/relationships/image" Target="/ppt/media/image8.png" Id="R92a450b22df74ad8" /><Relationship Type="http://schemas.openxmlformats.org/officeDocument/2006/relationships/notesSlide" Target="/ppt/notesSlides/notesSlide2.xml" Id="Ra7dcdf0b475647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911a9e44ba498b" /><Relationship Type="http://schemas.openxmlformats.org/officeDocument/2006/relationships/image" Target="/ppt/media/image3.jpeg" Id="Rd5f91646700b4ed7" /><Relationship Type="http://schemas.openxmlformats.org/officeDocument/2006/relationships/image" Target="/ppt/media/image9.png" Id="Rae6a151cde9d497f" /><Relationship Type="http://schemas.openxmlformats.org/officeDocument/2006/relationships/image" Target="/ppt/media/image10.png" Id="Rdfef722385454f5a" /><Relationship Type="http://schemas.openxmlformats.org/officeDocument/2006/relationships/notesSlide" Target="/ppt/notesSlides/notesSlide3.xml" Id="R05f6df5a55d54b5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fc4f4099664ae5" /><Relationship Type="http://schemas.openxmlformats.org/officeDocument/2006/relationships/image" Target="/ppt/media/image4.jpeg" Id="Rb7a998bc79f74ff0" /><Relationship Type="http://schemas.openxmlformats.org/officeDocument/2006/relationships/image" Target="/ppt/media/image11.png" Id="Re2fd9458d3aa458d" /><Relationship Type="http://schemas.openxmlformats.org/officeDocument/2006/relationships/image" Target="/ppt/media/image12.png" Id="R2a0e4c8b33434a0a" /><Relationship Type="http://schemas.openxmlformats.org/officeDocument/2006/relationships/image" Target="/ppt/media/image5.jpeg" Id="R9c973951223f4352" /><Relationship Type="http://schemas.openxmlformats.org/officeDocument/2006/relationships/image" Target="/ppt/media/image6.jpeg" Id="R8285cf9e87ca471b" /><Relationship Type="http://schemas.openxmlformats.org/officeDocument/2006/relationships/image" Target="/ppt/media/image7.jpeg" Id="R3fa471b2647b4565" /><Relationship Type="http://schemas.openxmlformats.org/officeDocument/2006/relationships/image" Target="/ppt/media/image8.jpeg" Id="Rf43fd045303a4de6" /><Relationship Type="http://schemas.openxmlformats.org/officeDocument/2006/relationships/notesSlide" Target="/ppt/notesSlides/notesSlide4.xml" Id="Rd1efb0d6379f4c4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1aed20736f4834" /><Relationship Type="http://schemas.openxmlformats.org/officeDocument/2006/relationships/image" Target="/ppt/media/image9.jpeg" Id="R3d9244ad18664571" /><Relationship Type="http://schemas.openxmlformats.org/officeDocument/2006/relationships/image" Target="/ppt/media/image13.png" Id="R673ccd46d38c44d3" /><Relationship Type="http://schemas.openxmlformats.org/officeDocument/2006/relationships/image" Target="/ppt/media/image14.png" Id="R08f54cd19554469a" /><Relationship Type="http://schemas.openxmlformats.org/officeDocument/2006/relationships/image" Target="/ppt/media/image15.png" Id="R6a905334763a4e36" /><Relationship Type="http://schemas.openxmlformats.org/officeDocument/2006/relationships/notesSlide" Target="/ppt/notesSlides/notesSlide5.xml" Id="R4080c47f1fa8425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8aee26b90b47a6" /><Relationship Type="http://schemas.openxmlformats.org/officeDocument/2006/relationships/image" Target="/ppt/media/image10.jpeg" Id="R4c043c329b06476e" /><Relationship Type="http://schemas.openxmlformats.org/officeDocument/2006/relationships/image" Target="/ppt/media/image16.png" Id="R78469ae567344004" /><Relationship Type="http://schemas.openxmlformats.org/officeDocument/2006/relationships/image" Target="/ppt/media/image17.png" Id="Rabea112ba43d444c" /><Relationship Type="http://schemas.openxmlformats.org/officeDocument/2006/relationships/image" Target="/ppt/media/image18.png" Id="R66a4e3aa482a452f" /><Relationship Type="http://schemas.openxmlformats.org/officeDocument/2006/relationships/notesSlide" Target="/ppt/notesSlides/notesSlide6.xml" Id="R9bc4e8bdd79d424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f2b973084492c" /><Relationship Type="http://schemas.openxmlformats.org/officeDocument/2006/relationships/image" Target="/ppt/media/image11.jpeg" Id="Rca7307ae04154785" /><Relationship Type="http://schemas.openxmlformats.org/officeDocument/2006/relationships/image" Target="/ppt/media/image19.png" Id="R8cc3c729a9bd4aa8" /><Relationship Type="http://schemas.openxmlformats.org/officeDocument/2006/relationships/image" Target="/ppt/media/image20.png" Id="R538dd496c4ea47cb" /><Relationship Type="http://schemas.openxmlformats.org/officeDocument/2006/relationships/notesSlide" Target="/ppt/notesSlides/notesSlide7.xml" Id="Reea88d6cbf0643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19b681b9a74984" /><Relationship Type="http://schemas.openxmlformats.org/officeDocument/2006/relationships/image" Target="/ppt/media/image12.jpeg" Id="R36052ac0ca0a4305" /><Relationship Type="http://schemas.openxmlformats.org/officeDocument/2006/relationships/image" Target="/ppt/media/image21.png" Id="Rf7c815fe2bd64f78" /><Relationship Type="http://schemas.openxmlformats.org/officeDocument/2006/relationships/image" Target="/ppt/media/image22.png" Id="R5adb7122dc1c4db0" /><Relationship Type="http://schemas.openxmlformats.org/officeDocument/2006/relationships/notesSlide" Target="/ppt/notesSlides/notesSlide8.xml" Id="R25d57d7a774a4f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2bceac187084c05" /><Relationship Type="http://schemas.openxmlformats.org/officeDocument/2006/relationships/image" Target="/ppt/media/image13.jpeg" Id="R3077a0a15b954ab2" /><Relationship Type="http://schemas.openxmlformats.org/officeDocument/2006/relationships/image" Target="/ppt/media/image23.png" Id="R0e66b58469894863" /><Relationship Type="http://schemas.openxmlformats.org/officeDocument/2006/relationships/image" Target="/ppt/media/image24.png" Id="Refe92443460f4768" /><Relationship Type="http://schemas.openxmlformats.org/officeDocument/2006/relationships/image" Target="/ppt/media/image14.jpeg" Id="R3beb669976884b16" /><Relationship Type="http://schemas.openxmlformats.org/officeDocument/2006/relationships/notesSlide" Target="/ppt/notesSlides/notesSlide9.xml" Id="R3162af3dea1a45c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f630ef5a64495c" /><Relationship Type="http://schemas.openxmlformats.org/officeDocument/2006/relationships/image" Target="/ppt/media/image15.jpeg" Id="R533a4e7452514a92" /><Relationship Type="http://schemas.openxmlformats.org/officeDocument/2006/relationships/image" Target="/ppt/media/image25.png" Id="Rd4b9558ab7304d71" /><Relationship Type="http://schemas.openxmlformats.org/officeDocument/2006/relationships/image" Target="/ppt/media/image26.png" Id="R954078f80a614554" /><Relationship Type="http://schemas.openxmlformats.org/officeDocument/2006/relationships/notesSlide" Target="/ppt/notesSlides/notesSlide10.xml" Id="R1604b3e6f7f54f5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8437d7b31240fc" /><Relationship Type="http://schemas.openxmlformats.org/officeDocument/2006/relationships/image" Target="/ppt/media/image16.jpeg" Id="Rf38606226fdd42ce" /><Relationship Type="http://schemas.openxmlformats.org/officeDocument/2006/relationships/image" Target="/ppt/media/image27.png" Id="R02581e45cdae418c" /><Relationship Type="http://schemas.openxmlformats.org/officeDocument/2006/relationships/image" Target="/ppt/media/image28.png" Id="R8f6fd0affb534e9c" /><Relationship Type="http://schemas.openxmlformats.org/officeDocument/2006/relationships/notesSlide" Target="/ppt/notesSlides/notesSlide11.xml" Id="R3b86cf21ac98432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24fd129884310" /><Relationship Type="http://schemas.openxmlformats.org/officeDocument/2006/relationships/image" Target="/ppt/media/image17.jpeg" Id="R61eaf53a349d4a4c" /><Relationship Type="http://schemas.openxmlformats.org/officeDocument/2006/relationships/image" Target="/ppt/media/image29.png" Id="Rb1d1b40bca884448" /><Relationship Type="http://schemas.openxmlformats.org/officeDocument/2006/relationships/image" Target="/ppt/media/image30.png" Id="R5d8df9c62b1542c7" /><Relationship Type="http://schemas.openxmlformats.org/officeDocument/2006/relationships/image" Target="/ppt/media/image31.png" Id="R135da6fd82e54e15" /><Relationship Type="http://schemas.openxmlformats.org/officeDocument/2006/relationships/image" Target="/ppt/media/image32.png" Id="R7ffc87c241b24e62" /><Relationship Type="http://schemas.openxmlformats.org/officeDocument/2006/relationships/image" Target="/ppt/media/image33.png" Id="Rcf804d46e56d4eea" /><Relationship Type="http://schemas.openxmlformats.org/officeDocument/2006/relationships/notesSlide" Target="/ppt/notesSlides/notesSlide12.xml" Id="Rb8236ce20e184d3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0735920ada4c08" /><Relationship Type="http://schemas.openxmlformats.org/officeDocument/2006/relationships/image" Target="/ppt/media/image18.jpeg" Id="R2dc7da9de0d8442f" /><Relationship Type="http://schemas.openxmlformats.org/officeDocument/2006/relationships/image" Target="/ppt/media/image34.png" Id="R22e0d34bc61e4533" /><Relationship Type="http://schemas.openxmlformats.org/officeDocument/2006/relationships/image" Target="/ppt/media/image35.png" Id="R1762aabb749342f9" /><Relationship Type="http://schemas.openxmlformats.org/officeDocument/2006/relationships/notesSlide" Target="/ppt/notesSlides/notesSlide13.xml" Id="Re5a1aa3cd82547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84d8319e574b8c" /><Relationship Type="http://schemas.openxmlformats.org/officeDocument/2006/relationships/image" Target="/ppt/media/image19.jpeg" Id="Rec18dc8ae00e49fb" /><Relationship Type="http://schemas.openxmlformats.org/officeDocument/2006/relationships/image" Target="/ppt/media/image36.png" Id="R7708d6178506493a" /><Relationship Type="http://schemas.openxmlformats.org/officeDocument/2006/relationships/image" Target="/ppt/media/image37.png" Id="R24df846d2c3645c5" /><Relationship Type="http://schemas.openxmlformats.org/officeDocument/2006/relationships/notesSlide" Target="/ppt/notesSlides/notesSlide14.xml" Id="R7683ebc31ba24d3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685c1f732d4f21" /><Relationship Type="http://schemas.openxmlformats.org/officeDocument/2006/relationships/image" Target="/ppt/media/image20.jpeg" Id="R5918597068b14fa8" /><Relationship Type="http://schemas.openxmlformats.org/officeDocument/2006/relationships/image" Target="/ppt/media/image38.png" Id="R63aaa64c8d7c4f01" /><Relationship Type="http://schemas.openxmlformats.org/officeDocument/2006/relationships/image" Target="/ppt/media/image39.png" Id="R965af27a91f2431e" /><Relationship Type="http://schemas.openxmlformats.org/officeDocument/2006/relationships/notesSlide" Target="/ppt/notesSlides/notesSlide15.xml" Id="R91b0e3fe7f6347a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7bdedbb1248c5" /><Relationship Type="http://schemas.openxmlformats.org/officeDocument/2006/relationships/image" Target="/ppt/media/image21.jpeg" Id="R38b2b7dd4c714126" /><Relationship Type="http://schemas.openxmlformats.org/officeDocument/2006/relationships/image" Target="/ppt/media/image40.png" Id="R5723932dbf644ca9" /><Relationship Type="http://schemas.openxmlformats.org/officeDocument/2006/relationships/image" Target="/ppt/media/image41.png" Id="Rf739208683014c6e" /><Relationship Type="http://schemas.openxmlformats.org/officeDocument/2006/relationships/notesSlide" Target="/ppt/notesSlides/notesSlide16.xml" Id="R58190abfafce49c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a5291d0f434d41" /><Relationship Type="http://schemas.openxmlformats.org/officeDocument/2006/relationships/image" Target="/ppt/media/image22.jpeg" Id="R7c3593af3ce944a8" /><Relationship Type="http://schemas.openxmlformats.org/officeDocument/2006/relationships/image" Target="/ppt/media/image42.png" Id="R93427c2b3bc14645" /><Relationship Type="http://schemas.openxmlformats.org/officeDocument/2006/relationships/image" Target="/ppt/media/image43.png" Id="Rc64e99235fbc4376" /><Relationship Type="http://schemas.openxmlformats.org/officeDocument/2006/relationships/notesSlide" Target="/ppt/notesSlides/notesSlide17.xml" Id="Rfba12c9dc1394387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f94730ef0b4c9c" /><Relationship Type="http://schemas.openxmlformats.org/officeDocument/2006/relationships/image" Target="/ppt/media/image23.jpeg" Id="R435d4b1d2c204194" /><Relationship Type="http://schemas.openxmlformats.org/officeDocument/2006/relationships/image" Target="/ppt/media/image44.png" Id="Rb1d215aa0c3d4ced" /><Relationship Type="http://schemas.openxmlformats.org/officeDocument/2006/relationships/image" Target="/ppt/media/image45.png" Id="Raa83804336344264" /><Relationship Type="http://schemas.openxmlformats.org/officeDocument/2006/relationships/image" Target="/ppt/media/image24.jpeg" Id="R96f3dccffd51410c" /><Relationship Type="http://schemas.openxmlformats.org/officeDocument/2006/relationships/image" Target="/ppt/media/image25.jpeg" Id="R8923a66db1e14ea4" /><Relationship Type="http://schemas.openxmlformats.org/officeDocument/2006/relationships/image" Target="/ppt/media/image26.jpeg" Id="Rb85383bfebe14fb6" /><Relationship Type="http://schemas.openxmlformats.org/officeDocument/2006/relationships/image" Target="/ppt/media/image46.png" Id="Rb7e1aab3afe44e91" /><Relationship Type="http://schemas.openxmlformats.org/officeDocument/2006/relationships/notesSlide" Target="/ppt/notesSlides/notesSlide18.xml" Id="R9b38e2d630934b4f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a71566f1546cc" /><Relationship Type="http://schemas.openxmlformats.org/officeDocument/2006/relationships/image" Target="/ppt/media/image27.jpeg" Id="Rf26675eeaf63444c" /><Relationship Type="http://schemas.openxmlformats.org/officeDocument/2006/relationships/image" Target="/ppt/media/image47.png" Id="R8c4f77bef3864430" /><Relationship Type="http://schemas.openxmlformats.org/officeDocument/2006/relationships/image" Target="/ppt/media/image48.png" Id="R61b0934b014b46a1" /><Relationship Type="http://schemas.openxmlformats.org/officeDocument/2006/relationships/image" Target="/ppt/media/image49.png" Id="Rf22d003ba80643b2" /><Relationship Type="http://schemas.openxmlformats.org/officeDocument/2006/relationships/notesSlide" Target="/ppt/notesSlides/notesSlide19.xml" Id="R355087832e904ea8" /></Relationships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e21e5cb095b42f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03F58D-C9D0-44FF-B4F3-3F5ACE846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6F21279-50E4-4493-B6A1-699F495C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239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7B402E-4A93-4441-A541-3EE6E2999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478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8E025B-D8B5-411C-9037-88BBB52E5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717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E0D7D4-EF33-4F33-A64C-1EC9B0281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956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A232BE-1794-4E52-91FF-C83C793BB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195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C005C8-7626-41E2-A31B-6F9C3EE0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3434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816050-9243-4EC5-9DBC-7386E03D3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0673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3FCB48D-3561-40FC-92BB-090624F0A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7912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F8B249-47BB-463A-8C37-D43A3CE5D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15100"/>
            <a:ext cx="7048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bb9156e81c4222"/>
          <a:stretch xmlns:a="http://schemas.openxmlformats.org/drawingml/2006/main"/>
        </p:blipFill>
        <p:spPr>
          <a:xfrm xmlns:a="http://schemas.openxmlformats.org/drawingml/2006/main">
            <a:off x="9048750" y="0"/>
            <a:ext cx="3143250" cy="3143250"/>
          </a:xfrm>
          <a:prstGeom xmlns:a="http://schemas.openxmlformats.org/drawingml/2006/main" prst="rect">
            <a:avLst/>
          </a:prstGeom>
        </p:spPr>
      </p:pic>
      <p:pic>
        <p:nvPicPr>
          <p:cNvPr id="4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f7539e650c4fca"/>
          <a:stretch xmlns:a="http://schemas.openxmlformats.org/drawingml/2006/main"/>
        </p:blipFill>
        <p:spPr>
          <a:xfrm xmlns:a="http://schemas.openxmlformats.org/drawingml/2006/main">
            <a:off x="0" y="5429250"/>
            <a:ext cx="1428750" cy="1428750"/>
          </a:xfrm>
          <a:prstGeom xmlns:a="http://schemas.openxmlformats.org/drawingml/2006/main" prst="rect">
            <a:avLst/>
          </a:prstGeom>
        </p:spPr>
      </p:pic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3070b859b94496"/>
          <a:stretch xmlns:a="http://schemas.openxmlformats.org/drawingml/2006/main"/>
        </p:blipFill>
        <p:spPr>
          <a:xfrm xmlns:a="http://schemas.openxmlformats.org/drawingml/2006/main">
            <a:off x="6096000" y="685800"/>
            <a:ext cx="5429250" cy="5429250"/>
          </a:xfrm>
          <a:prstGeom xmlns:a="http://schemas.openxmlformats.org/drawingml/2006/main" prst="rect">
            <a:avLst/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8C07EB-4AD9-49BB-9BF0-EDBB907D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619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2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2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42599AE-85D2-4834-8B4A-670F5511B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57325"/>
            <a:ext cx="15811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45C53E4-3D53-4D94-B353-B42C6E9CB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43050"/>
            <a:ext cx="13525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AGENTIC WALLET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442182-424D-41DA-9EC4-3E6988D9F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5810250" cy="1447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5960"/>
          </a:bodyPr>
          <a:lstStyle xmlns:a="http://schemas.openxmlformats.org/drawingml/2006/main"/>
          <a:p xmlns:a="http://schemas.openxmlformats.org/drawingml/2006/main">
            <a:pPr algn="l">
              <a:buNone/>
              <a:defRPr sz="49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49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Independence</a:t>
            </a:r>
          </a:p>
          <a:p xmlns:a="http://schemas.openxmlformats.org/drawingml/2006/main">
            <a:pPr algn="l">
              <a:buNone/>
              <a:defRPr sz="49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49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through voice.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4D38343-6231-4FD9-ADB3-A697B7B1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523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5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Protection when it matters.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AB04815-6DC6-4068-AE5C-528FA8AC3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05325"/>
            <a:ext cx="5095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agentic wallet for seniors and people with limited mobility.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E667A3-C290-4BCA-8101-61E2A9BF9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34100"/>
            <a:ext cx="2667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75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PITCH DECK · SEPTEMBER 2026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3c95598c0d4155"/>
          <a:stretch xmlns:a="http://schemas.openxmlformats.org/drawingml/2006/main"/>
        </p:blipFill>
        <p:spPr>
          <a:xfrm xmlns:a="http://schemas.openxmlformats.org/drawingml/2006/main">
            <a:off x="6934200" y="1450242"/>
            <a:ext cx="4000500" cy="43766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217519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f5378d033fa4e0a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8ef7d5a7044efa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433be2bcb94443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C4CE05D-C417-4979-B5DA-46FDECB0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07A5A13-0F14-449C-AEEF-262D55BA2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9BB0BC-C0DD-42BF-8ABE-A446EDFED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THE PROBLEM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3259272-83D8-41C4-BC31-BAD6621E4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048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Protection today often means taking over.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FE633C-1260-4F47-B48C-752D18D7E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5810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When financial interfaces become difficult, families usually choose between two bad outcomes: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939BC9-2A53-4B7B-AB5C-836F1252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0512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F2804B3-B8F7-4DBE-A0E8-D233AE5D9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146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EBD5832-ECE2-45D7-9735-691757CF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0384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Do it for them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E2BC2B5-278F-44AE-AA8F-D561679B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30480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person loses agency and privacy.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A4FF1DE-3BC2-49FA-980F-54A38B53F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7667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FFFF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999B64B-C177-4EB2-B764-ED694D63C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8622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0610FD-C9AD-493A-A5C6-944D970A2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100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Leave them alone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8109B52-EF30-46C6-804C-0EAA45862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01955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risk of error, fraud or lockout grows.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CBE8C0-5691-490D-8F22-02A24C5C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48225"/>
            <a:ext cx="5905500" cy="781050"/>
          </a:xfrm>
          <a:prstGeom xmlns:a="http://schemas.openxmlformats.org/drawingml/2006/main" prst="roundRect">
            <a:avLst>
              <a:gd name="adj" fmla="val 34146"/>
            </a:avLst>
          </a:prstGeom>
          <a:solidFill xmlns:a="http://schemas.openxmlformats.org/drawingml/2006/main">
            <a:srgbClr val="EDE8FF">
              <a:alpha val="7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B4CFBAE-AFA2-4A2E-97F3-A6ECFF3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0577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2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C025046-8CB5-4AC7-B13C-A97DD2DA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98157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Add another app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090B96D-D406-4FFA-8EEE-C01B9B5AE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6125" y="4991100"/>
            <a:ext cx="3000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More screens and passwords do not solve the real problem.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912cdbc04440ab"/>
          <a:stretch xmlns:a="http://schemas.openxmlformats.org/drawingml/2006/main"/>
        </p:blipFill>
        <p:spPr>
          <a:xfrm xmlns:a="http://schemas.openxmlformats.org/drawingml/2006/main">
            <a:off x="7143750" y="2000250"/>
            <a:ext cx="3905250" cy="3905250"/>
          </a:xfrm>
          <a:prstGeom xmlns:a="http://schemas.openxmlformats.org/drawingml/2006/main" prst="rect">
            <a:avLst/>
          </a:prstGeom>
        </p:spPr>
      </p:pic>
      <p:pic>
        <p:nvPicPr>
          <p:cNvPr id="7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a450b22df74ad8"/>
          <a:stretch xmlns:a="http://schemas.openxmlformats.org/drawingml/2006/main"/>
        </p:blipFill>
        <p:spPr>
          <a:xfrm xmlns:a="http://schemas.openxmlformats.org/drawingml/2006/main">
            <a:off x="9620250" y="1838325"/>
            <a:ext cx="1095375" cy="1095375"/>
          </a:xfrm>
          <a:prstGeom xmlns:a="http://schemas.openxmlformats.org/drawingml/2006/main" prst="rect">
            <a:avLst/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D5C7B1C1-B2A4-4C86-AE5B-0CD313E4E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8575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The missing option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3BDA743-1287-429F-AAE4-7B0D17B8F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324225"/>
            <a:ext cx="2809875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085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Act independently.</a:t>
            </a:r>
          </a:p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Escalate only</a:t>
            </a:r>
          </a:p>
          <a:p xmlns:a="http://schemas.openxmlformats.org/drawingml/2006/main">
            <a:pPr algn="ctr">
              <a:buNone/>
              <a:defRPr sz="27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when needed.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2189A61-8C61-4623-93EB-65B36F613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4B7358-727D-4C84-832E-044435CF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912328977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d5f91646700b4ed7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6a151cde9d497f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f722385454f5a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E2BD890-12A6-4CEF-8785-9E701CAB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EAB3700-9D10-4DEC-8F20-285E6F2B1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EBD0A46-641E-4341-B23F-10108D281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WHY NOW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73DADD6-8E56-402F-9676-408CD9CC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need is structural and growing.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709157E-1157-4C6A-BA9D-199040D46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7715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7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 massive population is being asked to navigate an increasingly screen-first financial life.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B55D29-45C1-4A70-8601-1E911A1D7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6FAEECA-47F0-4489-8215-B8A66A938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 in 6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F45EF81-1BFC-451B-8DD3-E2D82A009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worldwide will be 60+ by 2030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FE591F9-A177-457A-9271-6D546A159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905D4C-4B68-4860-9FF0-709C6EA9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1.4B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630BEBC-5B60-49F5-92AF-C39FC5BB2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aged 60+ by 2030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BC877C6-D4F2-4A6A-9877-D83F1D19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3333750" cy="2333625"/>
          </a:xfrm>
          <a:prstGeom xmlns:a="http://schemas.openxmlformats.org/drawingml/2006/main" prst="roundRect">
            <a:avLst>
              <a:gd name="adj" fmla="val 13061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5793A35-7F3C-40B0-A0CD-03E2875C6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43250"/>
            <a:ext cx="2762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4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1.3B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4EF241F-7E4B-41D8-A719-71DBDD0C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019550"/>
            <a:ext cx="27241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65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people live with significant disability today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48444DE0-BB42-44D0-9D2D-111AE1456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5562600"/>
            <a:ext cx="4953000" cy="419100"/>
          </a:xfrm>
          <a:prstGeom xmlns:a="http://schemas.openxmlformats.org/drawingml/2006/main" prst="roundRect">
            <a:avLst>
              <a:gd name="adj" fmla="val 40909"/>
            </a:avLst>
          </a:prstGeom>
          <a:solidFill xmlns:a="http://schemas.openxmlformats.org/drawingml/2006/main">
            <a:srgbClr val="5639DD"/>
          </a:solidFill>
          <a:ln xmlns:a="http://schemas.openxmlformats.org/drawingml/2006/main" w="9525">
            <a:solidFill>
              <a:srgbClr val="5639DD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24F61AE-6860-4DDD-A94A-2B022398E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5648325"/>
            <a:ext cx="4724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OUR WEDGE: SENIORS + LIMITED MOBILITY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6C2ABB-E76D-498D-8E11-C16271C0F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74DC807-8A47-4E5E-B77B-99E247899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788711640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7a998bc79f74ff0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fd9458d3aa458d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0e4c8b33434a0a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224A23C-C377-47D6-BFC6-1589EAF5B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E0F5FC7-AB76-4A84-9D46-347B1C6CB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1D90AA7-0C40-4F77-BF66-1598CEB4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THE PRODUCT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DC73FB-586B-4ED4-B578-104F24E8C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Ask. Prepare. Confirm. Settle.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D62859C-B3B4-4C23-A050-D2E9BE1F5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3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657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 financial action starts in natural language and ends with explicit user consent.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DEB19E-13C3-43FE-B52D-7011B20E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973951223f4352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1A6856C-3C2F-4140-9A24-11DDACD0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BBEE101-9840-4272-9AB5-9521D3283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ASK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254BF4-9B6D-4303-BD10-923526800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C9F338-32D6-43BD-B243-9D62A2C6C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D9ABA43-28ED-4517-89A4-B693DBCC9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85cf9e87ca471b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6576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14A4F7-28DE-4ACB-99CF-1D577504F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5929DCE-45C0-452B-A65A-1D11C55BB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PREPARE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63F12E-4DC2-4324-9776-239FCC6B0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47B5DCE-983F-46C9-947C-A6F1D698D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B176195-7E7D-46D1-BE6C-9EDF5EDC9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8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471b2647b4565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4008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891D5C-2F9D-4576-AA87-9B1CF7D24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35CB454-98CF-4DC6-82B8-C86F0B42E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CONFIRM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C5876EC-9623-481F-B9CB-98015090E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8175" y="4171950"/>
            <a:ext cx="533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5B3FF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E531386-8AB6-408D-A84B-098C6D94F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005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5B3FF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C5B3FF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446B8435-3D20-4416-BB32-8F50DF42E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466975"/>
            <a:ext cx="1809750" cy="3333750"/>
          </a:xfrm>
          <a:prstGeom xmlns:a="http://schemas.openxmlformats.org/drawingml/2006/main" prst="roundRect">
            <a:avLst>
              <a:gd name="adj" fmla="val 14737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9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3fd045303a4de6"/>
          <a:srcRect xmlns:a="http://schemas.openxmlformats.org/drawingml/2006/main" l="0" t="5650" r="0" b="56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144000" y="2543175"/>
            <a:ext cx="1657350" cy="3181350"/>
          </a:xfrm>
          <a:prstGeom xmlns:a="http://schemas.openxmlformats.org/drawingml/2006/main" prst="roundRect">
            <a:avLst>
              <a:gd name="adj" fmla="val 12644"/>
            </a:avLst>
          </a:prstGeom>
        </p:spPr>
      </p:pic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E211635-BD87-41FE-80BA-A727326CE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943600"/>
            <a:ext cx="228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A019DB5-3D96-4B19-9AAD-F75A7E08B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943600"/>
            <a:ext cx="1238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SETTLE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EF57F64-4CEA-4E58-BC59-4FC71F71D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D9941594-A577-4E65-B92B-380F034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585380347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d9244ad18664571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3ccd46d38c44d3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f54cd19554469a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888DDC-A966-40ED-B0E9-EDAAFA7D2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983180-E320-4F5C-9297-F1B10663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2FC658A-CCCA-4529-A521-12EA5D380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4516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DUAL-USER PRODUCT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C89156E-E98B-45D2-B155-7106A0B1E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One account. Two distinct roles.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0328A27-CBBA-45C5-AA98-9FB6C7600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19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Nana separates the person who acts from the person who can help when something looks wrong.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55A3A39-3B7F-4588-82C6-07644D139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47950"/>
            <a:ext cx="4476750" cy="29146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A9B1065-4D49-4A1B-9877-2F38CE0CF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43225"/>
            <a:ext cx="12382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38FFC7-AE88-41C1-9D3B-9B6FEB466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3028950"/>
            <a:ext cx="1009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END USER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25E2CB6-464B-4F7D-AFB9-6E80246BD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Acts independently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00F637F-1D8E-4D6C-9730-5DBC1A1EB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105275"/>
            <a:ext cx="3286125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Speaks the intent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Reviews every consequence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Keeps final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50415A8-73A1-4AD1-8B8E-61F02DBD1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647950"/>
            <a:ext cx="4476750" cy="291465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021B3C-AB5F-4AE0-B89A-FD1CB9FF7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2943225"/>
            <a:ext cx="14287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6E7DB57-CA7E-4161-A962-8FAC5B9A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028950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RESPONSIBLE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0A588518-815D-4DF8-A9FF-666780376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35242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Helps by exception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8CE46A3-7026-43F3-A649-98D6E0315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5675" y="4105275"/>
            <a:ext cx="3524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Receives unusual-event alerts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Can co-approve if policy requires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• Never silently takes control</a:t>
            </a:r>
          </a:p>
        </p:txBody>
      </p:sp>
      <p:pic>
        <p:nvPicPr>
          <p:cNvPr id="7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05334763a4e36"/>
          <a:stretch xmlns:a="http://schemas.openxmlformats.org/drawingml/2006/main"/>
        </p:blipFill>
        <p:spPr>
          <a:xfrm xmlns:a="http://schemas.openxmlformats.org/drawingml/2006/main">
            <a:off x="5391150" y="3162300"/>
            <a:ext cx="1409700" cy="1409700"/>
          </a:xfrm>
          <a:prstGeom xmlns:a="http://schemas.openxmlformats.org/drawingml/2006/main" prst="rect">
            <a:avLst/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F37EEE2-CA61-45A2-90E1-56F9ACD71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695700"/>
            <a:ext cx="114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trusted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relationship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4E6D03-F5FA-4511-8AA1-0273AB4DD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675E15D7-CBAD-4E19-8500-D0C1CDE18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672727894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c043c329b06476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469ae567344004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ea112ba43d444c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A8302D-9EAF-4C88-81B2-A55E6F206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69DA2D-60C0-4D0A-837B-97D2C4521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6C637FE-2BAC-4D07-A2CA-7886988A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72593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15000"/>
            </a:srgbClr>
          </a:solidFill>
          <a:ln xmlns:a="http://schemas.openxmlformats.org/drawingml/2006/main" w="9525">
            <a:solidFill>
              <a:srgbClr val="FFFFFF">
                <a:alpha val="24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THE PRODUCT PRINCIPLE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6D6CC9-085C-4E76-A180-85CDFD460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52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Intervention happens only by exception.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CC0630F-19B2-44F6-AF0A-3168F682F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57375"/>
            <a:ext cx="8572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The user acts independently. Nana pauses only when an action breaks policy or context.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FE634E-F8DA-485C-8843-7A5E17C11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4857750" cy="22383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FFFFFF">
                <a:alpha val="3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1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92931F-55AF-4E40-A928-B2DFA3EAB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05125"/>
            <a:ext cx="4000500" cy="22383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9525">
            <a:solidFill>
              <a:srgbClr val="FFD0DA">
                <a:alpha val="4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56718D-BEEA-476A-8FCE-CC3FC132D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13372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BDF3D5"/>
                </a:solidFill>
                <a:latin typeface="Nunito"/>
                <a:ea typeface="Nunito"/>
                <a:cs typeface="Nunito"/>
              </a:rPr>
              <a:t>DEFAULT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CA92039-1829-48FB-8FD5-661CE0828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3543300"/>
            <a:ext cx="285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7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7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User acts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E14A2F-76CB-457C-BC01-7B47A370B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4143375"/>
            <a:ext cx="371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Nana prepares, explains and executes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after explicit confirmation.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79DFD8-A13A-409E-8198-6C6601B0D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33725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B44959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FFD0DA"/>
                </a:solidFill>
                <a:latin typeface="Nunito"/>
                <a:ea typeface="Nunito"/>
                <a:cs typeface="Nunito"/>
              </a:rPr>
              <a:t>EXCEPTION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4847FC1-5B07-46A5-8B24-F84BDE72D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543300"/>
            <a:ext cx="285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Pause + alert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442BDB7-506C-4B1E-B6A9-AEFFF539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4143375"/>
            <a:ext cx="2952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Nana holds the action and alerts</a:t>
            </a:r>
          </a:p>
          <a:p xmlns:a="http://schemas.openxmlformats.org/drawingml/2006/main">
            <a:pPr algn="ctr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the responsible person.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a4e3aa482a452f"/>
          <a:stretch xmlns:a="http://schemas.openxmlformats.org/drawingml/2006/main"/>
        </p:blipFill>
        <p:spPr>
          <a:xfrm xmlns:a="http://schemas.openxmlformats.org/drawingml/2006/main">
            <a:off x="9763125" y="4038600"/>
            <a:ext cx="1000125" cy="1000125"/>
          </a:xfrm>
          <a:prstGeom xmlns:a="http://schemas.openxmlformats.org/drawingml/2006/main" prst="rect">
            <a:avLst/>
          </a:prstGeom>
        </p:spPr>
      </p:pic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B05793-E977-4039-B0CE-89CF24E4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CB91DF3-0612-401A-82DE-5E29111B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110913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a7307ae0415478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c3c729a9bd4aa8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8dd496c4ea47cb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4BAED4-6327-4198-BD09-E844A20F8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A5CC604-99DF-4791-A5F0-28CD7D369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98F952E-0DF6-4630-B79D-8E417DB9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4516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PROTECTION ENGINE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7545CE0-3DD3-476F-A8DD-9BEAADB6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Normal intent flows. Unusual intent pauses.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7C539D-771A-432A-897B-790D2E61D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same simple interaction can produce two different safety outcomes.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6A9B5C-677F-4440-B41E-FB13E7AA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34700" cy="12001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DDF5E8">
              <a:alpha val="78000"/>
            </a:srgbClr>
          </a:solidFill>
          <a:ln xmlns:a="http://schemas.openxmlformats.org/drawingml/2006/main" w="9525">
            <a:solidFill>
              <a:srgbClr val="2F7D5A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3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4717C9-791C-4631-91ED-02C2052A8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860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ORDINARY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4C509D6-6260-48DE-A576-BF042455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F504310-9CD0-4BB5-94C8-B1830812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77C421B-5096-4E82-848C-B13C758B4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Intent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D725724-76CE-4238-A48B-6CB241BB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E3C45F8-F2D6-4973-80DF-C162C71AB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158D098-B4EE-438F-8088-6AF47FD6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8015591-514A-4D70-9A02-5C8EF3186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0F4A741-5318-42B8-B548-B1D3770A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Explain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FC9319-186B-4DBB-A486-52133B82F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62FF8B3-5C08-41EF-BD44-41DB891BE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7743CE-8F7A-4CB9-86A2-50CACAC83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EF0F91-1354-4B54-9897-8593A8F7D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9E91843-610F-4EAB-8BF9-2B233046E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Confirm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9F0EA75-2E64-4CEB-9DA7-4C0781CBE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480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F7D5A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A4C763C1-956E-4431-9B36-F608973A4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766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304FDAD-7D7E-4010-88E1-6F0E4166A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099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BDD0E87-748D-446A-871D-D482BE919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2861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2F7D5A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58F1C5F-13DB-4D64-9C1F-AA803E441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3242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Execute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89A8D8B-4BF7-4B05-A110-47970D16E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52925"/>
            <a:ext cx="10934700" cy="12001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8E2E7">
              <a:alpha val="78000"/>
            </a:srgbClr>
          </a:solidFill>
          <a:ln xmlns:a="http://schemas.openxmlformats.org/drawingml/2006/main" w="9525">
            <a:solidFill>
              <a:srgbClr val="B44959">
                <a:alpha val="20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4"/>
          <a:fontRef xmlns:a="http://schemas.openxmlformats.org/drawingml/2006/main" idx="major"/>
        </p:style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F0BCC22-5842-4EAD-80DD-E0CF145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524375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44959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B44959"/>
                </a:solidFill>
                <a:latin typeface="Nunito"/>
                <a:ea typeface="Nunito"/>
                <a:cs typeface="Nunito"/>
              </a:rPr>
              <a:t>UNUSUAL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FA50AD5-FB81-4599-BAE5-DDBDF3EF3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EA768971-1DDF-41B9-923A-05D69FA51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40B4042-A054-4136-9C72-97049801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Intent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CA6DCEC-8797-412D-ACB8-32BEBA893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9FBC2DB-2A01-4D08-9BE4-DB9CCE19D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CA46868-F77D-4272-8882-CF67BDD05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E78D28B-7FCF-43BA-A433-9ED3C7B45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2239A6E-0FE8-43C0-9348-DAD02F7F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Detect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C235E8D-D665-4459-9A7A-9D2E6CC30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5D3A092-328B-4FA4-BBDA-FD0FEEF05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64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BB07BF-2C16-4365-BB77-EC5ADC270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1400598-77AC-4521-A91A-0C5A3403E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8D7B5141-B828-41BC-A3B4-AB937C0ED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Pause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A1ED27-BA3C-4737-A62D-C6DFD9FF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08635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44959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B2249F8-8F69-4BB4-8B00-1BA1D3957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9149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B070E66F-B855-493C-8FE5-26A58A21C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8482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AC99364-542C-4100-A42D-017DE23BE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49244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B44959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A68595B2-790A-4CB8-92A5-1334B3086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962525"/>
            <a:ext cx="133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Escalate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EB1AD06E-7F1D-4ED2-A433-4C0D2EF69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EB9A3F07-573C-4B1A-B0E8-1D04C45A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300970216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6052ac0ca0a4305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c815fe2bd64f78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b7122dc1c4db0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9C1ABB-6D03-4E9B-87D6-F2F0518D3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363DB7-1155-4D98-A7DC-8A3BD7AD0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9716A58-B235-4B7A-A4A1-122E3716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58877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DELEGATED EXECUTION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29BC6A5-CF3B-4812-9056-18507791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287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agent can act inside boundaries the user controls.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FD7CDFD-648E-44EA-B5B0-6CD01503C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43125"/>
            <a:ext cx="8382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61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Authority stays with the person. Agent permissions are limited, transparent and revocable.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13CA30-327F-4AFF-87E3-2DB9F31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04A3A5-FEF9-40FD-913F-0373B1E05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E399797-F9FD-48D1-A262-55CB3A5C3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710C72C-9F92-496A-A885-DECFBC77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USER AUTHORITY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1DDE33B-368A-41E4-B855-0E2B3734F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Defines who can do what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F167B7-D063-462A-8784-59419527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3B171C-819A-4182-ADE9-C31D1C374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7771861-015D-4D8F-B4C6-68A0C66DA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EA5FD26-45EE-46E0-8614-7BB4DC948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81AF09F-9C7C-4503-B9FA-017C9A231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5EFD42B-8491-490E-80A2-44269DD63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POLICY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164ED58-9391-45DB-919B-A1CF6939B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Limits, recipients and escalation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F89F5EC-EAAB-4997-AD6B-411F6C4E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C169D39-D131-4303-988C-3496648DC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0BFF6D2-6135-4253-860D-30B83EAB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6DCB920A-2272-49B9-B1B5-1E37F008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F15507-926F-4C9F-B630-44BCF2145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9CC8B96-6412-4C19-9C7B-311432333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NANA AGENT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C73D882-BDF4-45DC-821A-3E4104821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Prepares and explains the action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DF64049-83B8-48CF-A960-EBD1A5C4F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4038600"/>
            <a:ext cx="4095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57919BA-ECBE-4DE2-A77F-F62D4C4CF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86715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8E046D90-9A10-42A5-BF4B-C701A866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3000375"/>
            <a:ext cx="2362200" cy="2076450"/>
          </a:xfrm>
          <a:prstGeom xmlns:a="http://schemas.openxmlformats.org/drawingml/2006/main" prst="roundRect">
            <a:avLst>
              <a:gd name="adj" fmla="val 13761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6C905A71-EE7C-4BCE-9577-521A5D576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2480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41FEFE9-909A-4AAB-BB55-297126022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3242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4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50F04E5B-D62E-4BB6-B7F8-BF93F1828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914775"/>
            <a:ext cx="1905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12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EXECUTION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91DE916A-281D-4390-8A2D-13AA87652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333875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Execute or hold and escalate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9737EB1-1874-4FAE-A4FA-064E16D67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5550" y="54673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35A40DF-6C3B-4009-A62E-C0C8D121E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55307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BOUNDED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A97470E3-59EB-493F-8198-0DEC6DA2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5467350"/>
            <a:ext cx="16192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079D705B-6A32-40CC-B751-D5F341AB4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5553075"/>
            <a:ext cx="13906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TRANSPARENT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857300CB-92A9-4D65-A507-0C5426B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467350"/>
            <a:ext cx="14287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4D4684E-2BBB-407E-A8B0-6FEDD2964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53075"/>
            <a:ext cx="1200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REVOCABLE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E2D9B023-E4AA-4364-AF26-AE96D2D0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15275" y="5467350"/>
            <a:ext cx="1847850" cy="3619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22000"/>
              </a:srgbClr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1231B2EF-B7AC-47F3-980A-B235BE512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9575" y="555307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USER-CONTROLLED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1D58A1B9-8269-457C-94E9-B38BDCF2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6815E975-B704-484C-9BAD-668636FA5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247268282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077a0a15b954ab2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66b58469894863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e92443460f4768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E883E5-250E-41D1-AE19-B6A2AAB0A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BAE8F30-6E68-4B67-94C1-038EF9B3A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09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132E1DC-F21F-4466-A3C4-D6E109954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PROOF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8984DDF-7FD9-4548-9159-088F1C0FD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first agentic transfer loop already works.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1AA86DB-22BF-4CC1-B970-5EEAD44CC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93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We built the core interaction, shipped a safety floor and validated the direction in public.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ED20881-E424-4E23-B086-F770606F8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9EDAC53-8DCC-44D0-85D8-7CF2B1748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7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1DBA1B8-9B22-4315-BD5B-54DEB200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AGENTIC TRANSFERS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59AD83-E03C-4E2E-A8F2-4C688081E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A68FAA4-D51D-46AD-AC62-F3A6F54C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2F7D5A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2nd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465FA43-8648-4C7D-B46D-2CA1F79C5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TETHER WDK HACKATHON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DD94EAF-623A-4AC5-9EFA-8625F7183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24150"/>
            <a:ext cx="2381250" cy="1714500"/>
          </a:xfrm>
          <a:prstGeom xmlns:a="http://schemas.openxmlformats.org/drawingml/2006/main" prst="roundRect">
            <a:avLst>
              <a:gd name="adj" fmla="val 15556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55FD7A4-E9EA-4DB5-8644-79C4E1412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933700"/>
            <a:ext cx="18097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B44959"/>
                </a:solidFill>
                <a:latin typeface="Fredoka"/>
                <a:ea typeface="Fredoka"/>
                <a:cs typeface="Fredoka"/>
              </a:defRPr>
            </a:pPr>
            <a:r>
              <a:rPr sz="39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AB0DA69-9290-4622-BCA0-677294F3B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752850"/>
            <a:ext cx="1857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17151B"/>
                </a:solidFill>
                <a:latin typeface="Nunito"/>
                <a:ea typeface="Nunito"/>
                <a:cs typeface="Nunito"/>
              </a:rPr>
              <a:t>WORKING DUAL-USER LOOP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E6965DA-BA63-45AE-8F51-EBA04740B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400300"/>
            <a:ext cx="2152650" cy="3714750"/>
          </a:xfrm>
          <a:prstGeom xmlns:a="http://schemas.openxmlformats.org/drawingml/2006/main" prst="roundRect">
            <a:avLst>
              <a:gd name="adj" fmla="val 13274"/>
            </a:avLst>
          </a:prstGeom>
          <a:solidFill xmlns:a="http://schemas.openxmlformats.org/drawingml/2006/main">
            <a:srgbClr val="17151B"/>
          </a:solidFill>
          <a:ln xmlns:a="http://schemas.openxmlformats.org/drawingml/2006/main" w="0">
            <a:solidFill>
              <a:srgbClr val="17151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eb669976884b16"/>
          <a:srcRect xmlns:a="http://schemas.openxmlformats.org/drawingml/2006/main" l="0" t="8852" r="0" b="88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82050" y="2476500"/>
            <a:ext cx="2000250" cy="3562350"/>
          </a:xfrm>
          <a:prstGeom xmlns:a="http://schemas.openxmlformats.org/drawingml/2006/main" prst="roundRect">
            <a:avLst>
              <a:gd name="adj" fmla="val 11429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6201774-5B5D-43FF-8608-90A5C9CE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Built, not rendered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295CEBC-BE44-4C7D-BAD4-8B471930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4830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Voice input · intent parsing · explicit confirmation · receipt · unusual-event controls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083C541-0BE0-4032-BC41-0A702B1E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5187920-4B32-484C-93F2-0DE6FDC55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0451911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33a4e7452514a92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b9558ab7304d71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4078f80a614554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55D3084-44CC-4FFA-BB24-BBEF23A2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8F02D3-B1DB-4AD7-96EA-33DABE5A6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B4BAF1C-0FC6-4977-967E-E98285A4D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87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OUR BOUNDARY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B89D1C-8363-4143-9F2B-4995E22BC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 owns the experience and the trust layer.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AEFD1D-7466-4D77-A0BA-E7AD5024B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42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97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Infrastructure can evolve without changing the user relationship or product promise.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BE51C7-0DF8-4234-92CD-855A1ACF2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381625" cy="3048000"/>
          </a:xfrm>
          <a:prstGeom xmlns:a="http://schemas.openxmlformats.org/drawingml/2006/main" prst="roundRect">
            <a:avLst>
              <a:gd name="adj" fmla="val 11250"/>
            </a:avLst>
          </a:prstGeom>
          <a:gradFill xmlns:a="http://schemas.openxmlformats.org/drawingml/2006/main">
            <a:gsLst>
              <a:gs pos="0">
                <a:srgbClr val="4B2FC7"/>
              </a:gs>
              <a:gs pos="100000">
                <a:srgbClr val="6D53F2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8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5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27AAD8-C55A-48AF-B8DB-6FC5F9C98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81325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CBFF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NANA OWNS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151FFC9-1AA3-43C5-8ACD-6617E6909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00425"/>
            <a:ext cx="400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1880"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product</a:t>
            </a:r>
          </a:p>
          <a:p xmlns:a="http://schemas.openxmlformats.org/drawingml/2006/main">
            <a:pPr algn="l">
              <a:buNone/>
              <a:defRPr sz="29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9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people trust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0254EE9-DCFB-45E3-BD65-27B16E8AE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05325"/>
            <a:ext cx="4191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Agent · voice UX · Family Graph · Protection Engine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EDE8FF"/>
                </a:solidFill>
                <a:latin typeface="Nunito"/>
                <a:ea typeface="Nunito"/>
                <a:cs typeface="Nunito"/>
              </a:rPr>
              <a:t>policies · orchestration · user relationship · brand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7EAF6B-A77B-4665-A61E-EE61E9E2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67000"/>
            <a:ext cx="5162550" cy="3048000"/>
          </a:xfrm>
          <a:prstGeom xmlns:a="http://schemas.openxmlformats.org/drawingml/2006/main" prst="roundRect">
            <a:avLst>
              <a:gd name="adj" fmla="val 11250"/>
            </a:avLst>
          </a:prstGeom>
          <a:solidFill xmlns:a="http://schemas.openxmlformats.org/drawingml/2006/main">
            <a:srgbClr val="FFFF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264C9B3-6BE5-4B20-AFCD-AFFF11FF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98132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PARTNERS PROVIDE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A840242-505A-444E-9B9E-834A5905C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400425"/>
            <a:ext cx="409575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6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rails beneath it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7C549DB-95CB-4805-88B5-ADEF8C71F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248150"/>
            <a:ext cx="4095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0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Wallet infrastructure · stablecoins · settlement</a:t>
            </a:r>
          </a:p>
          <a:p xmlns:a="http://schemas.openxmlformats.org/drawingml/2006/main">
            <a:pPr algn="l">
              <a:buNone/>
              <a:defRPr sz="150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50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fiat rails · KYC · bill pay · liquidity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3430F1-68FB-4201-878E-7C53D05AE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172075"/>
            <a:ext cx="20764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DDF5E8"/>
          </a:solidFill>
          <a:ln xmlns:a="http://schemas.openxmlformats.org/drawingml/2006/main" w="9525">
            <a:solidFill>
              <a:srgbClr val="DDF5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F682F9C0-6885-4C17-9B93-6029FADBD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257800"/>
            <a:ext cx="1847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WDK / USDT · PROVEN PATH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906311-2B92-453E-BC10-3B1F27CBB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172075"/>
            <a:ext cx="2143125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EDE8F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84C9A06-BAFF-4FE0-A9F4-F59E71576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5257800"/>
            <a:ext cx="19145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ARC / USDC · EVALUATING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A9A822-D75C-4F98-B426-4AA7CD9BE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0AED0538-8469-4D96-9313-533F47A0D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631294240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38606226fdd42ce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581e45cdae418c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6fd0affb534e9c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3B00B8-7A27-4C6A-96B9-4AE574C19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11EFD52-96E8-4272-82AA-A1A84F89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C139D3B-C198-4051-AD5A-F4082523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24587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BUSINESS MODEL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B128CFD-6F85-4080-B881-67E9A45A4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Three hypotheses. One non-negotiable.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970D985-AE23-4280-B875-314FC2AB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81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We will validate monetization without putting the safety floor behind a paywall.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45F7F6-D800-494D-9649-CFC4D1237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0C38AD-4821-4DCB-9BC0-61F04698B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E4133A1-45AA-4CAB-A8BB-5691FA5D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04810B9-713A-42A4-AABF-11D69E897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A8E38F9-F37E-4DF0-A6BC-B10E08F6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Financial activity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49F6A51-59E4-441F-AD78-901AEDF68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Revenue from transactions and embedded financial flows.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FD703B-A06C-48C7-B07A-29749605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EDE8FF">
              <a:alpha val="72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4C3DF43-344E-439C-90E6-3E715EFD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2E2117-875A-40B5-B022-7CBF696CF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598E84D-85B3-4C0E-BECF-2956FC86C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57F2C3E-18D4-4242-BE77-C87959C64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 Family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94FB82B-8BD9-4CA7-A7DB-4E7C490FD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580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Paid coordination, visibility and family-level controls. Pricing unit: TBD.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F082509-5BA2-47FF-A283-01BDC7DDA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333750" cy="2514600"/>
          </a:xfrm>
          <a:prstGeom xmlns:a="http://schemas.openxmlformats.org/drawingml/2006/main" prst="roundRect">
            <a:avLst>
              <a:gd name="adj" fmla="val 11364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7A0924F-EBA9-4B03-AA1D-7B654EDA0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952750"/>
            <a:ext cx="4572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59DAF23-296D-4CE8-A407-D5EFF1C76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2914650"/>
            <a:ext cx="12192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CF7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61DB278-E44D-476F-ACA3-6C17DE0CF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0375"/>
            <a:ext cx="9906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75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HYPOTHESIS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638C721-9CF8-465F-8DD0-33349FD49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524250"/>
            <a:ext cx="2809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0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B2B2C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18F179B-EAC4-47F5-B8D3-D8479E4C8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4124325"/>
            <a:ext cx="28003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42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Distribution through institutions serving seniors, families and care networks.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EDA5F7-F29D-424D-A48D-FF1A56D07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5543550"/>
            <a:ext cx="7905750" cy="552450"/>
          </a:xfrm>
          <a:prstGeom xmlns:a="http://schemas.openxmlformats.org/drawingml/2006/main" prst="roundRect">
            <a:avLst>
              <a:gd name="adj" fmla="val 44828"/>
            </a:avLst>
          </a:prstGeom>
          <a:gradFill xmlns:a="http://schemas.openxmlformats.org/drawingml/2006/main">
            <a:gsLst>
              <a:gs pos="0">
                <a:srgbClr val="4930C0"/>
              </a:gs>
              <a:gs pos="100000">
                <a:srgbClr val="684CF6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6"/>
          <a:fontRef xmlns:a="http://schemas.openxmlformats.org/drawingml/2006/main" idx="major"/>
        </p:style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736E3CF-34A9-4E6F-B2AA-E58383FAE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8875" y="5715000"/>
            <a:ext cx="733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125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THE NON-NEGOTIABLE · CORE SAFETY REMAINS FREE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F71BC57-A1D5-4CBB-8D9A-54F831932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F8BAD9E-B2F6-47D9-A254-A52BC37D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17360464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1eaf53a349d4a4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1b40bca884448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8df9c62b1542c7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B29D7A-9E9F-4BB1-B219-70B8C7909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071CBC-6B55-471B-ABB6-CAB5500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12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DCE413-10D3-4CF9-B3D1-93E4E8C5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EXPANSION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A34D585-A43A-4443-BC27-CE253FFC2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9810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focused wedge into a broader financial primitive.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F61452F-3387-4265-8274-9A2DD50B3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38325"/>
            <a:ext cx="866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Start where the cost of inaccessible finance is highest, then expand through trusted relationships.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1193053-FBDD-4974-9CAA-574F6A3C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47950"/>
            <a:ext cx="10382250" cy="3238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44367FD-8F81-4633-8923-E35D9B3C7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038475"/>
            <a:ext cx="7524750" cy="2457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8ABF218-E13C-4DE6-A787-294246B93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400425"/>
            <a:ext cx="3857625" cy="1752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889FC9-53DC-423B-88C9-02C91DD57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19087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01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069B6CF-A725-43C6-B2AC-464F6F098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609975"/>
            <a:ext cx="2095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Seniors +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limited mobility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018467B-1D6D-4C71-98FE-7442749A8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505325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Accessible action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1C58D4F-D731-4BFD-B8A2-5C9959D3A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333750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02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F6087AD-1205-456B-8099-E76CBAF73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771900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Family finance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5446390-E4CF-476C-9AFB-AE7D07A7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8150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Trusted coordination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31DB53B3-633B-4E96-9239-DF13BB59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476625"/>
            <a:ext cx="47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D8CB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03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5D614A8-9161-44AF-8A4F-9EA07F659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857625"/>
            <a:ext cx="1809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444"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Delegated</a:t>
            </a:r>
          </a:p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22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finance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B69DAA-09D9-4810-B876-44CB8D76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1C88301C-F211-433F-916F-194F7EAF0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14A7395-BF40-4B62-92B9-FF17BA9AC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619375"/>
            <a:ext cx="2857500" cy="285750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135da6fd82e54e15"/>
            <a:stretch/>
          </a:blip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DEF4A75-26B7-467D-8F43-7924B0B1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09875"/>
            <a:ext cx="2667000" cy="266700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7ffc87c241b24e62"/>
            <a:stretch/>
          </a:blip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ABA132B-7464-4A3A-A498-4DDCB92DD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00375"/>
            <a:ext cx="2381250" cy="2381250"/>
          </a:xfrm>
          <a:prstGeom xmlns:a="http://schemas.openxmlformats.org/drawingml/2006/main" prst="rect">
            <a:avLst/>
          </a:prstGeom>
          <a:blipFill xmlns:a="http://schemas.openxmlformats.org/drawingml/2006/main">
            <a:blip xmlns:r="http://schemas.openxmlformats.org/officeDocument/2006/relationships" r:embed="Rcf804d46e56d4eea"/>
            <a:stretch/>
          </a:blip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534580624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dc7da9de0d8442f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e0d34bc61e4533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2aabb749342f9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D85785-AE05-4076-8441-86BCC4748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4B0724-6944-47E5-A74C-50EDB6608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13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D7AE59C-10F7-44C0-8A33-72DA15CBB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657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MARKET · SEGMENT ONE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AA38F8-AADF-4408-BDAC-A5709686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People over 75.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3695D0-538E-47B9-8E9C-EEC331E01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Illustrative revenue model at 20% paid conversion and USD 15 per month.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13CFF8-7686-4F9C-9FCB-BF084A92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432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87E4AE4-0291-4005-B2A5-789E6A66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24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TAM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753E969-F9A4-4CD1-99CD-061ACF739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004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Everyone the product could serve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6150D1C-1CE4-4F93-BE4D-50F8E9C3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A58FE3D-AF2D-438D-A7B3-22F40785D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004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SAM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E4E3573-CDFF-4B38-ADF0-133AC5874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Where we can operate and charge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41EC28B-7AEE-4801-9EE8-FC7FAFA3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AC75DEF-DD9C-4995-BD1E-BF6458A08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76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SOM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1310100-B551-4DD9-9040-4272E5A3A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530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What we underwrite in three years</a:t>
            </a:r>
          </a:p>
        </p:txBody>
      </p:sp>
      <p:sp>
        <p:nvSpPr>
          <p:cNvPr id="44" name="market-tam">
            <a:extLst xmlns:a="http://schemas.openxmlformats.org/drawingml/2006/main">
              <a:ext uri="{FF2B5EF4-FFF2-40B4-BE49-F238E27FC236}">
                <a16:creationId xmlns:a16="http://schemas.microsoft.com/office/drawing/2014/main" id="{12FFD97D-336C-49C9-AE23-F05BDCB18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4476750" cy="3638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45" name="market-sam">
            <a:extLst xmlns:a="http://schemas.openxmlformats.org/drawingml/2006/main">
              <a:ext uri="{FF2B5EF4-FFF2-40B4-BE49-F238E27FC236}">
                <a16:creationId xmlns:a16="http://schemas.microsoft.com/office/drawing/2014/main" id="{F4C4C128-96C3-439F-9A0C-A147E661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76650"/>
            <a:ext cx="2914650" cy="2324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46" name="market-som">
            <a:extLst xmlns:a="http://schemas.openxmlformats.org/drawingml/2006/main">
              <a:ext uri="{FF2B5EF4-FFF2-40B4-BE49-F238E27FC236}">
                <a16:creationId xmlns:a16="http://schemas.microsoft.com/office/drawing/2014/main" id="{12D0829E-BBD9-4363-BD64-C9220C49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867275"/>
            <a:ext cx="18288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698D14D-76AB-4C80-B35B-37B9DAE0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TAM GLOBAL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333.7M total users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66.74M paying users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12.01B ARR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6D167EB-1AF1-42CA-B9D1-D07C3D541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14775"/>
            <a:ext cx="228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SAM WEST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132.48M total users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26.50M paying users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4.77B ARR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32676B1-3D9D-47EF-B31B-E1C2BC252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91100"/>
            <a:ext cx="1619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SOM ARG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79,500 users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15,900 paying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USD 2.86M ARR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E043E47-9196-4959-A04C-DBB78CD9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SOM assumes 5% Argentina penetration in three years. Population inputs remain under source validation.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976A1CB-782C-4BED-8D28-E6F9FF64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F4EDCFF-1567-4A92-9729-1E413B58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4377712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c18dc8ae00e49fb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08d6178506493a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df846d2c3645c5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BB2B72-E9FC-4D44-B486-8A34237E2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457DB0-7EFE-4CEE-B6DC-5E126C514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14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4DB47B-2700-4DE7-B9FB-991FD713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6573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MARKET · SEGMENT TWO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8B1ECE-8251-467B-9BAE-1475E5CB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Hand motor impairment, 18+.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1FB855-268F-4878-8616-C32E87DF9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09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Illustrative revenue model at 20% paid conversion and USD 15 per month.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E1DB22B-BCA4-43FD-A7A5-38085AFBF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432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10040B-CECA-4654-A530-D2864133A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241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TAM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E297228-02B3-44B5-9F49-742657AAA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004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Everyone the product could serve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5C8E04B-7CD2-4708-A3E9-3F840488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95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15C4197-4929-420F-AED3-88B57F85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8004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SAM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138003B6-9EB9-4754-A37D-2022F3BB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767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Where we can operate and charge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CE0B7BA-B43F-4425-A6EB-C7492890D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95825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DE2BCA9-AD9C-4E54-8710-DF725514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676775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SOM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754292E-48B7-4657-8799-DCEB81893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53000"/>
            <a:ext cx="3714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3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What we underwrite in three years</a:t>
            </a:r>
          </a:p>
        </p:txBody>
      </p:sp>
      <p:sp>
        <p:nvSpPr>
          <p:cNvPr id="44" name="market-tam">
            <a:extLst xmlns:a="http://schemas.openxmlformats.org/drawingml/2006/main">
              <a:ext uri="{FF2B5EF4-FFF2-40B4-BE49-F238E27FC236}">
                <a16:creationId xmlns:a16="http://schemas.microsoft.com/office/drawing/2014/main" id="{91E840D5-E6C6-48F4-A6A1-5D136FBE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76500"/>
            <a:ext cx="4476750" cy="3638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45" name="market-sam">
            <a:extLst xmlns:a="http://schemas.openxmlformats.org/drawingml/2006/main">
              <a:ext uri="{FF2B5EF4-FFF2-40B4-BE49-F238E27FC236}">
                <a16:creationId xmlns:a16="http://schemas.microsoft.com/office/drawing/2014/main" id="{3238C539-B7A2-4D56-94C7-83D47B3D2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676650"/>
            <a:ext cx="2914650" cy="2324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46" name="market-som">
            <a:extLst xmlns:a="http://schemas.openxmlformats.org/drawingml/2006/main">
              <a:ext uri="{FF2B5EF4-FFF2-40B4-BE49-F238E27FC236}">
                <a16:creationId xmlns:a16="http://schemas.microsoft.com/office/drawing/2014/main" id="{FFB4D52E-31AF-4433-B9F6-51BBCC52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867275"/>
            <a:ext cx="1828800" cy="11811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73BC49C-FA72-4321-822E-B6ABC69CE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81300"/>
            <a:ext cx="295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TAM GLOBAL · 18+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113.6M total users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22.72M paying users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4.09B ARR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70F3CFE-F04E-4078-B5DC-0F8971494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14775"/>
            <a:ext cx="22860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SAM WEST · 18+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27.8M total users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5.56M paying users</a:t>
            </a:r>
          </a:p>
          <a:p xmlns:a="http://schemas.openxmlformats.org/drawingml/2006/main">
            <a:pPr algn="ctr">
              <a:buNone/>
              <a:defRPr sz="13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3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1.00B ARR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D17D89B-B8BE-4C2B-9399-354193EEF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991100"/>
            <a:ext cx="161925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SOM ARG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33,150 users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6,630 paying</a:t>
            </a:r>
          </a:p>
          <a:p xmlns:a="http://schemas.openxmlformats.org/drawingml/2006/main">
            <a:pPr algn="ctr">
              <a:buNone/>
              <a:defRPr sz="1050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1050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USD 1.19M ARR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CF0767C-6876-4957-BEEE-F09EFC2B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5A5860"/>
                </a:solidFill>
                <a:latin typeface="Nunito"/>
                <a:ea typeface="Nunito"/>
                <a:cs typeface="Nunito"/>
              </a:rPr>
              <a:t>SOM assumes 5% Argentina penetration in three years. Population inputs remain under source validation.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91D549E-B228-49CF-AA53-A8EE4F08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359AA8-AD5D-4C01-95F7-83C5052E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790591051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918597068b14fa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aaa64c8d7c4f01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5af27a91f2431e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D33FF3-740A-4E9A-92D9-C6B160CAE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3468732-6DF3-4E0A-9696-ADCEF2736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DE4F8D-3FCC-4806-9B76-6DCDFE54C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7945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MARKET · BOTH SEGMENTS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67A74A6-B4AB-4E04-AE9B-1C3E00D3B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Two segments. One product.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E3F1CD-1FE9-44DA-9393-658500844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populations overlap, so we do not add them. Both are served by the same voice-first product.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0F8ADD-0D61-48E5-BE1E-7884755C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533650"/>
            <a:ext cx="3619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People over 75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25E3AB-AE94-49D9-B704-00CFFD22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0512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Age removes the interface, not the will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30C58B-6ED9-4602-92CC-C9D7DE4F6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209925"/>
            <a:ext cx="3524250" cy="2362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8C1AB6-7D98-4B4F-942A-EC8652A53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010025"/>
            <a:ext cx="2343150" cy="1504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C32CEA-5AFA-452D-9CE2-4094C5FF4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4762500"/>
            <a:ext cx="13906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DBC4A49-44E8-4CCC-AE2B-7BEF6AE7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47662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TAM GLOBAL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12.01B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F475943-7FB3-4B4A-A8EC-862324F05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9775" y="4191000"/>
            <a:ext cx="1885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SAM WEST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4.77B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0C5C607-42E5-49AA-A550-C055F869D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4876800"/>
            <a:ext cx="1257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SOM ARG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USD 2.86M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5DD3D07-97EA-459A-A5C9-55F1CFBCB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533650"/>
            <a:ext cx="3905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Hand motor impairment, 18+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453371F-A6C8-4481-A4BD-29345ADEF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905125"/>
            <a:ext cx="3905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275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The hands fail before judgement does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2DB8EC3-CB9C-4482-BFC2-9CF877F1B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09925"/>
            <a:ext cx="3524250" cy="2362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C239F"/>
          </a:solidFill>
          <a:ln xmlns:a="http://schemas.openxmlformats.org/drawingml/2006/main" w="0">
            <a:solidFill>
              <a:srgbClr val="3C239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56FD4A2-5915-495A-8431-82C0988CB6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010025"/>
            <a:ext cx="2343150" cy="1504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84CF6"/>
          </a:solidFill>
          <a:ln xmlns:a="http://schemas.openxmlformats.org/drawingml/2006/main" w="0">
            <a:solidFill>
              <a:srgbClr val="684CF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B779EE1-6422-470B-9BB5-95D1AB4CC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4762500"/>
            <a:ext cx="1390650" cy="781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CBFF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B0F6584-3BC6-49A8-91E4-2A4C76B9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476625"/>
            <a:ext cx="228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TAM GLOBAL</a:t>
            </a:r>
          </a:p>
          <a:p xmlns:a="http://schemas.openxmlformats.org/drawingml/2006/main">
            <a:pPr algn="ctr">
              <a:buNone/>
              <a:defRPr sz="15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4.09B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077FBE7-9C33-4303-96F6-9589862F9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4191000"/>
            <a:ext cx="1885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SAM WEST</a:t>
            </a:r>
          </a:p>
          <a:p xmlns:a="http://schemas.openxmlformats.org/drawingml/2006/main">
            <a:pPr algn="ctr">
              <a:buNone/>
              <a:defRPr sz="127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27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USD 1.00B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3E4FE15-D99B-4A20-94C4-141B6EE6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876800"/>
            <a:ext cx="12573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SOM ARG</a:t>
            </a:r>
          </a:p>
          <a:p xmlns:a="http://schemas.openxmlformats.org/drawingml/2006/main">
            <a:pPr algn="ctr">
              <a:buNone/>
              <a:defRPr sz="975" b="1">
                <a:solidFill>
                  <a:srgbClr val="3C239F"/>
                </a:solidFill>
                <a:latin typeface="Fredoka"/>
                <a:ea typeface="Fredoka"/>
                <a:cs typeface="Fredoka"/>
              </a:defRPr>
            </a:pPr>
            <a:r>
              <a:rPr sz="975" b="1">
                <a:solidFill>
                  <a:srgbClr val="3C239F"/>
                </a:solidFill>
                <a:latin typeface="Fredoka"/>
                <a:ea typeface="Fredoka"/>
                <a:cs typeface="Fredoka"/>
              </a:rPr>
              <a:t>USD 1.19M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800F62D3-CF97-43F5-8CF6-61045A24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905500"/>
            <a:ext cx="7524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Argentina in three years is the market we are underwriting first.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76898D9-1BEA-4B55-8CF9-6784D208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64CC89-4B36-4915-9154-5E321793A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00145301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8b2b7dd4c714126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23932dbf644ca9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39208683014c6e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6C401C-8729-4100-9007-215B5E13F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CEB1C8-888C-4B68-8702-3869A571C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8EBF55E-36C1-4D63-86B0-68A13D13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871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GO TO MARKET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2216BB-842B-4F08-A64C-7812A4243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responsible person opens the door.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8FDE51-FC8E-49AD-886E-9134D330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Distribution starts with the family member who already helps, without turning them into the account owner.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B45AA6-D9B1-4BA7-9B84-CE049A0D7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solidFill xmlns:a="http://schemas.openxmlformats.org/drawingml/2006/main">
            <a:srgbClr val="FFFFFF">
              <a:alpha val="68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740BCB4B-3DCE-4EA6-A533-F0FA24BC9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2DB6AF0-550C-443B-8B47-195F3B4BE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B9326D4-85FB-473D-AF85-B784B1044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DISCOVER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86B7D58-C625-42D8-B757-AD8C1416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daughter, son or trusted person finds Nana.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2A24CDF-E878-4E8C-86C9-B40A0056B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57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BC97BB9-E4B0-4380-A80A-E9B7164E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862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3236D77-5ECF-43B0-AF99-F31FFDAB3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solidFill xmlns:a="http://schemas.openxmlformats.org/drawingml/2006/main">
            <a:srgbClr val="EDE8FF">
              <a:alpha val="70000"/>
            </a:srgbClr>
          </a:solidFill>
          <a:ln xmlns:a="http://schemas.openxmlformats.org/drawingml/2006/main" w="9525">
            <a:solidFill>
              <a:srgbClr val="5639DD">
                <a:alpha val="14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42D37A4F-5BBE-4DA0-B0B1-5D03022C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DE8FF"/>
          </a:solidFill>
          <a:ln xmlns:a="http://schemas.openxmlformats.org/drawingml/2006/main" w="9525">
            <a:solidFill>
              <a:srgbClr val="D8D0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EEE4675-5E59-4640-997C-41564D111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2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14C2B2C6-98B1-4299-8663-2C908E94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ASSIST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1A81889-4961-4380-98ED-3F9A9296C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They help with setup, trusted contacts and preferences.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CF27A5A8-998B-4D58-B3D9-2F157280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057650"/>
            <a:ext cx="323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5639DD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60B44CA-A6DA-45D5-B42B-1AA2AA037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886200"/>
            <a:ext cx="209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88542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24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›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40388F4-4F42-4BBA-A8CD-9ADF264CB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809875"/>
            <a:ext cx="3333750" cy="2457450"/>
          </a:xfrm>
          <a:prstGeom xmlns:a="http://schemas.openxmlformats.org/drawingml/2006/main" prst="roundRect">
            <a:avLst>
              <a:gd name="adj" fmla="val 13178"/>
            </a:avLst>
          </a:prstGeom>
          <a:gradFill xmlns:a="http://schemas.openxmlformats.org/drawingml/2006/main">
            <a:gsLst>
              <a:gs pos="0">
                <a:srgbClr val="4930C0"/>
              </a:gs>
              <a:gs pos="100000">
                <a:srgbClr val="684CF6"/>
              </a:gs>
            </a:gsLst>
            <a:lin ang="8100000"/>
          </a:gradFill>
          <a:ln xmlns:a="http://schemas.openxmlformats.org/drawingml/2006/main" w="9525">
            <a:solidFill>
              <a:srgbClr val="FFFFFF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7"/>
          <a:fontRef xmlns:a="http://schemas.openxmlformats.org/drawingml/2006/main" idx="major"/>
        </p:style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CD5A918-DF41-41C9-8FEB-DD578C444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095625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01BB280-6C8E-4D5C-91AA-CCFA87B9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17182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3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B66C2BD-269B-46D6-B57F-DD57CB54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790950"/>
            <a:ext cx="1619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D8CBFF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D8CBFF"/>
                </a:solidFill>
                <a:latin typeface="Nunito"/>
                <a:ea typeface="Nunito"/>
                <a:cs typeface="Nunito"/>
              </a:rPr>
              <a:t>STEP BACK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015B536-66DA-4979-A252-07DC9E1F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219575"/>
            <a:ext cx="2781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165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end user speaks, confirms and keeps authority.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375C8EB-354F-42EF-BE77-D054D2C45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705475"/>
            <a:ext cx="657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75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Acquisition by trust. Retention by independence.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99E9AB3-9135-4A87-8B3A-BC681AF72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725C1F8-2BC7-4CC6-A4A8-2B20C76E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887762351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c3593af3ce944a8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427c2b3bc14645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4e99235fbc4376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D26C14-0412-455D-8B50-0C6CC596F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6615C6-D236-4A01-86E3-D46417D3D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17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0277179-280D-4A60-9B5F-9D9BD7194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EXECUTION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4EFEBB9-1E3A-4AF7-B4AB-9BBC3295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A working core with a focused validation plan.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F9B4FBE-F976-4029-BC01-88BF47D39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742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What exists today is separated from what we need to learn next.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039BCEE-311B-4D61-A86C-92984893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5238750" cy="3238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DF5E8">
              <a:alpha val="76000"/>
            </a:srgbClr>
          </a:solidFill>
          <a:ln xmlns:a="http://schemas.openxmlformats.org/drawingml/2006/main" w="9525">
            <a:solidFill>
              <a:srgbClr val="2F7D5A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1EDCA62-B8F7-4454-90DF-3C35F28BE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24175"/>
            <a:ext cx="9906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5212A9-A38B-4FFB-BDC0-04B92D7C9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762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2F7D5A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2F7D5A"/>
                </a:solidFill>
                <a:latin typeface="Nunito"/>
                <a:ea typeface="Nunito"/>
                <a:cs typeface="Nunito"/>
              </a:rPr>
              <a:t>BUILT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9AE903-0392-40A8-AF4E-D44601A05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4725"/>
            <a:ext cx="3714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3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Working product core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52128E1-653E-4AD7-843F-ECCA0841D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133850"/>
            <a:ext cx="3905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Voice-led intent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Agent prepares a transfer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Explicit confirmation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Transaction receipt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✓ Dual-user safety concept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72CD9F2-ABC2-4269-B2F0-607FCAAA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28900"/>
            <a:ext cx="5238750" cy="3238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DE8FF">
              <a:alpha val="74000"/>
            </a:srgbClr>
          </a:solidFill>
          <a:ln xmlns:a="http://schemas.openxmlformats.org/drawingml/2006/main" w="9525">
            <a:solidFill>
              <a:srgbClr val="5639DD">
                <a:alpha val="16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AE98706-3593-4246-85CF-3CD9667D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24175"/>
            <a:ext cx="171450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12F4418C-6870-4973-8D3C-9BF9B2200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009900"/>
            <a:ext cx="1485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3C239F"/>
                </a:solidFill>
                <a:latin typeface="Nunito"/>
                <a:ea typeface="Nunito"/>
                <a:cs typeface="Nunito"/>
              </a:defRPr>
            </a:pPr>
            <a:r>
              <a:rPr sz="900" b="1">
                <a:solidFill>
                  <a:srgbClr val="3C239F"/>
                </a:solidFill>
                <a:latin typeface="Nunito"/>
                <a:ea typeface="Nunito"/>
                <a:cs typeface="Nunito"/>
              </a:rPr>
              <a:t>NEXT TO VALIDATE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7D1C151-D4F8-4C0D-B6CA-38454D7F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514725"/>
            <a:ext cx="4000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32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The riskiest assumptions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7F7739D-317B-4A43-B824-9D498FC68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133850"/>
            <a:ext cx="4191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Responsible-person acquisition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Family Graph configuration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Escalation thresholds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Nana Family willingness to pay</a:t>
            </a:r>
          </a:p>
          <a:p xmlns:a="http://schemas.openxmlformats.org/drawingml/2006/main">
            <a:pPr algn="l">
              <a:buNone/>
              <a:defRPr sz="1575" b="0">
                <a:solidFill>
                  <a:srgbClr val="17151B"/>
                </a:solidFill>
                <a:latin typeface="Nunito"/>
                <a:ea typeface="Nunito"/>
                <a:cs typeface="Nunito"/>
              </a:defRPr>
            </a:pPr>
            <a:r>
              <a:rPr sz="1575" b="0">
                <a:solidFill>
                  <a:srgbClr val="17151B"/>
                </a:solidFill>
                <a:latin typeface="Nunito"/>
                <a:ea typeface="Nunito"/>
                <a:cs typeface="Nunito"/>
              </a:rPr>
              <a:t>→ Infrastructure path by market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ADE9396-FD10-487E-9406-E14050D8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96AC428-03F6-4415-80AD-38C47D151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6394387"/>
      </p:ext>
    </p:extLst>
  </p:cSld>
</p:sld>
</file>

<file path=ppt/slides/slide1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35d4b1d2c204194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d215aa0c3d4ced"/>
          <a:stretch xmlns:a="http://schemas.openxmlformats.org/drawingml/2006/main"/>
        </p:blipFill>
        <p:spPr>
          <a:xfrm xmlns:a="http://schemas.openxmlformats.org/drawingml/2006/main">
            <a:off x="10382250" y="0"/>
            <a:ext cx="1809750" cy="1809750"/>
          </a:xfrm>
          <a:prstGeom xmlns:a="http://schemas.openxmlformats.org/drawingml/2006/main" prst="rect">
            <a:avLst/>
          </a:prstGeom>
        </p:spPr>
      </p:pic>
      <p:pic>
        <p:nvPicPr>
          <p:cNvPr id="6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83804336344264"/>
          <a:stretch xmlns:a="http://schemas.openxmlformats.org/drawingml/2006/main"/>
        </p:blipFill>
        <p:spPr>
          <a:xfrm xmlns:a="http://schemas.openxmlformats.org/drawingml/2006/main">
            <a:off x="0" y="5524500"/>
            <a:ext cx="1333500" cy="1333500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731CE7-A0EC-4C3E-A229-726F11FB6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21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59BF31-24F6-4CE4-80C8-21321A501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524625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750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18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D1DF806-B38B-4997-860E-AF529F32C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00100"/>
            <a:ext cx="110490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>
              <a:alpha val="66000"/>
            </a:srgbClr>
          </a:solidFill>
          <a:ln xmlns:a="http://schemas.openxmlformats.org/drawingml/2006/main" w="9525">
            <a:solidFill>
              <a:srgbClr val="5639DD">
                <a:alpha val="28000"/>
              </a:srgbClr>
            </a:solidFill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82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TEAM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23A6BCC-7C9F-4F51-897C-DE2EC6175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62050"/>
            <a:ext cx="10477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300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3300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Four builders, one product thesis.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5D76854-629C-433A-8BDC-6F35959AC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09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898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1650" b="0">
                <a:solidFill>
                  <a:srgbClr val="5A5860"/>
                </a:solidFill>
                <a:latin typeface="Nunito"/>
                <a:ea typeface="Nunito"/>
                <a:cs typeface="Nunito"/>
              </a:rPr>
              <a:t>Product, mobile, agent flows, wallet infrastructure and voice. Built together in the open.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08BBBFE-CC2F-4049-BFDF-59461F263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f3dccffd51410c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6775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A10C159-5FF4-4D07-9FD1-83864872C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Robertino Barbuto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BC810D-BA17-4EA9-8911-0EE79DCC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@rober8b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9751AFA-32CE-4B51-8887-14B3BB679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7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23a66db1e14ea4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714750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F5F4E4F-919A-4211-A8C4-4B56E4919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8479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Ramiro Carnicer Souble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90273DA-52F0-49FC-92C3-C0811DA62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5225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@ram4-dev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3807262-515F-44A2-8713-3CF30133D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7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5383bfebe14fb6"/>
          <a:srcRect xmlns:a="http://schemas.openxmlformats.org/drawingml/2006/main" l="0" t="7176" r="0" b="717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562725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50F28F-7F92-4888-B1DB-B822780DB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Ignacio Becerra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8D741EE8-BA98-4B82-A45C-7A891DB64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@BecerraIgnacio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82F408C-7090-4C0B-A1E7-56FC7ABA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628900"/>
            <a:ext cx="2533650" cy="3152775"/>
          </a:xfrm>
          <a:prstGeom xmlns:a="http://schemas.openxmlformats.org/drawingml/2006/main" prst="roundRect">
            <a:avLst>
              <a:gd name="adj" fmla="val 11278"/>
            </a:avLst>
          </a:prstGeom>
          <a:solidFill xmlns:a="http://schemas.openxmlformats.org/drawingml/2006/main">
            <a:srgbClr val="FFFFFF">
              <a:alpha val="58000"/>
            </a:srgbClr>
          </a:solidFill>
          <a:ln xmlns:a="http://schemas.openxmlformats.org/drawingml/2006/main" w="9525">
            <a:solidFill>
              <a:srgbClr val="5639DD">
                <a:alpha val="1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0"/>
          <a:fontRef xmlns:a="http://schemas.openxmlformats.org/drawingml/2006/main" idx="major"/>
        </p:style>
      </p:sp>
      <p:pic>
        <p:nvPicPr>
          <p:cNvPr id="8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1aab3afe44e91"/>
          <a:srcRect xmlns:a="http://schemas.openxmlformats.org/drawingml/2006/main" l="0" t="17882" r="0" b="1788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0700" y="2847975"/>
            <a:ext cx="2057400" cy="1762125"/>
          </a:xfrm>
          <a:prstGeom xmlns:a="http://schemas.openxmlformats.org/drawingml/2006/main" prst="roundRect">
            <a:avLst>
              <a:gd name="adj" fmla="val 12973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59F973C-F524-450D-BC80-7531B21F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4905375"/>
            <a:ext cx="20764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7151B"/>
                </a:solidFill>
                <a:latin typeface="Fredoka"/>
                <a:ea typeface="Fredoka"/>
                <a:cs typeface="Fredoka"/>
              </a:defRPr>
            </a:pPr>
            <a:r>
              <a:rPr sz="1575" b="1">
                <a:solidFill>
                  <a:srgbClr val="17151B"/>
                </a:solidFill>
                <a:latin typeface="Fredoka"/>
                <a:ea typeface="Fredoka"/>
                <a:cs typeface="Fredoka"/>
              </a:rPr>
              <a:t>Marcos Lanzani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419F15C1-0A64-4319-8643-7283CBB1E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175" y="541020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1">
                <a:solidFill>
                  <a:srgbClr val="5639DD"/>
                </a:solidFill>
                <a:latin typeface="Nunito"/>
                <a:ea typeface="Nunito"/>
                <a:cs typeface="Nunito"/>
              </a:defRPr>
            </a:pPr>
            <a:r>
              <a:rPr sz="975" b="1">
                <a:solidFill>
                  <a:srgbClr val="5639DD"/>
                </a:solidFill>
                <a:latin typeface="Nunito"/>
                <a:ea typeface="Nunito"/>
                <a:cs typeface="Nunito"/>
              </a:rPr>
              <a:t>@theboyplunger0x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A4E0BBC-4ED1-4835-A570-583CB72EC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D94F46A-A354-4AF8-A78C-AA65668A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62725"/>
            <a:ext cx="57150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675" b="1">
                <a:solidFill>
                  <a:srgbClr val="5A5860"/>
                </a:solidFill>
                <a:latin typeface="Nunito"/>
                <a:ea typeface="Nunito"/>
                <a:cs typeface="Nunito"/>
              </a:defRPr>
            </a:pPr>
            <a:r>
              <a:rPr sz="675" b="1">
                <a:solidFill>
                  <a:srgbClr val="766E82"/>
                </a:solidFill>
                <a:latin typeface="Nunito"/>
                <a:ea typeface="Nunito"/>
                <a:cs typeface="Nunito"/>
              </a:rPr>
              <a:t>NANA · CONFIDENTIAL</a:t>
            </a:r>
          </a:p>
        </p:txBody>
      </p:sp>
    </p:spTree>
    <p:extLst>
      <p:ext uri="{BB962C8B-B14F-4D97-AF65-F5344CB8AC3E}">
        <p14:creationId xmlns:p14="http://schemas.microsoft.com/office/powerpoint/2010/main" val="134084101"/>
      </p:ext>
    </p:extLst>
  </p:cSld>
</p:sld>
</file>

<file path=ppt/slides/slide1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26675eeaf63444c"/>
          <a:stretch/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4f77bef3864430"/>
          <a:stretch xmlns:a="http://schemas.openxmlformats.org/drawingml/2006/main"/>
        </p:blipFill>
        <p:spPr>
          <a:xfrm xmlns:a="http://schemas.openxmlformats.org/drawingml/2006/main">
            <a:off x="9525000" y="0"/>
            <a:ext cx="2667000" cy="2667000"/>
          </a:xfrm>
          <a:prstGeom xmlns:a="http://schemas.openxmlformats.org/drawingml/2006/main" prst="rect">
            <a:avLst/>
          </a:prstGeom>
        </p:spPr>
      </p:pic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0934b014b46a1"/>
          <a:stretch xmlns:a="http://schemas.openxmlformats.org/drawingml/2006/main"/>
        </p:blipFill>
        <p:spPr>
          <a:xfrm xmlns:a="http://schemas.openxmlformats.org/drawingml/2006/main">
            <a:off x="6667500" y="904875"/>
            <a:ext cx="4429125" cy="4429125"/>
          </a:xfrm>
          <a:prstGeom xmlns:a="http://schemas.openxmlformats.org/drawingml/2006/main" prst="rect">
            <a:avLst/>
          </a:prstGeom>
        </p:spPr>
      </p:pic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A75764-E49F-40B4-A7E3-E043883B5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"/>
            <a:ext cx="1476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3000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nana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E54941F-B1DD-4921-98B7-7139B0C9D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6191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4633"/>
          </a:bodyPr>
          <a:lstStyle xmlns:a="http://schemas.openxmlformats.org/drawingml/2006/main"/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44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The next financial</a:t>
            </a:r>
          </a:p>
          <a:p xmlns:a="http://schemas.openxmlformats.org/drawingml/2006/main">
            <a:pPr algn="l">
              <a:buNone/>
              <a:defRPr sz="4425" b="1">
                <a:solidFill>
                  <a:srgbClr val="FFFFFF"/>
                </a:solidFill>
                <a:latin typeface="Fredoka"/>
                <a:ea typeface="Fredoka"/>
                <a:cs typeface="Fredoka"/>
              </a:defRPr>
            </a:pPr>
            <a:r>
              <a:rPr sz="4425" b="1">
                <a:solidFill>
                  <a:srgbClr val="FFFFFF"/>
                </a:solidFill>
                <a:latin typeface="Fredoka"/>
                <a:ea typeface="Fredoka"/>
                <a:cs typeface="Fredoka"/>
              </a:rPr>
              <a:t>account is agentic.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5E19DD7-22D7-4CBF-91FB-18FEAF07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67050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875" b="1">
                <a:solidFill>
                  <a:srgbClr val="EDE8FF"/>
                </a:solidFill>
                <a:latin typeface="Nunito"/>
                <a:ea typeface="Nunito"/>
                <a:cs typeface="Nunito"/>
              </a:rPr>
              <a:t>It lets people act independently inside a trusted, programmable network of relationships and permissions.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D7D6CCA-806D-4344-9D02-260CDA03D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5095875" cy="895350"/>
          </a:xfrm>
          <a:prstGeom xmlns:a="http://schemas.openxmlformats.org/drawingml/2006/main" prst="roundRect">
            <a:avLst>
              <a:gd name="adj" fmla="val 31915"/>
            </a:avLst>
          </a:prstGeom>
          <a:solidFill xmlns:a="http://schemas.openxmlformats.org/drawingml/2006/main">
            <a:srgbClr val="FFFFFF">
              <a:alpha val="88000"/>
            </a:srgbClr>
          </a:solidFill>
          <a:ln xmlns:a="http://schemas.openxmlformats.org/drawingml/2006/main" w="9525">
            <a:solidFill>
              <a:srgbClr val="FFFFFF">
                <a:alpha val="42000"/>
              </a:srgbClr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12"/>
          <a:fontRef xmlns:a="http://schemas.openxmlformats.org/drawingml/2006/main" idx="major"/>
        </p:style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3B3A98-4D90-4353-A1BF-D921EFB2E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933950"/>
            <a:ext cx="4524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9375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Independence through voice.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5639DD"/>
                </a:solidFill>
                <a:latin typeface="Fredoka"/>
                <a:ea typeface="Fredoka"/>
                <a:cs typeface="Fredoka"/>
              </a:defRPr>
            </a:pPr>
            <a:r>
              <a:rPr sz="1800" b="1">
                <a:solidFill>
                  <a:srgbClr val="5639DD"/>
                </a:solidFill>
                <a:latin typeface="Fredoka"/>
                <a:ea typeface="Fredoka"/>
                <a:cs typeface="Fredoka"/>
              </a:rPr>
              <a:t>Protection when it matters.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F26B2A-57F3-442F-BD2A-787118237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9825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FF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FFFFFF"/>
                </a:solidFill>
                <a:latin typeface="Nunito"/>
                <a:ea typeface="Nunito"/>
                <a:cs typeface="Nunito"/>
              </a:rPr>
              <a:t>nana-wallet-hybrid.vercel.app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EF2FCB4-ECAB-4A72-AC30-70CEC7B21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6219825"/>
            <a:ext cx="447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EDE8FF"/>
                </a:solidFill>
                <a:latin typeface="Nunito"/>
                <a:ea typeface="Nunito"/>
                <a:cs typeface="Nunito"/>
              </a:defRPr>
            </a:pPr>
            <a:r>
              <a:rPr sz="1050" b="1">
                <a:solidFill>
                  <a:srgbClr val="EDE8FF"/>
                </a:solidFill>
                <a:latin typeface="Nunito"/>
                <a:ea typeface="Nunito"/>
                <a:cs typeface="Nunito"/>
              </a:rPr>
              <a:t>github.com/theboyplunger0x/nana-wallet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2d003ba80643b2"/>
          <a:stretch xmlns:a="http://schemas.openxmlformats.org/drawingml/2006/main"/>
        </p:blipFill>
        <p:spPr>
          <a:xfrm xmlns:a="http://schemas.openxmlformats.org/drawingml/2006/main">
            <a:off x="6981825" y="1317308"/>
            <a:ext cx="3829050" cy="459486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2588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  <a:effectStyle>
          <a:effectLst>
            <a:outerShdw blurRad="342900" dist="133350" dir="5400000">
              <a:srgbClr val="3C239F">
                <a:alpha val="10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8000"/>
              </a:srgbClr>
            </a:outerShdw>
          </a:effectLst>
        </a:effectStyle>
        <a:effectStyle>
          <a:effectLst>
            <a:outerShdw blurRad="419100" dist="171450" dir="5400000">
              <a:srgbClr val="210F72">
                <a:alpha val="24000"/>
              </a:srgbClr>
            </a:outerShdw>
          </a:effectLst>
        </a:effectStyle>
        <a:effectStyle>
          <a:effectLst>
            <a:outerShdw blurRad="323850" dist="114300" dir="5400000">
              <a:srgbClr val="2F7D5A">
                <a:alpha val="8000"/>
              </a:srgbClr>
            </a:outerShdw>
          </a:effectLst>
        </a:effectStyle>
        <a:effectStyle>
          <a:effectLst>
            <a:outerShdw blurRad="323850" dist="114300" dir="5400000">
              <a:srgbClr val="B44959">
                <a:alpha val="8000"/>
              </a:srgbClr>
            </a:outerShdw>
          </a:effectLst>
        </a:effectStyle>
        <a:effectStyle>
          <a:effectLst>
            <a:outerShdw blurRad="457200" dist="190500" dir="5400000">
              <a:srgbClr val="3C239F">
                <a:alpha val="22000"/>
              </a:srgbClr>
            </a:outerShdw>
          </a:effectLst>
        </a:effectStyle>
        <a:effectStyle>
          <a:effectLst>
            <a:outerShdw blurRad="323850" dist="133350" dir="5400000">
              <a:srgbClr val="3C239F">
                <a:alpha val="18000"/>
              </a:srgbClr>
            </a:outerShdw>
          </a:effectLst>
        </a:effectStyle>
        <a:effectStyle>
          <a:effectLst>
            <a:outerShdw blurRad="419100" dist="171450" dir="5400000">
              <a:srgbClr val="3C239F">
                <a:alpha val="2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2026-09-02T15:38:14.5520000Z</dcterms:created>
  <dcterms:modified xsi:type="dcterms:W3CDTF">2026-09-02T15:38:14.5520000Z</dcterms:modified>
</coreProperties>
</file>