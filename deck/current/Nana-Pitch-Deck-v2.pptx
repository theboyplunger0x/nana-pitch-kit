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08120f14964a21" /><Relationship Type="http://schemas.openxmlformats.org/officeDocument/2006/relationships/extended-properties" Target="/docProps/app.xml" Id="R2875dca99f0d433b" /><Relationship Type="http://schemas.openxmlformats.org/officeDocument/2006/relationships/officeDocument" Target="/ppt/presentation.xml" Id="R7a2ee0003f3f45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98ca92c80f4376"/>
  </p:sldMasterIdLst>
  <p:notesMasterIdLst>
    <p:notesMasterId xmlns:r="http://schemas.openxmlformats.org/officeDocument/2006/relationships" r:id="R0ce3e02365924517"/>
  </p:notesMasterIdLst>
  <p:sldIdLst>
    <p:sldId xmlns:r="http://schemas.openxmlformats.org/officeDocument/2006/relationships" id="256" r:id="Rd616156c2c0a4b3b"/>
    <p:sldId xmlns:r="http://schemas.openxmlformats.org/officeDocument/2006/relationships" id="257" r:id="R10423551b2de4960"/>
    <p:sldId xmlns:r="http://schemas.openxmlformats.org/officeDocument/2006/relationships" id="258" r:id="R2e6cf81721f24853"/>
    <p:sldId xmlns:r="http://schemas.openxmlformats.org/officeDocument/2006/relationships" id="259" r:id="Rfe2c3bcc50a24fae"/>
    <p:sldId xmlns:r="http://schemas.openxmlformats.org/officeDocument/2006/relationships" id="260" r:id="R95abe0ef503945de"/>
    <p:sldId xmlns:r="http://schemas.openxmlformats.org/officeDocument/2006/relationships" id="261" r:id="Rdedbb0d01c124518"/>
    <p:sldId xmlns:r="http://schemas.openxmlformats.org/officeDocument/2006/relationships" id="262" r:id="R3808be4aa6a746d7"/>
    <p:sldId xmlns:r="http://schemas.openxmlformats.org/officeDocument/2006/relationships" id="263" r:id="R1f609a64217d4c9d"/>
    <p:sldId xmlns:r="http://schemas.openxmlformats.org/officeDocument/2006/relationships" id="264" r:id="R79010581bc7f4fe3"/>
    <p:sldId xmlns:r="http://schemas.openxmlformats.org/officeDocument/2006/relationships" id="265" r:id="R8a5d7770c3f7469b"/>
    <p:sldId xmlns:r="http://schemas.openxmlformats.org/officeDocument/2006/relationships" id="266" r:id="R642847b684444bd7"/>
    <p:sldId xmlns:r="http://schemas.openxmlformats.org/officeDocument/2006/relationships" id="267" r:id="R9bfd376064bf4f19"/>
    <p:sldId xmlns:r="http://schemas.openxmlformats.org/officeDocument/2006/relationships" id="268" r:id="R56219e319abc4b89"/>
    <p:sldId xmlns:r="http://schemas.openxmlformats.org/officeDocument/2006/relationships" id="269" r:id="Rc905062f155e4e06"/>
    <p:sldId xmlns:r="http://schemas.openxmlformats.org/officeDocument/2006/relationships" id="270" r:id="Raa441df674e04dce"/>
    <p:sldId xmlns:r="http://schemas.openxmlformats.org/officeDocument/2006/relationships" id="271" r:id="R7338b93510b14e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cdb7f168247d6" /><Relationship Type="http://schemas.openxmlformats.org/officeDocument/2006/relationships/slideMaster" Target="/ppt/slideMasters/slideMaster1.xml" Id="R8b98ca92c80f4376" /><Relationship Type="http://schemas.openxmlformats.org/officeDocument/2006/relationships/notesMaster" Target="/ppt/notesMasters/notesMaster1.xml" Id="R0ce3e02365924517" /><Relationship Type="http://schemas.openxmlformats.org/officeDocument/2006/relationships/presProps" Target="/ppt/presProps.xml" Id="R4ca1d065e38e4ace" /><Relationship Type="http://schemas.openxmlformats.org/officeDocument/2006/relationships/tableStyles" Target="/ppt/tableStyles.xml" Id="Rc19cd8a90b59415b" /><Relationship Type="http://schemas.openxmlformats.org/officeDocument/2006/relationships/slide" Target="/ppt/slides/slide1.xml" Id="Rd616156c2c0a4b3b" /><Relationship Type="http://schemas.openxmlformats.org/officeDocument/2006/relationships/slide" Target="/ppt/slides/slide2.xml" Id="R10423551b2de4960" /><Relationship Type="http://schemas.openxmlformats.org/officeDocument/2006/relationships/slide" Target="/ppt/slides/slide3.xml" Id="R2e6cf81721f24853" /><Relationship Type="http://schemas.openxmlformats.org/officeDocument/2006/relationships/slide" Target="/ppt/slides/slide4.xml" Id="Rfe2c3bcc50a24fae" /><Relationship Type="http://schemas.openxmlformats.org/officeDocument/2006/relationships/slide" Target="/ppt/slides/slide5.xml" Id="R95abe0ef503945de" /><Relationship Type="http://schemas.openxmlformats.org/officeDocument/2006/relationships/slide" Target="/ppt/slides/slide6.xml" Id="Rdedbb0d01c124518" /><Relationship Type="http://schemas.openxmlformats.org/officeDocument/2006/relationships/slide" Target="/ppt/slides/slide7.xml" Id="R3808be4aa6a746d7" /><Relationship Type="http://schemas.openxmlformats.org/officeDocument/2006/relationships/slide" Target="/ppt/slides/slide8.xml" Id="R1f609a64217d4c9d" /><Relationship Type="http://schemas.openxmlformats.org/officeDocument/2006/relationships/slide" Target="/ppt/slides/slide9.xml" Id="R79010581bc7f4fe3" /><Relationship Type="http://schemas.openxmlformats.org/officeDocument/2006/relationships/slide" Target="/ppt/slides/slide10.xml" Id="R8a5d7770c3f7469b" /><Relationship Type="http://schemas.openxmlformats.org/officeDocument/2006/relationships/slide" Target="/ppt/slides/slide11.xml" Id="R642847b684444bd7" /><Relationship Type="http://schemas.openxmlformats.org/officeDocument/2006/relationships/slide" Target="/ppt/slides/slide12.xml" Id="R9bfd376064bf4f19" /><Relationship Type="http://schemas.openxmlformats.org/officeDocument/2006/relationships/slide" Target="/ppt/slides/slide13.xml" Id="R56219e319abc4b89" /><Relationship Type="http://schemas.openxmlformats.org/officeDocument/2006/relationships/slide" Target="/ppt/slides/slide14.xml" Id="Rc905062f155e4e06" /><Relationship Type="http://schemas.openxmlformats.org/officeDocument/2006/relationships/slide" Target="/ppt/slides/slide15.xml" Id="Raa441df674e04dce" /><Relationship Type="http://schemas.openxmlformats.org/officeDocument/2006/relationships/slide" Target="/ppt/slides/slide16.xml" Id="R7338b93510b14e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0af514cfa04d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c55ff897a649b4" /><Relationship Type="http://schemas.openxmlformats.org/officeDocument/2006/relationships/notesMaster" Target="/ppt/notesMasters/notesMaster1.xml" Id="Re3fcf6e8873b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96ed7f5b94ff9" /><Relationship Type="http://schemas.openxmlformats.org/officeDocument/2006/relationships/notesMaster" Target="/ppt/notesMasters/notesMaster1.xml" Id="R2ad594daf3ff46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4e34a45f4640f3" /><Relationship Type="http://schemas.openxmlformats.org/officeDocument/2006/relationships/notesMaster" Target="/ppt/notesMasters/notesMaster1.xml" Id="R4885004d20ce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f218b4c8d4450d" /><Relationship Type="http://schemas.openxmlformats.org/officeDocument/2006/relationships/notesMaster" Target="/ppt/notesMasters/notesMaster1.xml" Id="Rea5ae1d699c641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8d6636cb92455a" /><Relationship Type="http://schemas.openxmlformats.org/officeDocument/2006/relationships/notesMaster" Target="/ppt/notesMasters/notesMaster1.xml" Id="R75c2bf76c438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c6a9d16a4485a" /><Relationship Type="http://schemas.openxmlformats.org/officeDocument/2006/relationships/notesMaster" Target="/ppt/notesMasters/notesMaster1.xml" Id="R00dc1339715c48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183efe110a4643" /><Relationship Type="http://schemas.openxmlformats.org/officeDocument/2006/relationships/notesMaster" Target="/ppt/notesMasters/notesMaster1.xml" Id="Rd16c6b782da24e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f85f1eab854d1c" /><Relationship Type="http://schemas.openxmlformats.org/officeDocument/2006/relationships/notesMaster" Target="/ppt/notesMasters/notesMaster1.xml" Id="R1fc0eaba2dbf46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23c228a9204f06" /><Relationship Type="http://schemas.openxmlformats.org/officeDocument/2006/relationships/notesMaster" Target="/ppt/notesMasters/notesMaster1.xml" Id="R287de0d0593d4f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29548da58a4d4d" /><Relationship Type="http://schemas.openxmlformats.org/officeDocument/2006/relationships/notesMaster" Target="/ppt/notesMasters/notesMaster1.xml" Id="Ref5cf52833ba46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91b0936d194b2f" /><Relationship Type="http://schemas.openxmlformats.org/officeDocument/2006/relationships/notesMaster" Target="/ppt/notesMasters/notesMaster1.xml" Id="Rfbbc724b8cce4f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c3723f555841e1" /><Relationship Type="http://schemas.openxmlformats.org/officeDocument/2006/relationships/notesMaster" Target="/ppt/notesMasters/notesMaster1.xml" Id="Ra4e74e1cc84742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971f1fc7aa49d0" /><Relationship Type="http://schemas.openxmlformats.org/officeDocument/2006/relationships/notesMaster" Target="/ppt/notesMasters/notesMaster1.xml" Id="R46cc9390f2974c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e07af9c4664dc0" /><Relationship Type="http://schemas.openxmlformats.org/officeDocument/2006/relationships/notesMaster" Target="/ppt/notesMasters/notesMaster1.xml" Id="Rfd46f83cb93042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2007904f9d4dff" /><Relationship Type="http://schemas.openxmlformats.org/officeDocument/2006/relationships/notesMaster" Target="/ppt/notesMasters/notesMaster1.xml" Id="R1ef6ee6b2ad54d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ed9240f1d34f1f" /><Relationship Type="http://schemas.openxmlformats.org/officeDocument/2006/relationships/notesMaster" Target="/ppt/notesMasters/notesMaster1.xml" Id="R9d991279b04e4e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app/apps/nana-wallet/src/components/HybridLandingIntro.tsx</a:t>
            </a:r>
          </a:p>
          <a:p xmlns:a="http://schemas.openxmlformats.org/drawingml/2006/main">
            <a:r>
              <a:t>- assets/sprites/nani-01-lista.png</a:t>
            </a:r>
          </a:p>
          <a:p xmlns:a="http://schemas.openxmlformats.org/drawingml/2006/main">
            <a:r>
              <a:t>- docs/business-model/nana-business-model.pdf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2 and 4</a:t>
            </a:r>
          </a:p>
          <a:p xmlns:a="http://schemas.openxmlformats.org/drawingml/2006/main">
            <a:r>
              <a:t>- docs/business-model/nana-business-model.pdf · problem and product thesis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https://www.who.int/news-room/fact-sheets/detail/ageing-and-health</a:t>
            </a:r>
          </a:p>
          <a:p xmlns:a="http://schemas.openxmlformats.org/drawingml/2006/main">
            <a:r>
              <a:t>- https://www.who.int/news-room/fact-sheets/detail/disability-and-health</a:t>
            </a:r>
          </a:p>
          <a:p xmlns:a="http://schemas.openxmlformats.org/drawingml/2006/main">
            <a:r>
              <a:t>- WHO figures are global and describe population context, not Nana's addressable market.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app/apps/nana-wallet/src/assets/landing/agent-command.jpg</a:t>
            </a:r>
          </a:p>
          <a:p xmlns:a="http://schemas.openxmlformats.org/drawingml/2006/main">
            <a:r>
              <a:t>- app/apps/nana-wallet/src/assets/landing/agent-confirmation.jpg</a:t>
            </a:r>
          </a:p>
          <a:p xmlns:a="http://schemas.openxmlformats.org/drawingml/2006/main">
            <a:r>
              <a:t>- app/apps/nana-wallet/src/assets/landing/agent-confirmed.jpg</a:t>
            </a:r>
          </a:p>
          <a:p xmlns:a="http://schemas.openxmlformats.org/drawingml/2006/main">
            <a:r>
              <a:t>- app/apps/nana-wallet/src/assets/landing/agent-home.jpg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6</a:t>
            </a:r>
          </a:p>
          <a:p xmlns:a="http://schemas.openxmlformats.org/drawingml/2006/main">
            <a:r>
              <a:t>- docs/business-model/nana-business-model.pdf · dual-user model</a:t>
            </a:r>
          </a:p>
          <a:p xmlns:a="http://schemas.openxmlformats.org/drawingml/2006/main">
            <a:r>
              <a:t>- docs/mission-board/Nana-Mission-Board.pptx · product principles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7 and 8</a:t>
            </a:r>
          </a:p>
          <a:p xmlns:a="http://schemas.openxmlformats.org/drawingml/2006/main">
            <a:r>
              <a:t>- docs/business-model/nana-business-model.pdf · intervention-by-exception rule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8</a:t>
            </a:r>
          </a:p>
          <a:p xmlns:a="http://schemas.openxmlformats.org/drawingml/2006/main">
            <a:r>
              <a:t>- docs/business-model/nana-business-model.pdf · Protection Engine and policy orchestration</a:t>
            </a:r>
          </a:p>
          <a:p xmlns:a="http://schemas.openxmlformats.org/drawingml/2006/main">
            <a:r>
              <a:t>- Flow is a product model; concrete thresholds remain subject to user testing and compliance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delegated execution architecture</a:t>
            </a:r>
          </a:p>
          <a:p xmlns:a="http://schemas.openxmlformats.org/drawingml/2006/main">
            <a:r>
              <a:t>- Implementation primitives under evaluation include smart accounts, programmable permissions, session keys and multisig escalation.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9</a:t>
            </a:r>
          </a:p>
          <a:p xmlns:a="http://schemas.openxmlformats.org/drawingml/2006/main">
            <a:r>
              <a:t>- https://github.com/rober8b/aleph-hackathon</a:t>
            </a:r>
          </a:p>
          <a:p xmlns:a="http://schemas.openxmlformats.org/drawingml/2006/main">
            <a:r>
              <a:t>- app/apps/nana-wallet/src/assets/landing/agent-confirmed.jpg</a:t>
            </a:r>
          </a:p>
          <a:p xmlns:a="http://schemas.openxmlformats.org/drawingml/2006/main">
            <a:r>
              <a:t>- Hackathon placement and transfer count are team-reported proof points carried forward from the existing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ownership boundary and infrastructure paths</a:t>
            </a:r>
          </a:p>
          <a:p xmlns:a="http://schemas.openxmlformats.org/drawingml/2006/main">
            <a:r>
              <a:t>- https://github.com/rober8b/aleph-hackathon</a:t>
            </a:r>
          </a:p>
          <a:p xmlns:a="http://schemas.openxmlformats.org/drawingml/2006/main">
            <a:r>
              <a:t>- Tether/WDK is the proven implementation path; Circle/Arc is an evaluation path, not a committed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revenue hypotheses and Nana Free / Nana Family</a:t>
            </a:r>
          </a:p>
          <a:p xmlns:a="http://schemas.openxmlformats.org/drawingml/2006/main">
            <a:r>
              <a:t>- Pricing and revenue units are intentionally shown as hypotheses pending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wedge and expansion sequence</a:t>
            </a:r>
          </a:p>
          <a:p xmlns:a="http://schemas.openxmlformats.org/drawingml/2006/main">
            <a:r>
              <a:t>- This slide replaces the previous unsupported TAM arithmetic with an explicit product expansion 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 15</a:t>
            </a:r>
          </a:p>
          <a:p xmlns:a="http://schemas.openxmlformats.org/drawingml/2006/main">
            <a:r>
              <a:t>- docs/business-model/nana-business-model.pdf · initial distribution thesis</a:t>
            </a:r>
          </a:p>
          <a:p xmlns:a="http://schemas.openxmlformats.org/drawingml/2006/main">
            <a:r>
              <a:t>- GTM sequence is a hypothesis to validate, not a reported funnel.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docs/deck/nana-deck.pdf · slides 9 and 16</a:t>
            </a:r>
          </a:p>
          <a:p xmlns:a="http://schemas.openxmlformats.org/drawingml/2006/main">
            <a:r>
              <a:t>- docs/business-model/nana-business-model.pdf · open questions and validation priorities</a:t>
            </a:r>
          </a:p>
          <a:p xmlns:a="http://schemas.openxmlformats.org/drawingml/2006/main">
            <a:r>
              <a:t>- The previous claim that two experiments were already running has been removed because it was not independently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https://github.com/rober8b/aleph-hackathon</a:t>
            </a:r>
          </a:p>
          <a:p xmlns:a="http://schemas.openxmlformats.org/drawingml/2006/main">
            <a:r>
              <a:t>- https://github.com/rober8b</a:t>
            </a:r>
          </a:p>
          <a:p xmlns:a="http://schemas.openxmlformats.org/drawingml/2006/main">
            <a:r>
              <a:t>- https://github.com/ram4-dev</a:t>
            </a:r>
          </a:p>
          <a:p xmlns:a="http://schemas.openxmlformats.org/drawingml/2006/main">
            <a:r>
              <a:t>- https://github.com/BecerraIgnacio</a:t>
            </a:r>
          </a:p>
          <a:p xmlns:a="http://schemas.openxmlformats.org/drawingml/2006/main">
            <a:r>
              <a:t>- https://github.com/theboyplunger0x</a:t>
            </a:r>
          </a:p>
          <a:p xmlns:a="http://schemas.openxmlformats.org/drawingml/2006/main">
            <a:r>
              <a:t>- Role labels were intentionally omitted rather than inferred from limited public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docs/business-model/nana-business-model.pdf · final product primitive</a:t>
            </a:r>
          </a:p>
          <a:p xmlns:a="http://schemas.openxmlformats.org/drawingml/2006/main">
            <a:r>
              <a:t>- assets/sprites/nani-02-escuchando.png</a:t>
            </a:r>
          </a:p>
          <a:p xmlns:a="http://schemas.openxmlformats.org/drawingml/2006/main">
            <a:r>
              <a:t>- https://nana-wallet-hybrid.vercel.app</a:t>
            </a:r>
          </a:p>
          <a:p xmlns:a="http://schemas.openxmlformats.org/drawingml/2006/main">
            <a:r>
              <a:t>- https://github.com/rober8b/aleph-hackathon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5f3492bb0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13517e652d49b6" /><Relationship Type="http://schemas.openxmlformats.org/officeDocument/2006/relationships/slideLayout" Target="/ppt/slideLayouts/slideLayout1.xml" Id="R605f0e46f8ba40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5f0e46f8ba40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897a273e948cb" /><Relationship Type="http://schemas.openxmlformats.org/officeDocument/2006/relationships/image" Target="/ppt/media/image.png" Id="R3e97cf5365f24fe4" /><Relationship Type="http://schemas.openxmlformats.org/officeDocument/2006/relationships/notesSlide" Target="/ppt/notesSlides/notesSlide1.xml" Id="R44878417b11a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53ef2f36844c7" /><Relationship Type="http://schemas.openxmlformats.org/officeDocument/2006/relationships/notesSlide" Target="/ppt/notesSlides/notesSlide2.xml" Id="R564b53e93c5f40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2b65efbef4234" /><Relationship Type="http://schemas.openxmlformats.org/officeDocument/2006/relationships/notesSlide" Target="/ppt/notesSlides/notesSlide3.xml" Id="R94d663d78da74e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31c844baf4337" /><Relationship Type="http://schemas.openxmlformats.org/officeDocument/2006/relationships/image" Target="/ppt/media/image.jpeg" Id="Rf5799faba0fa45fe" /><Relationship Type="http://schemas.openxmlformats.org/officeDocument/2006/relationships/image" Target="/ppt/media/image2.jpeg" Id="R696ac6030bfd457a" /><Relationship Type="http://schemas.openxmlformats.org/officeDocument/2006/relationships/image" Target="/ppt/media/image3.jpeg" Id="R9bba8a6e8772436a" /><Relationship Type="http://schemas.openxmlformats.org/officeDocument/2006/relationships/image" Target="/ppt/media/image4.jpeg" Id="R3ef4d37673da40f1" /><Relationship Type="http://schemas.openxmlformats.org/officeDocument/2006/relationships/notesSlide" Target="/ppt/notesSlides/notesSlide4.xml" Id="R539692966a194c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311a57be948bc" /><Relationship Type="http://schemas.openxmlformats.org/officeDocument/2006/relationships/notesSlide" Target="/ppt/notesSlides/notesSlide5.xml" Id="Re671889caaef4e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ad6f10fa54ad8" /><Relationship Type="http://schemas.openxmlformats.org/officeDocument/2006/relationships/notesSlide" Target="/ppt/notesSlides/notesSlide6.xml" Id="R37b7da6ce40d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b03a63bf843c0" /><Relationship Type="http://schemas.openxmlformats.org/officeDocument/2006/relationships/notesSlide" Target="/ppt/notesSlides/notesSlide7.xml" Id="Rbd45bb9976c747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53556b59440cd" /><Relationship Type="http://schemas.openxmlformats.org/officeDocument/2006/relationships/notesSlide" Target="/ppt/notesSlides/notesSlide8.xml" Id="R44c77306bb5748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a2b3617804199" /><Relationship Type="http://schemas.openxmlformats.org/officeDocument/2006/relationships/image" Target="/ppt/media/image5.jpeg" Id="Reb35ee015f9340ff" /><Relationship Type="http://schemas.openxmlformats.org/officeDocument/2006/relationships/notesSlide" Target="/ppt/notesSlides/notesSlide9.xml" Id="Rb672b0a55d33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3e06488894b0f" /><Relationship Type="http://schemas.openxmlformats.org/officeDocument/2006/relationships/notesSlide" Target="/ppt/notesSlides/notesSlide10.xml" Id="R60b58e01bfb04e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2c29afa6244ef" /><Relationship Type="http://schemas.openxmlformats.org/officeDocument/2006/relationships/notesSlide" Target="/ppt/notesSlides/notesSlide11.xml" Id="Rd7a3950da4bd4b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06555de734641" /><Relationship Type="http://schemas.openxmlformats.org/officeDocument/2006/relationships/notesSlide" Target="/ppt/notesSlides/notesSlide12.xml" Id="R6ad5c0fea85a4a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81a3f6a7a436d" /><Relationship Type="http://schemas.openxmlformats.org/officeDocument/2006/relationships/notesSlide" Target="/ppt/notesSlides/notesSlide13.xml" Id="Rb8cd032e2faf4f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c165ff0db4422" /><Relationship Type="http://schemas.openxmlformats.org/officeDocument/2006/relationships/notesSlide" Target="/ppt/notesSlides/notesSlide14.xml" Id="R20bb040804834d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07581a31d4f59" /><Relationship Type="http://schemas.openxmlformats.org/officeDocument/2006/relationships/image" Target="/ppt/media/image6.jpeg" Id="R2e8759d732cb424d" /><Relationship Type="http://schemas.openxmlformats.org/officeDocument/2006/relationships/image" Target="/ppt/media/image7.jpeg" Id="R2ab15bee8cd84c0d" /><Relationship Type="http://schemas.openxmlformats.org/officeDocument/2006/relationships/image" Target="/ppt/media/image8.jpeg" Id="Ra360222c37d84b9f" /><Relationship Type="http://schemas.openxmlformats.org/officeDocument/2006/relationships/image" Target="/ppt/media/image2.png" Id="R6734af89b8ba49d6" /><Relationship Type="http://schemas.openxmlformats.org/officeDocument/2006/relationships/notesSlide" Target="/ppt/notesSlides/notesSlide15.xml" Id="Rc90c9ccf4ef742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f5df2b9034ab5" /><Relationship Type="http://schemas.openxmlformats.org/officeDocument/2006/relationships/image" Target="/ppt/media/image3.png" Id="R2fc1a1951c47483a" /><Relationship Type="http://schemas.openxmlformats.org/officeDocument/2006/relationships/notesSlide" Target="/ppt/notesSlides/notesSlide16.xml" Id="R4a623c051bb645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9B3985-49D9-4A60-906F-BDAFA418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859A2-5007-4C3F-8140-19652F85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1F98F-1256-40A5-ACA9-0CC5134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066DC-4B5E-41FF-B1D1-24AF271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DE632-7565-48B7-9A95-07F5F99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1C756-A11C-4A43-B41E-EF73E444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C4C7D-50F4-47B9-B761-DD932D51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01A34-1105-4DA0-B2B8-C3520B5B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24380-83B6-4231-8F15-B4C35EEE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73050-9CDA-4125-B301-02AABDA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CE1D6-D0FA-439F-B276-F7D32DF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38976-14F4-46E7-BB4E-C03C0826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7239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E507C-AA3C-4A19-9EF7-467879CF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478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980D7-EE77-4238-879B-96FB4B1C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A009D-3B1D-4B87-96C1-6DE4FF6C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DC093-6C66-4E4B-A6F6-EF7FE828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4D0AC-76CC-4112-97EF-306B28A0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434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1A0FD-15FC-426C-9358-B03874B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673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3F790-291B-4409-B89D-8E897FF3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912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47D61-894D-40DD-A384-7E707CF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515100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F62A37-73DB-4E5E-92B8-C048503F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2CD3B0-7944-420C-9E04-6F5255A1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698" y="722948"/>
            <a:ext cx="2011680" cy="2011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A292E-36F6-4FBF-B1C8-EA96B983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943" y="1571625"/>
            <a:ext cx="1068705" cy="10687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1059D-9808-4627-89A0-F38B12F4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4535" y="4714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571F1-B8A8-4348-A78B-5B7811F9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292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60646B-FC56-4664-81E1-B8572F1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3" y="5757863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AE98B-5B72-43F6-AEF0-C5B2A72C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8" y="6143625"/>
            <a:ext cx="485775" cy="485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B63189-7868-4580-B637-6DE27E2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643563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9DE9D-2EC5-4D2D-8595-95E283FF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876300"/>
            <a:ext cx="5000625" cy="5000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E5675A-7CAA-4C32-B0DD-8145FC19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2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FAA471-CCC8-438B-A5B4-31B59EDE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5811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664D2-8986-4E30-8707-4453F33F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AGENTIC WALLET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266676-1A5E-43F0-9506-4DA5282E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810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49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Independence</a:t>
            </a:r>
          </a:p>
          <a:p xmlns:a="http://schemas.openxmlformats.org/drawingml/2006/main">
            <a:pPr algn="l">
              <a:defRPr sz="49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49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through voice.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478423-F703-43F0-9861-167B7E41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5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Protection when it matters.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27DA4C-CFC9-47CE-B97F-397E1F4D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72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agentic wallet for seniors and people with limited mobility.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9AD4AE-84ED-4B90-8466-60227717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PITCH DECK · SEPTEMBER 2026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7cf5365f24fe4"/>
          <a:stretch xmlns:a="http://schemas.openxmlformats.org/drawingml/2006/main"/>
        </p:blipFill>
        <p:spPr>
          <a:xfrm xmlns:a="http://schemas.openxmlformats.org/drawingml/2006/main">
            <a:off x="6934200" y="1450242"/>
            <a:ext cx="4000500" cy="4376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67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CD5BA2-3B5E-447D-A1C5-82C0535A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37A0A-C90A-41FD-9397-240E90E4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66326-C79E-4A21-A371-024B2845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39BB3-D2A8-4195-9AE1-139A8981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C621E-6201-4BAF-98D3-203725C7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3EC18-D3D6-44FF-AE05-E8A643B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D268B-38A1-48AD-B88F-A66EDB8E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72956-5501-4B5E-A3F8-C685F8B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79237-CFF9-4A7B-A1E0-7847FB18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6149E-5674-491B-A57D-1EE67099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8A6A0-23E2-4C2B-81ED-E8F58D5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BA146E-3007-4428-8201-503C8552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AF1CC-DA4A-438C-9D0F-C12ABD49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B6D97-819E-4C4E-BD49-F8DEC7DA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CD0FA-96C1-487F-9C44-ABAF78FD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89C7E-52E5-4811-B824-6EFD146F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B7031-E06D-4C6D-81CF-F20B07BD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9BB1F-9EC0-4555-A239-B7FAC593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E0AC4-7678-485A-8620-2CEF7F3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4629F3-1587-4855-8B8A-C039C1EF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280A4-11EC-4BB7-ACC8-440BA1E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205A5-25D0-4181-BDC9-B3142BD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0B7F4-9599-4494-B42A-500074F1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6D8BB3-64D1-4CFD-A95A-186C733D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27B876-984E-484A-8992-AFF32F23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EC6C9-B261-4F85-8792-00412D67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43534E-374C-420A-BCE7-A92A5F35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21FBD-E505-4B42-9FA3-818228CA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9801B-414B-4A2D-AA63-A4BECCF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8DC19-D9C1-4FB0-8213-1E69F9B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36CE57-2C8B-4D74-8EDA-E7B0BD5D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C2372-0C29-4A5A-B289-615FECD4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8B2E8-2375-44B5-98C5-1EFA5F44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16AE5B-A815-42F3-B094-F083C573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B237E-F5FD-47FB-BA49-F29594B4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PROBLEM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4FA97A-F826-41E9-9425-60DA9118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Protection today often means taking over.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4468B3-CB7A-4851-86AF-4A61EA6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7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When financial interfaces become difficult, families usually choose between two bad outcomes: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387D7E-A11C-4469-ADF9-881BA4B3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905500" cy="781050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07E3AB-A09C-4E09-956D-832E0B98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2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24EEC4-7B57-43A8-8837-B59857E2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384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Do it for them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49F12F-B692-433E-950F-3A49679B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480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person loses agency and privacy.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F6D0E1-9CD6-44E7-9AEA-E2EE4FD3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905500" cy="781050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CDD8C3-B944-4532-9036-D59FDC73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2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9A50E8-949F-4C30-B557-23CDBAE7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100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Leave them alone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391CA1-465C-4E6E-B13E-EDFECF0D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1955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risk of error, fraud or lockout grows.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C24EDB-9994-4B1A-AE47-9E97CD23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5905500" cy="781050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734A67-9C60-469F-826E-8497B90F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2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C868A-921F-45DA-ACA7-57C6FE44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Add another app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563CB3-0DFD-4C22-A64D-10F72D3A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911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More screens and passwords do not solve the real problem.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9545A98-823C-46D3-AC38-1E87924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524250" cy="3524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C5B3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147E8C-B7E5-47AA-9DB0-A7CB9ACE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383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59059C-C86B-4704-8A0B-B610A5B9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186" y="2090261"/>
            <a:ext cx="701040" cy="701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787C72-E071-4A24-B5CC-19B60E62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984" y="2386013"/>
            <a:ext cx="372428" cy="3724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0DF816-C85C-409A-A583-782B7EA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418" y="2002631"/>
            <a:ext cx="175260" cy="1752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E453A2-FA34-4BCE-9C0C-C17F5801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57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The missing option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CAF4A3-179C-4616-B00F-D68A517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24225"/>
            <a:ext cx="2809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85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Act independently.</a:t>
            </a:r>
          </a:p>
          <a:p xmlns:a="http://schemas.openxmlformats.org/drawingml/2006/main">
            <a:pPr algn="ctr">
              <a:defRPr sz="27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Escalate only</a:t>
            </a:r>
          </a:p>
          <a:p xmlns:a="http://schemas.openxmlformats.org/drawingml/2006/main">
            <a:pPr algn="ctr">
              <a:defRPr sz="27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when needed.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C7C1E8-46EA-4FEB-877E-C088CE55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299350-9408-4372-A64C-91682DBF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294871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435462-5626-4DC6-AD0B-30136CC8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A7DBB7-7FA9-4DF5-926F-8A0EEBB9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F8932-057A-4F7B-861A-5E53AA17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AC19B-4F07-4873-BDAD-F7ED3D0A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E3C59-63FF-40C3-919E-B5D8EF03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3BBA0-AF6E-410C-A4A3-79119FFF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C2B8F-E512-4B8B-AE74-ED927090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F91E7-728F-477D-8D06-637AFA80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16DAB-9746-4C05-AD37-83E93D39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A2D07-6B95-4FDB-8019-B4AD871B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EF79C-6BBD-4B8C-B4ED-6A3DFF51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151AE-3022-4E40-9429-79052BC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02DCF-172E-4D25-831D-B977F64D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7359A-B5A1-4DE4-B878-181F72A0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AEC3B-24DD-45C9-8C53-61CD62A2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3DE84-52A0-4C34-BE9B-0D0D98EA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150C0E-994F-4EB5-BE4B-FAAFBFEE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6AED7-E079-488D-B43E-4CDC1D27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22F9C-7ABD-4707-BA86-5536B1FE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D7AEB-F124-4C1F-A4FA-8AA37A95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89FDF-A953-457B-9812-B10A9777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853BB-687E-4B0B-B60B-1EE6F984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20301-AA3B-40D1-934D-2739AFA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43DEF-224D-4DC2-8A78-0B41CA3A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DD9B7-6337-402B-8BA0-6BCEB4DE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4212E-305A-4816-AC7D-F444EA1C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4B328-ECC6-4CF9-A868-C59003B5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B73687-E669-4E37-82CB-4271475F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98A18-2237-4A49-AFCE-3D0F4C9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805DE-E83E-404C-8AC5-02D8FEE2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E38749-9F90-406D-A1C4-E560203B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62D85-4CBA-47F6-A2E5-2E8DF345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9C1B66-F2A1-4C06-BF3D-1F48C0AA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70D93D-8157-4DA2-B731-82288455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639C13-6807-487D-B530-0E1D1AA9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WHY NOW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18270-F64A-4E4A-830F-1FF8E4B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need is structural — and growing.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C6DE26-949C-4CB2-ACEE-74FCE6C2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71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7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 massive population is being asked to navigate an increasingly screen-first financial life.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55BE73-EBB8-4711-85D0-6ED9A424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33750" cy="2333625"/>
          </a:xfrm>
          <a:prstGeom xmlns:a="http://schemas.openxmlformats.org/drawingml/2006/main" prst="roundRect">
            <a:avLst>
              <a:gd name="adj" fmla="val 13061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153C79-28B5-480C-9D7B-EED79FA0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4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 in 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0F1AE7-1DB5-40B7-8CA5-40907E14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people worldwide will be 60+ by 2030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BBB500-5F29-4F49-A73A-2B40B58F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3333750" cy="2333625"/>
          </a:xfrm>
          <a:prstGeom xmlns:a="http://schemas.openxmlformats.org/drawingml/2006/main" prst="roundRect">
            <a:avLst>
              <a:gd name="adj" fmla="val 13061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9FE28B-DA1E-462C-A118-F04B571C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43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1.4B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E1A868-987D-4948-A8C6-DB2B5553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195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people aged 60+ by 2030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E63677-5C66-4FE5-99F8-460564DB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33625"/>
          </a:xfrm>
          <a:prstGeom xmlns:a="http://schemas.openxmlformats.org/drawingml/2006/main" prst="roundRect">
            <a:avLst>
              <a:gd name="adj" fmla="val 13061"/>
            </a:avLst>
          </a:prstGeom>
          <a:solidFill xmlns:a="http://schemas.openxmlformats.org/drawingml/2006/main">
            <a:srgbClr val="F8E2E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5D14B0-746A-4ADB-A753-07F03E10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43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1.3B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EA75BE-B7AE-443F-AF07-30AC79A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people live with significant disability today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8E25FA-4DFD-46A4-B9B4-A90285B7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62600"/>
            <a:ext cx="495300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5639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31B08F5-86A8-4ECF-87C5-C5BBA9D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48325"/>
            <a:ext cx="472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OUR WEDGE: SENIORS + LIMITED MOBILITY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3FB19A-6B34-45DC-B42A-3A43DB7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C418EE-8A65-4C52-98EB-951A06A7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9512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9CF92A-FE82-4B9B-A7C7-4B3D9953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95277-858C-4933-9E13-7494ED73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E81E7-CFAE-42F1-AF8D-2F958B3C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D247C-B365-49B2-9429-6C65E918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7EB62-E19E-4F15-8357-99A5E68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8E216-6E49-4C5A-A1AB-887CE091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1FC8E-09CE-4672-8C1E-E8E151DB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8232B-46EC-4314-B84E-F9D72CA4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90264-F4AB-4B8C-A0A6-2A7F8ED2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B10FE-7EE7-4174-8335-415C16B1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D5ACF5-2B32-4F89-9C6B-FAE6227C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EF714-1CD0-4437-A7A5-5E76D803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D4C30-0277-44D4-B10A-816DF58B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E0C43-83DA-43D0-A0F5-1ABA805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745EE-2D73-47DC-B724-57BD8676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FAED8-41F2-43E3-9853-2846F545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7C4EB-CA02-418E-8EDD-F9D6640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1407-5AA0-4721-95F4-42D41B0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2B354-5F0A-48B4-BFF7-3FE448E5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1B3B2-F887-4282-B607-33B95E29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AEFF2-217B-4A22-8D86-A9ADF00B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39DD9-4B72-43B8-B5CF-DBB59422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7C52E-1594-46AB-8E29-8C7C69D6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7243B-AD13-4613-ACF3-5CF027F3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D6720-6F93-4771-971F-844AE764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C866C5-03FC-416C-84F3-FBBCF66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60DF5-A565-4787-AEE4-C9A560B6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D2982-8AC3-4B55-93AF-3E0B8856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26368C-E3A1-46EA-9AD9-7056AAE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8DEC7-67FA-4B30-86B1-322A4E26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F3163F-C1D4-410B-A7FE-E10EDE3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C6387E-C843-406E-89DD-B8FECBF4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85EEDD-E182-4BFA-BD0D-58B16938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5F6E0C-0932-4E3A-B443-08B21CA4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6BF059-AC9B-4F9D-904D-20C608D2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PRODUCT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44C71-0991-4092-A3D1-A93CE5B1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Ask. Prepare. Confirm. Settle.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42DC6C-3B7D-4889-95C0-CD1157EE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7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 financial action starts in natural language and ends with explicit user consent.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0466BC-8A9B-4755-AF91-288DD48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99faba0fa45fe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6E4E54-2D5B-4724-BEFC-E44D5D75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569414-C439-435B-A764-285B62FD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ASK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B0AECC-378F-4051-9DEA-383D4E6C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B3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BB70FD-59CF-4E0C-840D-C13FBEEC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00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5B3FF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C5B3FF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320DB0-6510-45BA-9F5E-0403B033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ac6030bfd457a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87A9CA-18CD-4941-A616-E19805A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267F3B-AB91-4B33-80D9-38E8DE22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PREPARE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A33C54-A1A9-4793-B432-0D85290F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B3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B14F7C-0DD6-4093-BCD1-82A08925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5B3FF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C5B3FF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8BA68E-D615-4E2B-A369-C0309588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a8a6e8772436a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C4B2B3-1CB6-492A-9C6E-EFCA842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624E6B-C6D4-4E71-B220-3E498DEE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CONFIRM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D324C5-D76C-49EB-B7DF-D04C3C2F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5B3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713905-570C-476C-B3EF-06F509EF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5B3FF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C5B3FF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731B48-8D16-4FDD-AA15-99A4F265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66975"/>
            <a:ext cx="1809750" cy="3333750"/>
          </a:xfrm>
          <a:prstGeom xmlns:a="http://schemas.openxmlformats.org/drawingml/2006/main" prst="roundRect">
            <a:avLst>
              <a:gd name="adj" fmla="val 14737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4d37673da40f1"/>
          <a:srcRect xmlns:a="http://schemas.openxmlformats.org/drawingml/2006/main" l="0" t="5650" r="0" b="5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2543175"/>
            <a:ext cx="1657350" cy="3181350"/>
          </a:xfrm>
          <a:prstGeom xmlns:a="http://schemas.openxmlformats.org/drawingml/2006/main" prst="roundRect">
            <a:avLst>
              <a:gd name="adj" fmla="val 12644"/>
            </a:avLst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86E91D-5E83-47EB-B2B1-F48FCD54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9436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9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CF99AF-DF05-4407-B71C-7D8A2B0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436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SETTLE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E21CF0-C06E-4205-BBED-1AB8E6B0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2EC3109-A735-45A2-873F-477F1658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211098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1B1FBD-159E-4862-8F78-E42FA332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CBD3D-8DF8-497D-A1A2-52EB5F51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9367-4362-4D1A-8D2F-6256DBA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8B353-B9C9-4ACD-9070-D7169EF9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58BDF-5400-4BE5-84FA-70525E50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66950-C609-4845-80F9-119FB27B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C3543-866C-437D-BA21-F1652707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E5BE7-CCD3-4F42-A3A8-BA1A0856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5C9AE-CA75-4DFF-8196-E0A2A555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F9268-1256-4114-B4D5-3E4AC75F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AF9C3-E456-40E2-AF89-C763AB5A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677FB-8269-4838-89C7-FC73E540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2F20F-EAFB-4386-925B-48DC769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EB9D9-E71E-4E4C-97CC-F4B25BFB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349CE-DB09-46F3-8119-7685E32F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7B001-5635-482F-B09A-1E31236A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06927-863B-443C-97A2-AF91121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9F802-A695-46D6-B94E-BFF333B0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C0D3C-EB63-4D5C-B2D4-5025ACA4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109D6-0693-4FC7-B743-A312032B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503E85-14F3-440C-B57A-F6742CD4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3E6129-A957-40AF-951E-538B8DA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38B91-66C3-4829-AF89-8E19A8C9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626F73-05E4-420E-A8BA-4F32D0C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301B5-BF25-4622-BE28-2FCA179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2BFD57-E49E-425C-B749-098D40D1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4DBE3E-EC26-4CC2-BC71-15E48700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CD2525-0BE5-45C1-9502-D068940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20747-D56A-45A4-8822-E199E034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C68B59-DD74-4154-AEDF-DDAB55DC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C05ADB-40B9-498C-87FF-2955CEB0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50152-FE4C-49A3-8AD0-DA099C3A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BA260B-6E23-4A21-B8CD-41A5CFA5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043D9-280A-411B-A280-8D010336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C18690-8EC1-41C0-A240-CF43B7C7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DUAL-USER PRODUCT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7847CD-E6DC-4115-BE14-4AA2DEF6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One account. Two distinct roles.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ACC4F3-FDE4-44E8-8DEB-7ECA27CF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separates the person who acts from the person who can help when something looks wrong.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4ACEC4-884C-4C7A-93D2-AB15CC61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4476750" cy="29146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E3BF6C-38E2-450F-B6B1-4DE75BA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DD42A6-DCFD-453A-AA90-0F287B31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0289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END USER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B61680-850F-4296-AF4C-A266AF8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Acts independently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A1CA48-3411-4C9D-AF4D-4EEC874F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Speaks the intent</a:t>
            </a:r>
          </a:p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Reviews every consequence</a:t>
            </a:r>
          </a:p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Keeps final authority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8916F7-77E4-4FFB-93ED-F03515BF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4476750" cy="29146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AB737E-4C0B-45EE-B39E-56A6958C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43225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233DD2-5D9F-4295-AB2C-C7B946CD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28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RESPONSIBLE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CC386D-3554-4339-AC34-1DABA4E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524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Helps by exception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6BAC06-6E2A-4CB7-A7AB-B62A7155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105275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Receives unusual-event alerts</a:t>
            </a:r>
          </a:p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Can co-approve if policy requires</a:t>
            </a:r>
          </a:p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• Never silently takes control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9F7FD7-B55F-4B15-910C-A2A7EAB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62300"/>
            <a:ext cx="1409700" cy="1409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8CDBDD-8F30-41EE-BB70-1C3B9A3C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381" y="3486531"/>
            <a:ext cx="902208" cy="902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F41E2A-EA02-4C5D-9FEB-6F801434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903" y="3867150"/>
            <a:ext cx="479298" cy="4792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93CEAB-3DFA-426A-BA3F-A8432B9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4896" y="3373755"/>
            <a:ext cx="225552" cy="2255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4328D9-DE70-4E2B-AF53-0DAB9DA2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trusted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relationship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E24BE7-D5FA-4B7C-B4F4-21060506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D472FD-55C8-48F1-9D00-5E6E63A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064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7F39B3-A077-4A1C-B72E-32B1FD5F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D8E81-C259-4EC9-8731-A62A739F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5729E-42D9-4012-826F-7CDC9F23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0A10C-1771-4875-8C30-35AC67B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38285-7170-4564-A9D1-1FE2E1C2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1A0C4-37B2-485D-A83E-1B92A310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D2B5ED-515C-4B33-A622-1103B55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F9A99-D37B-4E44-AC21-242E6090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71A79-D080-481A-AFB2-4D9EC95E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02475-626A-4AAD-A9D0-2316D5BE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1D680-1DFA-4EA0-BB9E-22D19CEE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0B1D2-7AF0-492B-9251-BBA882D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F9E2D-5F1A-46CC-B10C-61541D8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D8DEE-EF92-4DCD-82DF-610F5771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306EE-F251-4807-A777-C41FBEED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4AD8F-8778-40B9-B2AE-90852A6C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20EF31-F729-4E4F-BD22-1F6167A5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A0A9B-8D03-4344-89A3-B9781B5D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E076AA-83C8-49C2-BAA3-FDAB478B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53637-EB18-486A-8BAE-581298E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E0BC1-4C9C-457D-91ED-A1DF8D08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4FF371-66C5-4C72-B779-3A150C91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89203D-8DB3-4D10-95ED-14E58966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773A1E-7941-4295-9BFD-869DB314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1AD11-16BE-47BE-99EF-F1843703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74151-2EF3-4933-A623-1EA635DD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7D1932-F832-4E9B-A551-49C5B37C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6943C-FD6A-4BBC-8427-B60207B2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F431A-0C9A-4F28-A9B8-CECAE6AB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5EBE6D-0F54-4B2D-8824-1A159561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65EC3D-01D7-4907-9D3C-96378EE4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72B56A-8D90-4AC3-93E9-3BC389D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69EB6F-1478-4C88-8555-4E096A9A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21A46A-A258-4CBC-B488-C6166A72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610E28-F59E-4052-A321-DDC1EBF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THE PRODUCT PRINCIPLE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3EECA2-08E5-4D8A-8DD6-911F85F1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Intervention by exception — not by default.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2FAB07-44EA-499B-8C1F-97EA1AE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Protection should remain invisible until a transaction crosses a clear, understandable boundary.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F9130-BBFD-4C09-8188-9AA7B4B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657225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5E8"/>
          </a:solidFill>
          <a:ln xmlns:a="http://schemas.openxmlformats.org/drawingml/2006/main" w="19050">
            <a:solidFill>
              <a:srgbClr val="A9E0C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33A849-D98B-4446-9459-321B4EC0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3619500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E2E7"/>
          </a:solidFill>
          <a:ln xmlns:a="http://schemas.openxmlformats.org/drawingml/2006/main" w="19050">
            <a:solidFill>
              <a:srgbClr val="E7A8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BDF6F8-4816-488C-A23B-4FD3D383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1527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DEFAULT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06294E-04E0-4EAE-B2C7-31E8C1D2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5433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7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User acts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EA070D-91C9-44A2-BB1B-0EE8EDF9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1624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prepares, explains and executes</a:t>
            </a:r>
          </a:p>
          <a:p xmlns:a="http://schemas.openxmlformats.org/drawingml/2006/main">
            <a:pPr algn="l">
              <a:defRPr sz="15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after explicit confirmation.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3B0CEC-E38E-40FD-8783-F2AEDA7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EXCEPTION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DE3C6D-AB1E-4EA1-AC7E-49F4450E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Pause + escalate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1AD51C-0FEC-49D3-992C-9335702C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57700"/>
            <a:ext cx="214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36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3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Only when the action breaks</a:t>
            </a:r>
          </a:p>
          <a:p xmlns:a="http://schemas.openxmlformats.org/drawingml/2006/main">
            <a:pPr algn="ctr">
              <a:defRPr sz="13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3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policy or context.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DD96DD-F44B-48E3-B3EA-3226D3A9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386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A65D92-3AF5-4E0C-85C6-9B0FF6DF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154" y="4268629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C6F3A5-BA8E-4310-90C4-552A1E8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86" y="4538663"/>
            <a:ext cx="340043" cy="34004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7AF7B5-E167-4F12-BF07-9B891CE1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3148" y="4188619"/>
            <a:ext cx="160020" cy="1600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2DE672-6FCE-4947-965A-BDD9B38B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5C1EE5-98D0-4B97-97C9-FF99C4BF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28090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57250D-9785-4390-99FD-736096D9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CDB23-578A-4735-A32D-1117C61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A7BB1-D726-48C2-BD3A-48DBE52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35C4D-1A17-4EAA-94BD-4B34A7EA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09D0A-3094-4849-8D93-10A5ED15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957D0-6F5C-4B64-9CB2-C85C918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2D07B-C307-4EE1-A2D4-B719C2BB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B3B39-6772-4EF0-9A31-5F76A74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5F357-3B17-440A-BD3F-E58851EC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B9895-1C2E-43C2-BABA-B05723ED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15FEA-E608-4C10-BE07-47E1C8F8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94112D-7FA4-4B39-8B32-72FB3C1E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BCA9F-15FD-4AFE-BE1A-323195CE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90E43-AEA5-4C2F-8451-9907B958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5F3AB-4C11-4C88-B3D5-918A71A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8179B-C9AD-4F38-B4E8-4CE13898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EE1C65-022C-433E-84C2-E3F26211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AB31F-9700-4228-933E-A528C8CA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FBB660-C4FB-4AF5-BD18-B0753D32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11D38-698B-452F-AF5F-65AF916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458F2-74B3-4C36-B106-2BA87B06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AD25F-48F8-437D-9FE0-3D911E6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B9FF6-E9D4-42BA-8204-D12E227A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B826A-C9C8-4E94-AA25-7C57BBFB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8AFE34-5F69-4010-A2D6-D3646ED9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B47EF-7A0A-4590-AE0C-1FD81464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83017F-80FF-4775-887C-B87278F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39B926-95A9-4F5A-9323-2C63114F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D3D7F1-A438-42B0-A3E7-1664468E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CCF52E-1B15-4D04-B769-49D00AC4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2A0B78-9AB1-4B67-8144-D54C557D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D064FD-874D-4727-856E-30118A0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08277-23D5-4D0C-9542-F41DB39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A6887F-E8CC-4463-8422-90E019A4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E65D56-08B3-4710-85B4-93FE035B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PROTECTION ENGINE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D0D818-A45A-40A9-A384-83451D0D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Normal intent flows. Unusual intent pauses.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0761C4-FA88-444A-BC4B-04A02C4D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The same simple interaction can produce two different safety outcomes.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68D564-624C-4C5C-864A-C560A10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347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DF5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1F81A2-0C2C-43B0-BDDC-C62EEF63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ORDINARY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B415DC-F86A-42FF-99F8-2E646546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DEA430-D7EF-4870-A09E-6F07BEFB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F79571-612B-4B20-A4B8-2DC1A918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3B9C01-26C6-4F74-B6AD-637B0C14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48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5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D17E4A-840F-4CD6-9C0D-1082F75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76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2C469F-7AA2-4493-9CEB-8EB1AF5C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E8D542-3B5F-4C4B-A90C-4AB446D9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372245-9589-4AE5-A9C9-999109EA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Explain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5DF9B5-C9D6-4EB9-BA30-B8FB8979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48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5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80FD78-F21A-4E81-A8DB-56761F8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76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E644D0-E9C6-4F17-B2F9-72F90FB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C9DF8C-7E78-4D5B-903F-F46549C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D59060E-37E2-4A6E-96F2-25A7C394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Confirm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513A7C2-9F86-442F-8501-206BA1B7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48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D5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08356B-59FB-47C1-AE09-FCE5B2F1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766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32DE43-A565-4EF2-B2CD-A1D9976D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9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4EE629-D8BE-49C4-9229-BB9C57B6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F0D96D-CFB1-4F0E-8B59-9150B52E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242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Execute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020FF3-A5C5-4BCB-AA60-A7BC0AC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12001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E2E7"/>
          </a:solidFill>
          <a:ln xmlns:a="http://schemas.openxmlformats.org/drawingml/2006/main" w="9525">
            <a:solidFill>
              <a:srgbClr val="F8E2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D7CECE-E130-4205-B075-8A11D8FC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4959"/>
                </a:solidFill>
                <a:latin typeface="Nunito"/>
                <a:ea typeface="Nunito"/>
                <a:cs typeface="Nunito"/>
              </a:defRPr>
            </a:pPr>
            <a:r>
              <a:rPr sz="825" b="1">
                <a:solidFill>
                  <a:srgbClr val="B44959"/>
                </a:solidFill>
                <a:latin typeface="Nunito"/>
                <a:ea typeface="Nunito"/>
                <a:cs typeface="Nunito"/>
              </a:rPr>
              <a:t>UNUSUAL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816942-4CAE-4F64-8C81-1867004E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49CCEA-EA12-4509-97B6-873C32FA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DE1A9E-E889-46D2-BB6E-164C69EE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Intent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CC9711-8EBB-4D84-AE4F-F66160CC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86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495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7BB907D-74D7-4552-B0B9-E58F240F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D1D0CE-DC0E-401D-9D62-8218CD15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279C9E-5432-4850-ACD0-EFC16E1E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FD7993-C4E3-49B7-A89B-509DE0C3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Detect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D707B02-C60E-4FF9-8BA3-9A679D90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86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495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B4FDED-326B-4AA7-A9B1-3C92424E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A710B8-387B-4112-86C1-218D2636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C13D1C-8DC5-4A53-923B-F5DE5292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618A49-1EAB-40FA-8318-3F336103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Pause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48F5857-7001-4325-942F-45BA77A9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863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495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5E90175-3D1B-4875-A734-E5CA91B0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9149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32F0EC3-7718-4023-9D93-63965ABC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482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7C71DF-1542-4695-A33D-87F7E20E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244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764CEF-5523-46D0-AACC-BBA31282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625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Escalate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54F2310-7ADB-4C18-B679-769A1C7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3AA3B8-0859-4905-A733-96F55CF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77429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BAAF1E-1779-4031-B33D-2B3CF8F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32B82-E4E8-4A96-8235-0B6D5C1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B3690-FF00-4644-B0DD-28F92B4B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4DE5-0D8E-4B64-BA6E-540AE795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79F58-E19E-4A7B-87B8-F79ADDEB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9D1A1-8145-492C-92DD-A289C01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2F50B-D285-4CF7-AE1A-89A0F379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15130-2B49-4C74-8CAC-C350D465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955BB-49DD-40C2-B323-D16D95B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3FA49-27DE-4664-9743-2B8D6A0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18588-85CD-4BA2-952F-50CD1571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AD97E-9FF6-425C-80A7-3DFF9E72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A73B2-6F98-4B75-8981-2C3C782F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8ED9E-F10F-4E41-8130-4CBA3181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3BEA9-AEA9-4E10-86C3-1F12C99E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BE190-D583-4121-A681-8DF6D80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A00FE-2C3A-4564-8AC7-EFC25534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2F08A-378C-43E9-AAA1-2116A1B3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69BA7-789F-4D7E-9B8E-289D4144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B6193-9A56-49DA-B484-1D223AF5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40B22-3362-4B4C-BF1F-2D282695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F79D0-45B4-452D-B971-712F62CD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2C273-39CF-4B32-B55B-1DFC48FA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93A82A-D4E2-45A5-A933-8B9FC04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EC605-1ADA-4E54-A1FA-1F1E4C1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2D37E-A21B-45C9-BEAA-85C2F1F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94D2B-F9AA-4F44-8CC2-E6921A40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BE5B31-9BBC-4B53-AC63-309689DC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3351FD-2BA3-4FE0-9B3A-F7F1027C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A5A68-D929-43B8-9020-72AD3F02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CA89A2-9782-421A-9CF3-E05EEFC0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D5C8C-A515-4A2B-AC98-0740DED7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ABF1E5-1075-4BA1-B789-3E064892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C57BA5-43FF-4276-B745-FFA3E0A9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61BE8F-E90B-4122-9ABA-956E7D0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DELEGATED 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C9B605-F2F9-4FD7-9ABE-53FE7D7E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9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agent can act — inside boundaries the user controls.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8E4914-08EB-4100-AF37-202E321E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6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Authority stays with the person. Agent permissions are limited, transparent and revocable.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2C5B39-230B-4F22-9ED6-328231D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7FC365-6860-47B6-B57C-384A08CC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0803C5-79B7-4299-85E8-38E498D5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AE6A1A-1683-45A0-A907-6ADAA785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USER AUTHORITY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25C8E-F2B6-426F-A9B2-322B86A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Defines who can do what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0FF26-D2B4-4341-A2B2-74F548D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38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4A6B35-1A2E-4805-BB48-DEDDBAD9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67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90DCBB-8224-45C7-9F2E-488FA0C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165A2D-8865-4EFB-83BC-9295E3C7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86BFD-ED84-41A9-B07E-25B9B2A2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316306-39B7-49BF-9934-8E176128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POLICY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A8F919-D56D-4348-B8E6-1901336F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Limits, recipients and escalation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38C5EF-491B-457D-B061-905A0760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8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17FCA5-A89E-4F1B-A1BB-39DCDD4D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67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704BFB-4220-4BBE-9E09-F1D163B6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D7F3A0-B125-4F0C-9793-4B6CF57C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A9B0DF-5F7E-4E9A-B0B9-41ABA9E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EC54F9-07E2-4705-B8E2-41F8833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NANA 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173C4B-9AC8-48C0-88A7-874B0D72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Prepares and explains the action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1F9FB4-C110-448C-BB00-BF1F862A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3860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BEDDA8-7772-4DCB-8A0C-E30DBF8D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1BC887-95E1-4EEC-BA4A-D58D8E60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0375"/>
            <a:ext cx="2362200" cy="2076450"/>
          </a:xfrm>
          <a:prstGeom xmlns:a="http://schemas.openxmlformats.org/drawingml/2006/main" prst="roundRect">
            <a:avLst>
              <a:gd name="adj" fmla="val 13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63AD044-1070-4CE8-9FCB-8F428724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48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3424E0-42CB-415E-84AC-8396104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242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9DCA18-36C6-44F0-BCAF-0BF3466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14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12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EXECUTION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8D272DD-AD10-4F14-BCEA-D37E7E0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Execute — or hold and escalate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C460CC-2216-4676-8F98-AB4F628D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673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9525">
            <a:solidFill>
              <a:srgbClr val="17151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AB6099-52EA-4C9A-89E5-E88DF6F7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530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BOUNDED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B4AFEA-7D32-4C80-9622-1D3BF790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467350"/>
            <a:ext cx="1619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9525">
            <a:solidFill>
              <a:srgbClr val="17151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DF71C7-3BBD-4BE1-A935-3B601D4E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55307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TRANSPARENT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400865-6979-4DA1-973A-7C4B8AE9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142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9525">
            <a:solidFill>
              <a:srgbClr val="17151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182593-6A87-49D9-8212-70645C51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53075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REVOCABLE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9EDB8F-E405-415E-A290-25B28CD0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467350"/>
            <a:ext cx="18478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9525">
            <a:solidFill>
              <a:srgbClr val="17151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201897-7471-4CDB-9D98-9737818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553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USER-CONTROLLED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01E7AC2-7F5A-4B6F-A78E-77706D76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C11B4D-59AB-4CC6-8D25-1493F7E0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599651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2A4AF3-01D1-4EBB-9611-87726B40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35A7-0B88-4666-9D55-C6EABD4C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38EDF-13B0-443E-9948-98CF5C3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D7A4C-2D1E-4F0F-9426-305640F8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F8EEE-546C-4A29-8FA2-7973BEEB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975DC-0DD6-48DE-B520-E0630788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B0C5B-4D32-4508-9B18-AA8592B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5EB67-BD45-427B-99CB-B50F515C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667E2-802F-4E9C-9BA0-F0A40936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72A27-051F-4F48-AB5B-0119A1DD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06333-C085-45F3-AF74-F35A72F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BF5A8-36A0-4044-A5DD-FE73FC56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AE468-2841-4737-BD0B-A9613B1A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09924-BFC5-4DF3-9EB0-A66BB3AA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16BB4-D5F1-4609-8D65-B315B17E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5F98A-A887-48D4-A168-4844C6FB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5ECEE-706B-476A-BA19-5C0836C2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C6639-CFC9-437F-B12A-B34CE1CC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72AE92-0F69-4AB4-B299-9868C952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D5A2C-C37D-46E3-903A-FF55E0D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6BE55-5332-4811-9669-B8D7ADF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C391A-0395-4F7E-9A24-793FB595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6CC33-8BBC-46E0-84ED-3660E00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54580-92E9-4A0E-A5D4-803A2546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1C64CF-117C-443E-88BD-E88DB4FA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BB0D2-D0AC-48E9-AC09-B75078A5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983B0A-8A06-4049-96E7-50167F61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5F2F37-8C53-4057-8749-2E8A9893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7B807-7F23-41E4-82F9-45E7ADC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4FDC1E-A42B-4922-B91A-CDDB62B7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B9DE6-92EB-4743-83B1-A5304DE2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82AD2-CDA4-4933-ACD0-8280537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6B9A0-0812-49BD-84ED-29B8AD4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AE6289-A459-4B4B-8B21-6CDA4431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09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0CBA80-1548-458F-849B-07AC2F1F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PROOF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E9A23C-2DEE-4430-A196-367C4076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first agentic transfer loop already works.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0E438-782D-4188-B3BB-9FD3DA89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6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We built the core interaction, shipped a safety floor and validated the direction in public.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184622-BA82-4DC5-A8D0-CAFFCEAF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EDE8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0EA012-2A11-4E17-8B9A-EC512D8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ED08D8-6E14-4FED-ACB4-574DFF64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AGENTIC TRANSFERS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D25600-131B-4D8E-83E9-D6C08AF0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724150"/>
            <a:ext cx="238125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DF5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E29D8C-16DB-4766-9163-4CA29C44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33700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F7D5A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2F7D5A"/>
                </a:solidFill>
                <a:latin typeface="Fredoka"/>
                <a:ea typeface="Fredoka"/>
                <a:cs typeface="Fredoka"/>
              </a:rPr>
              <a:t>2nd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473555-791B-4807-A231-1DE6FD5E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528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TETHER WDK HACKATHON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E1FEAC-265A-46DC-927E-94DAF6E1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24150"/>
            <a:ext cx="2381250" cy="171450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8E2E7"/>
          </a:solidFill>
          <a:ln xmlns:a="http://schemas.openxmlformats.org/drawingml/2006/main" w="9525">
            <a:solidFill>
              <a:srgbClr val="F8E2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53C16E-DB38-40CF-B22B-60C2DAE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33700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B44959"/>
                </a:solidFill>
                <a:latin typeface="Fredoka"/>
                <a:ea typeface="Fredoka"/>
                <a:cs typeface="Fredoka"/>
              </a:defRPr>
            </a:pPr>
            <a:r>
              <a:rPr sz="3900" b="1">
                <a:solidFill>
                  <a:srgbClr val="B44959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82AAEB-1E1D-4D5C-B80A-C4E6C101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52850"/>
            <a:ext cx="1857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17151B"/>
                </a:solidFill>
                <a:latin typeface="Nunito"/>
                <a:ea typeface="Nunito"/>
                <a:cs typeface="Nunito"/>
              </a:rPr>
              <a:t>WORKING DUAL-USER LOOP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F119B1-ED1D-4A82-94B4-1F56EA0F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152650" cy="3714750"/>
          </a:xfrm>
          <a:prstGeom xmlns:a="http://schemas.openxmlformats.org/drawingml/2006/main" prst="roundRect">
            <a:avLst>
              <a:gd name="adj" fmla="val 13274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5ee015f9340ff"/>
          <a:srcRect xmlns:a="http://schemas.openxmlformats.org/drawingml/2006/main" l="0" t="8852" r="0" b="88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2476500"/>
            <a:ext cx="2000250" cy="356235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A1AC66-0C51-43C2-8DBC-22FCA006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Built, not rendered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104BA0-44A3-4B10-8EBB-6A402719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Voice input · intent parsing · explicit confirmation · receipt · unusual-event controls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81F9AB-BAAA-4877-B7D7-182CB99E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208DEE-FB99-4D8B-A781-C5C1B9A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72131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99397F-0025-4F29-9C6F-F906C5B9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403B1-DF79-41F9-8640-28C9687E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22B42-259F-4DC3-82C9-4F4FF479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E95CBC-E063-423A-8C84-883B2724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DCE29-F51F-4D7B-AF18-4326B38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1DF16A-9D8E-42D8-B671-987C6C37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B197B-F16F-466D-B1C2-6C7B6ACD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37E03-3DEA-45C1-8AC7-457F52B0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2728E-36D9-4460-80B2-DF785D2F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483B9-C3B5-46FF-B1E2-393C3B4B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B586A-E3F3-421F-908A-A49DE30B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2CC25-661C-4931-B928-7B288BFB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C177A-4878-4610-8BFB-08C66251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CAF2-A524-4AA8-A959-C062380F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97A1A-366A-454A-BA91-7260EFF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BC708-F676-4B0C-AA03-D45AC89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B4B566-0C7A-4993-BD9D-CD36F79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1E056-0B41-4527-8373-1A75880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7462F-BC7D-4889-BB85-C54D2F5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700E85-ED60-4A6D-976E-ECCA500E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D2036-833E-43A0-8171-14B2BCB0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7E5AF-E87C-42C6-A00E-CE3B4FA9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4EB8F-F246-4D95-817F-AD3A335A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AF2B9-7C49-493D-AE40-CA183013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4D790-BBA7-434D-A486-9D15DA07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87B60-F020-43A5-BE06-A491E2CC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45813A-CE00-4DB5-8FF3-808FAB7D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17BCCB-72CE-4739-B845-FA5AD7C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89CD0-B5A5-4103-8729-C1F2CA1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8C9DE3-29C7-4C1F-A4B4-917700CC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001C21-5CD7-48BE-94B6-D90564C4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D227D-EB26-4FEE-B0C5-C6512A7F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DECF5D-126E-40DD-A44B-D117C6AD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1AA37-D4B8-4A36-AFCE-00F394A9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08C13-DDCB-471A-B125-1E8EA9E0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OUR BOUNDARY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D44189-4F4F-47E1-8290-FB155BD6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 owns the experience and the trust layer.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0CD348-2AAA-4A78-B8B0-1AAF04A2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Infrastructure can evolve without changing the user relationship or product promise.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C40D9C-7095-409F-A5DC-6FC33133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381625" cy="3048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5639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D2245D-54B6-4F7A-A13B-54683A0A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NANA OWNS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F92E3-2CAA-4D4C-A290-B6A1DB51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88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9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product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9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people trust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E92568-51D9-4987-A663-3C1004C6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EDE8FF"/>
                </a:solidFill>
                <a:latin typeface="Nunito"/>
                <a:ea typeface="Nunito"/>
                <a:cs typeface="Nunito"/>
              </a:rPr>
              <a:t>Agent · voice UX · Family Graph · Protection Engine</a:t>
            </a:r>
          </a:p>
          <a:p xmlns:a="http://schemas.openxmlformats.org/drawingml/2006/main">
            <a:pPr algn="l">
              <a:defRPr sz="1425" b="0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EDE8FF"/>
                </a:solidFill>
                <a:latin typeface="Nunito"/>
                <a:ea typeface="Nunito"/>
                <a:cs typeface="Nunito"/>
              </a:rPr>
              <a:t>policies · orchestration · user relationship · brand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FC37AE-F5DE-4860-8703-5F6913C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5162550" cy="3048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6C41D-02BF-4014-A530-82491AAA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813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PARTNERS PROVIDE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0D04B9-1FF5-47C7-86D5-5A4D658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0425"/>
            <a:ext cx="409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6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rails beneath 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C2C41B-A3A2-4B42-AFC5-C3D45D1A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Wallet infrastructure · stablecoins · settlement</a:t>
            </a:r>
          </a:p>
          <a:p xmlns:a="http://schemas.openxmlformats.org/drawingml/2006/main">
            <a:pPr algn="l">
              <a:defRPr sz="150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50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fiat rails · KYC · bill pay · liquidity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B7A4FF-0BB9-48B7-B6ED-4704A0C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72075"/>
            <a:ext cx="20764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DF5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BD8592-E011-4084-B887-6AE9CC39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257800"/>
            <a:ext cx="1847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WDK / USDT · PROVEN PATH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C94085-4C33-40A0-9F69-7192451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72075"/>
            <a:ext cx="2143125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EDE8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12CF25-11B8-4008-89AB-624A4D36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57800"/>
            <a:ext cx="1914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ARC / USDC · EVALUATING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63EC00-CE4A-4BDF-9FA0-F686624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7E0F10-11C8-4F70-90E9-0473842B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1996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20BEEE6-AFD6-4DB8-8140-9DCB48F9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803D2-3989-4209-B788-CADE43B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E654-DBE8-45AF-9CB1-DE621CD7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3C99C-E263-4C0F-8E93-4154B64D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9AA67-A56A-40BC-B8C3-403647F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8013B-EC41-4830-9A2F-B3F7665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F6545-DDB1-4057-9A1B-7E9D2CC3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9EF03-AFB4-45D7-BE7F-F11BC7B6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8DB91-46D9-4635-A738-1FB1EDB2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BD96D-72D6-408E-9095-F7A2F161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4990B-398A-4925-A749-CD0A64D8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6A979-1AA2-45DD-9E8C-E1446C7E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EB5BD-C91B-49F3-862D-0D2C0A1E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D583A-3D4F-4951-9B7F-236B4551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F5FDA-8482-4949-9169-CA0E1A0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96435-B6C7-4057-91CF-29E241CD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58BCC-B23B-4AD5-962F-91B6EC8A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04C4B-A7DA-4AE4-A365-C6F7820D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34E5E-D631-4435-8F72-748049B5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BD7CB-F8D1-4669-94FF-F626FAA8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D518D-AC4C-418E-97DD-44EA0E05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DF2B52-4F8A-49AF-96F9-8D40D79C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14112D-9735-46D1-A18D-59BBF58C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2E297-419D-4B09-8CA8-2F748265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69910-D65A-4E14-B247-8372AE29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F63BB4-E573-4E1E-873C-9F601413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26B246-F0B2-4A8B-ACEE-2795295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CDBD5-9AFB-45B5-A875-74AEE502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CDA492-8205-4174-8682-5BD0233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2CD26-6614-4708-81AA-7B688374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56894C-2701-4701-A512-711A116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0988F9-0B16-4B21-9082-76A0674F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0C9FCB-160A-4488-9440-902813FC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A5524E-696F-4FA2-AC5D-1A15D204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BF622-0373-4D64-9B22-E7635AFD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BUSINESS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1067EF-6B5A-4B81-A6EA-EDBD2148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Three hypotheses. One non-negotiable.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29F229-F668-47B1-A83F-BCAB7A26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We will validate monetization without putting the safety floor behind a paywall.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15A21-B758-49AB-9D38-3467FB44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333750" cy="25146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A57881-2393-46FA-B833-D5480B2E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5D2B53-81CA-45E0-A3F1-B8E82EE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14650"/>
            <a:ext cx="12192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8B577-3A8F-4C33-8C23-862BCFFC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HYPOTHESIS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70B89D-E51D-4170-A257-9A352819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Financial activity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61AB59-35D7-4AA0-8375-9A12432A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Revenue from transactions and embedded financial flows.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FDF091-31C6-4865-A6A9-06C6797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3333750" cy="25146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4A371-A480-4C06-8990-B622A616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61A12B-F8AD-4CF7-B1B8-5753160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2192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3EB7B0-BED6-41AC-A585-629F9F31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0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HYPOTHESIS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DC5012-ACEB-4E86-93BA-4E713671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 Family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7D734C-050F-4612-B4EB-17541A99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243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Paid coordination, visibility and family-level controls. Pricing unit: TBD.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CE283C-0484-4C31-94DE-C8AC48E4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3333750" cy="25146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E72186-0EC7-4AFB-A499-B4BA37DB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527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3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02F59C-C83B-4C6B-A61D-811432A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2192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1E81AD-A69E-4DB4-AF0B-EC13BB3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00375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75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HYPOTHESIS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C59051-6E49-426B-A465-1189D29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0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B2B2C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7FDCE8-B0D7-4B8F-A6CD-F860B3BC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243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42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Distribution through institutions serving seniors, families and care networks.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401A65-6CBD-481D-9A8B-368111D5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543550"/>
            <a:ext cx="7905750" cy="552450"/>
          </a:xfrm>
          <a:prstGeom xmlns:a="http://schemas.openxmlformats.org/drawingml/2006/main" prst="roundRect">
            <a:avLst>
              <a:gd name="adj" fmla="val 44828"/>
            </a:avLst>
          </a:prstGeom>
          <a:solidFill xmlns:a="http://schemas.openxmlformats.org/drawingml/2006/main">
            <a:srgbClr val="17151B"/>
          </a:solidFill>
          <a:ln xmlns:a="http://schemas.openxmlformats.org/drawingml/2006/main" w="0">
            <a:solidFill>
              <a:srgbClr val="17151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110358-1B4C-4C94-8A78-B2AC7F0E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1500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125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THE NON-NEGOTIABLE · CORE SAFETY REMAINS FREE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09707F-DD81-45E1-837E-E96876DE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E97C6EA-7C1E-4EB8-B1FC-C7512E9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81396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C6FCAE-98E9-404B-8B31-FBA54499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A98F5-C573-43B6-A8CC-8ACDE2C4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4039E-1DB2-45BE-9F08-F09A2D91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42CCE-7A99-47AC-BF4D-4495992D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AFADF-85EE-4791-A643-99803ADB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DE449-E510-46F8-9E78-2998400C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54BD1-8069-4EEB-8216-FA5B4431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D83D9-63C4-42F4-A2BD-06AB5F2F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5A9FC-685A-47FD-9387-9276501C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00233-D1C2-4B8E-B4CD-32E4230F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A9A08-E5AE-4990-ACCA-299C66EA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99FA4-F779-493F-B96F-E6AC12CB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413A2-6606-4A8A-BCD0-AE6CE28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D3A7-D4C2-41D3-AE42-8FF1685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00462-4FA4-4FB7-84CC-A7B7C498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1398A-ECDA-4161-A761-2A3B2A47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60415-A3A1-4854-BEB7-948555FC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13F18-59CD-42AA-A970-59AC70BE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8818E-7CB7-4746-9B9F-0B4793F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6803B-9095-4115-88D7-E1300C2E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D2C0D-A1C0-4F69-A069-5BD5CF4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507A2-C8C1-4F7F-B720-B3E2BE0E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403C2-C1EF-4206-8F7B-92914DBC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3DD55-63CD-4165-A979-3E641DC5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EC4A6-CC89-45E1-A619-3DBD97D4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39D4E-CEB6-470E-9697-94F5A8AC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F438D-0AB1-472C-B61B-D30AC566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871E0A-3A71-4344-94A4-8E77533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A8FD7-E766-448E-A42C-C01D0F1C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8E9FDB-AB83-4158-800D-64EFD76E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B650AF-5CA8-4582-BA80-519B3D2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523608-0D7E-4620-A1F6-0DDAE4F0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7F00C-1525-472A-85D5-CD2366E8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DB1D42-AB65-42C1-9938-F1D0319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AF2B1-8AB2-435A-AC87-3F20813B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EXPANSION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F727DA-9A09-4EA6-A2B3-674F4F74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focused wedge into a broader financial primitive.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D1BFEE-441E-4412-9B50-3DBA4E2A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866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Start where the cost of inaccessible finance is highest — then expand through trusted relationships.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9EB7D4-A069-49A9-89EB-DF8DFD4A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038225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C5B3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8D574B-2F4F-4796-A4FD-88F55B56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38475"/>
            <a:ext cx="7524750" cy="2457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E92419-688E-496F-A2A2-3F84659B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3857625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5639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4D114C-8F5C-41B8-88E4-8DDC45DE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60C7D9-827A-47C3-A585-0C15FE94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Seniors +</a:t>
            </a:r>
          </a:p>
          <a:p xmlns:a="http://schemas.openxmlformats.org/drawingml/2006/main">
            <a:pPr algn="l">
              <a:defRPr sz="21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limited mobility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293C43-9E22-415F-8EB0-B21DFD48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Accessible action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B0A580-DC3E-42FD-B31A-A2B3FE64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385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802999-B1CE-4833-8A50-0F5B512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766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Family finance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0D25E4-C979-49B8-92BD-332BC9CE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862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275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Trusted coordination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C86E58-6EFC-4BF4-B98B-9AA19656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05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CBFF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D8CBFF"/>
                </a:solidFill>
                <a:latin typeface="Fredoka"/>
                <a:ea typeface="Fredoka"/>
                <a:cs typeface="Fredoka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9EB93-CCA4-4AA4-86A7-30F391D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86225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Delegated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225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finance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E8D2AE-1B3A-42AF-8502-8E4CF2F1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7A3135-327C-4915-99E0-994293AE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41221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767EBA-DB4F-4BD8-91D3-FED4646D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C1E42-C385-4D6E-8505-A33A6FFE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AFF2D-9610-4230-98EB-AB9493B4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93E00-D529-4C66-B00A-A677E50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F75BD-1AC1-46C5-B7F3-EA179495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03D02-C52C-4A92-A2F2-44B62AD1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FAAB5-FB6D-4A87-AA53-56036333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8E0E3-7238-4BB7-BCB2-43BB2056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26EB6-9DB4-469A-8D8B-25813959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2B668-1757-430E-91B1-5367EF78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06757-A01A-4F9C-A16A-58AEF381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7AB7F-62DE-4C17-86D9-A9493C5C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51D7E-A534-4BAC-A134-14F5BD6B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2BA07-512C-4DAE-A596-66381D72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A44F6-87BA-41E8-BC6C-0FDDE4D0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018FD-671A-4955-B287-F9F05158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FE626-B37B-4A2E-8705-B90F38C9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C8DA0-270A-4E61-BC68-D70E6E59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94F23A-AB68-4D18-B8A8-D8DEA8CF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87FEB-893C-41E7-83DD-2A22377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75715-B14B-4336-8E75-C68CA6A1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ACD39-5946-4B3E-B6E1-171F15DF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E0A4D-C9DE-43D3-B7E9-C7493D77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B0EF9-6E02-4EEE-AE80-A40841C2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3EBE3-0F70-48F5-A7DB-ADE96A57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9EB63-7372-4D72-907E-866EB9CF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E96031-1BEF-4182-ADD7-32FE3DA3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A1CBE6-0BD7-4042-AD24-129CEF55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86894-33DA-4ECF-922F-0DA84A50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F07F0C-297F-498F-B4DB-3211025C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9C0434-0D23-4853-94D7-8FE02063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7AEDAD-36F9-4014-AE44-DF99AEB3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C53AA2-F98E-431A-8440-D8C8B740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7E8FCA-1EC9-4B0A-81AE-07FB2853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D7BFAB-E43C-4866-B42F-C6F85631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GO TO MARKET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CEAA63-216B-45D0-A04F-3D203677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responsible person opens the door.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DE45E2-F3C6-4D22-A4F7-74B52EA4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Distribution starts with the family member who already helps — without turning them into the account owner.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CC8B24-BAC2-4FD3-98A4-73FF873F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3333750" cy="2457450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230645-2665-46BD-87FB-95BCB3E9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050322-215C-4895-9E25-280F619C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71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F44D82-B30C-4AE4-B6D1-2193C6B5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DISCOVER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15D7F2-7806-4AA5-BA6F-18763928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daughter, son or trusted person finds Nana.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D3F7FB0-A78B-4CB6-9C8A-E5B047AE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8457D6-A8B5-4E1A-B4E4-19E7DBD2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98F6E5-742A-4944-8A8A-E6158C6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3333750" cy="2457450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31C493-CFC8-4995-989D-AEF112C9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04CA84-B169-4DCB-A567-2BF94521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71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8886A0-78BB-4EDB-90C2-591A1260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90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ASSIST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F97084-2DF2-4229-8FEA-7906E83F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957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They help with setup, trusted contacts and preferences.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378973-D6C4-4ECE-A031-BA83F8E0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57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639D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03D183-CEA3-4B0F-AC78-1A7114E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0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24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DF65FF-8371-406B-A0F2-18E7E41B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333750" cy="2457450"/>
          </a:xfrm>
          <a:prstGeom xmlns:a="http://schemas.openxmlformats.org/drawingml/2006/main" prst="roundRect">
            <a:avLst>
              <a:gd name="adj" fmla="val 13178"/>
            </a:avLst>
          </a:prstGeom>
          <a:solidFill xmlns:a="http://schemas.openxmlformats.org/drawingml/2006/main">
            <a:srgbClr val="5639DD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9D335B-E691-4C99-9937-3BB5A39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217121-C812-48BE-BA58-DA41D328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71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430E60-BABC-4451-9520-8E5BE084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CBFF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D8CBFF"/>
                </a:solidFill>
                <a:latin typeface="Nunito"/>
                <a:ea typeface="Nunito"/>
                <a:cs typeface="Nunito"/>
              </a:rPr>
              <a:t>STEP BACK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126B21-F05A-428E-87E0-8EEAF36F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165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end user speaks, confirms and keeps authority.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0D4992-7C77-4132-8F2B-CD4DD77F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0547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75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Acquisition by trust. Retention by independence.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1D1C47-0C71-4069-B87A-E484EA74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0916B6-9533-4AD1-B7F5-58E043A9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551862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737239-6494-428E-95F3-BE957A3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90FD2-93C7-4611-897F-72102D4B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6BE98-1475-48F2-AEA8-B78AC55D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2D993-D59C-46CD-A26A-D1A1A8E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D1E3A-4D80-4131-87BD-90008910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B09AD-EC22-45A8-BACC-73A946AA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6A1F6-71CE-4708-8145-FC317217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BA48A-5940-43B1-A078-BD0C355D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408E8-8C1A-4FC0-A809-C24C7E7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E66F5-F647-4ED6-92BA-4797CC3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8A19DB-67F5-4C8E-A079-9B3A066D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2DC42-BEFC-4BB0-B2BA-A1F90D8C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E6B2F-E397-4A22-A5C9-813F02C9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FBD91-60F8-421D-A03A-7280D13B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061B2-3834-4FC7-8925-C59FC8FC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57C1E-D319-44C6-9569-77070665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1D23D4-140E-4055-BC9A-AA295FEE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07D26-6F17-4466-A516-E2F92363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3EB8A-D92C-46B3-8D2E-D63F2909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CCB79-9352-4837-B963-572EB3BD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4E77B5-66B1-4A71-86BA-160DECB8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A8B15-61BB-4CDF-A2B6-C502DCF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F138BD-565E-4CF2-BB2A-A229D6FA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4728A-4787-4A27-B209-0CAEB387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696EB-4EEE-4B0E-9F47-66B2CC41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D294B-118B-4576-8E06-E38E9C36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BF45-6401-434B-8C6B-13C92B09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39E6B-FAA9-45E1-8267-3D9B9717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F841D-E0A1-4F6D-BF55-89606AE0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B357A-F89B-4E50-98C2-4877B10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6E80D-D2EF-4A9E-AFFB-AA9907A8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AA1A2-E1E6-4BB1-9572-C6A40346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63505D-CCAD-4F11-AF94-24797741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F5349-9362-4D77-AB23-2C05D927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0EE944-01CD-4A48-90B8-CAC4F183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EXECUTION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83FD83-C840-4953-8A6B-0EB4CFBC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A working core — and a focused validation plan.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C2E1F0-A9A6-4924-827C-4FA10515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What exists today is separated from what we need to learn next.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F7BB38-F1D8-4F86-A230-A29A4DFB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238750" cy="3238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5E8"/>
          </a:solidFill>
          <a:ln xmlns:a="http://schemas.openxmlformats.org/drawingml/2006/main" w="9525">
            <a:solidFill>
              <a:srgbClr val="DDF5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AF1354-F741-4D78-B3B6-0C5C0BAD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9906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AB5F7-361B-4FB3-9E21-F78FFF3F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7D5A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2F7D5A"/>
                </a:solidFill>
                <a:latin typeface="Nunito"/>
                <a:ea typeface="Nunito"/>
                <a:cs typeface="Nunito"/>
              </a:rPr>
              <a:t>BUILT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25F747-294F-4F8E-8184-613C15A5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3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Working product core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63E929-D0FC-4688-ABBA-282E69BC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3905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Voice-led intent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Agent prepares a transfer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Explicit confirmation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Transaction receipt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✓ Dual-user safety concept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575962-BD62-4205-87C2-F7D2AE0E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5238750" cy="3238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EDE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0DD11D-7D6A-4799-8EB4-BDFBC5B8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24175"/>
            <a:ext cx="1714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3F9271-D865-4F13-A66F-F78BE38F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C239F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3C239F"/>
                </a:solidFill>
                <a:latin typeface="Nunito"/>
                <a:ea typeface="Nunito"/>
                <a:cs typeface="Nunito"/>
              </a:rPr>
              <a:t>NEXT TO VALIDATE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355325-658F-4149-83BF-6AAF673D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147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32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The riskiest assumptions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656E09-B085-444C-B1EE-D4B00C6C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4191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Responsible-person acquisition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Family Graph configuration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Escalation thresholds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Nana Family willingness to pay</a:t>
            </a:r>
          </a:p>
          <a:p xmlns:a="http://schemas.openxmlformats.org/drawingml/2006/main">
            <a:pPr algn="l">
              <a:defRPr sz="1575" b="0">
                <a:solidFill>
                  <a:srgbClr val="17151B"/>
                </a:solidFill>
                <a:latin typeface="Nunito"/>
                <a:ea typeface="Nunito"/>
                <a:cs typeface="Nunito"/>
              </a:defRPr>
            </a:pPr>
            <a:r>
              <a:rPr sz="1575" b="0">
                <a:solidFill>
                  <a:srgbClr val="17151B"/>
                </a:solidFill>
                <a:latin typeface="Nunito"/>
                <a:ea typeface="Nunito"/>
                <a:cs typeface="Nunito"/>
              </a:rPr>
              <a:t>→ Infrastructure path by market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CAAA0B-88C3-409D-B670-CD7E2D99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BF08A8-5FED-46E4-847E-0C1A9B4C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182682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814527-C35F-47F2-A9CD-F370B4D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0E92D-7C76-47E6-8FBC-387394B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F4651-EF1F-44C4-820E-F1AA4782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61339-CAC0-4FE8-883A-A3015A83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BF569-6E03-49B7-AD1F-770A0347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86C6A-9330-42BA-8573-3377EFE2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E0B0B-E378-466C-A77B-1EEFC646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39878-99DC-4BC6-BBEF-8C7A0BB4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A127B-AE30-4520-BFE7-D5A9DEB2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C493B-9236-49C6-B067-F428370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C6936-BA8D-4371-B741-1350B3D6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F31F2-81C7-4357-90E2-1FB6907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461EF-3FE8-4904-A795-B26FD843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54AC7-E886-4223-8E5C-1E05305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03795-9507-44C1-9438-64C8F4B9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45CF8-E861-4054-BA4D-8927DFA1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1216A-051F-422C-AB28-A4053E20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E8C65-E2B5-49BE-AD7E-DFBECF0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493C5-6EBA-4779-9046-6D0D699F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00596A-1EE4-47EA-BDFB-BF59935B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C288A9-6208-49F1-AF59-FBDB540C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0C3607-DBA6-4F48-B171-171DD908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DB1403-F62B-4796-866F-FB74929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572116-90CC-4044-8AA2-8E2489A1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8DEFC-708F-468C-8FAA-DD8CDC9F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794B8-D6AE-4467-8113-25D201C6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EFD2B-319F-4365-96D9-5F135DD4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0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2BE7B-5DA0-4962-BDD2-237C2EF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B093D-F48F-45DD-A80C-19CEF58C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350520"/>
            <a:ext cx="975360" cy="975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B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BB853B-6F63-4CE9-B8CC-6B67EAA5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760" y="762000"/>
            <a:ext cx="518160" cy="518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3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056CF-DB18-4955-B375-2067B4CC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228600"/>
            <a:ext cx="243840" cy="243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37FDE3-12AA-4D05-917E-78863017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106551-A55A-4E2A-B638-B130CE9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21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2DD45E-FA1F-4CCE-B817-9134EEFB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42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843544-DF58-44E3-8533-77E204D9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4953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00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TEAM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246920-EFFE-4FC6-A1F0-92ACBD8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3300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Four builders, one product thesis.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C9AB0A-BFC5-49B2-B2E2-ADB011FD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2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1650" b="0">
                <a:solidFill>
                  <a:srgbClr val="5A5860"/>
                </a:solidFill>
                <a:latin typeface="Nunito"/>
                <a:ea typeface="Nunito"/>
                <a:cs typeface="Nunito"/>
              </a:rPr>
              <a:t>Product, mobile, agent flows, wallet infrastructure and voice — built together in the open.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A91567-351A-4872-80FE-525B1864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759d732cb424d"/>
          <a:srcRect xmlns:a="http://schemas.openxmlformats.org/drawingml/2006/main" l="0" t="7176" r="0" b="7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6775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C41A7D-DD7E-4822-AF11-0BAA72E2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Robertino Barbuto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CA33F-315F-43C0-B490-79B9D56E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@rober8b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5F2170-0E89-43FA-A9A0-F29AE281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15bee8cd84c0d"/>
          <a:srcRect xmlns:a="http://schemas.openxmlformats.org/drawingml/2006/main" l="0" t="7176" r="0" b="7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78DF28-2240-4397-B6DD-B1807002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Ramiro Carnicer Souble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DC900B-C50E-455C-B51C-E566236D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@ram4-dev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6CF04C-B219-4D39-8711-DEAAEA72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0222c37d84b9f"/>
          <a:srcRect xmlns:a="http://schemas.openxmlformats.org/drawingml/2006/main" l="0" t="7176" r="0" b="7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2725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F8B838-017D-4C35-9D59-72CE14F7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Ignacio Becerra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F0E961-01CB-4860-950B-BFAEC809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@BecerraIgnacio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A543EA-FAAA-4E10-88B7-B74D1DF8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28900"/>
            <a:ext cx="2533650" cy="3152775"/>
          </a:xfrm>
          <a:prstGeom xmlns:a="http://schemas.openxmlformats.org/drawingml/2006/main" prst="roundRect">
            <a:avLst>
              <a:gd name="adj" fmla="val 11278"/>
            </a:avLst>
          </a:prstGeom>
          <a:solidFill xmlns:a="http://schemas.openxmlformats.org/drawingml/2006/main">
            <a:srgbClr val="EDE8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4af89b8ba49d6"/>
          <a:srcRect xmlns:a="http://schemas.openxmlformats.org/drawingml/2006/main" l="0" t="17882" r="0" b="17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10700" y="2847975"/>
            <a:ext cx="2057400" cy="1762125"/>
          </a:xfrm>
          <a:prstGeom xmlns:a="http://schemas.openxmlformats.org/drawingml/2006/main" prst="roundRect">
            <a:avLst>
              <a:gd name="adj" fmla="val 12973"/>
            </a:avLst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6E18F6-FC3F-4AD1-96E4-93A66CE0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905375"/>
            <a:ext cx="2076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51B"/>
                </a:solidFill>
                <a:latin typeface="Fredoka"/>
                <a:ea typeface="Fredoka"/>
                <a:cs typeface="Fredoka"/>
              </a:defRPr>
            </a:pPr>
            <a:r>
              <a:rPr sz="1575" b="1">
                <a:solidFill>
                  <a:srgbClr val="17151B"/>
                </a:solidFill>
                <a:latin typeface="Fredoka"/>
                <a:ea typeface="Fredoka"/>
                <a:cs typeface="Fredoka"/>
              </a:rPr>
              <a:t>Marcos Lanzani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257E3B1-5D34-46A6-A90B-6259A58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410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639DD"/>
                </a:solidFill>
                <a:latin typeface="Nunito"/>
                <a:ea typeface="Nunito"/>
                <a:cs typeface="Nunito"/>
              </a:defRPr>
            </a:pPr>
            <a:r>
              <a:rPr sz="975" b="1">
                <a:solidFill>
                  <a:srgbClr val="5639DD"/>
                </a:solidFill>
                <a:latin typeface="Nunito"/>
                <a:ea typeface="Nunito"/>
                <a:cs typeface="Nunito"/>
              </a:rPr>
              <a:t>@theboyplunger0x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6159AB-E1D6-4871-B710-7E55BBD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A4B5A6-BD40-448B-9F0C-45F78497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5A5860"/>
                </a:solidFill>
                <a:latin typeface="Nunito"/>
                <a:ea typeface="Nunito"/>
                <a:cs typeface="Nunito"/>
              </a:defRPr>
            </a:pPr>
            <a:r>
              <a:rPr sz="675" b="1">
                <a:solidFill>
                  <a:srgbClr val="5A5860"/>
                </a:solidFill>
                <a:latin typeface="Nunito"/>
                <a:ea typeface="Nunito"/>
                <a:cs typeface="Nunito"/>
              </a:rPr>
              <a:t>NANA ·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537537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5639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5AA2C1-D95A-46F1-AFEA-E71E17CC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D9A697-A731-4AA6-93AE-9A9E382C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426BC-8E73-451B-97FB-BB1537D4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84202-6F8C-41BC-8FA5-0136E9D6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41375-69B1-4E58-96E9-848CF096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4881F-E6E3-42FE-938D-E2A5E77C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CBA89-D11E-4106-9E98-F32F6EC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B5630-FD16-4360-B912-7AC7621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842D4-49DF-4105-956E-E2B0C1E4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FF01D-E16A-44B0-A2DD-19FAAEC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D9B91-4D38-46D7-AC11-AE67CCB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040E4-5137-4391-8D04-5854A79B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CDED3-491D-45F9-ABEF-14E78571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C41E2-5201-4F53-B2D6-1C5370D2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E54E3-F65C-4A71-B598-5D533166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110C3-ABC9-4DD3-89AB-3888D11E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788DC-0AE3-46C6-B21B-5E947BB8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1EFB1-DD03-4E37-9E35-41D67BF4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04639-BDF6-4DB6-A06E-76B0C0ED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7DBC2-A7A4-4E55-9F3C-8370DF0D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478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8E69A-F09C-42E7-87D5-054E7455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717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F8778-7559-4066-992C-38969357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956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2EF6C-50D8-4F24-B778-3AE6BFB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19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6F6852-9C68-45EA-A4D7-2A5329AC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0EC8A-46F5-48DA-8151-DD5A4D96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A8F68-5F12-4591-ACE4-AD0604C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E0CA06-19BA-4880-AA8D-8A689F7C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51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58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75603-6D64-4544-8BA1-4E3095A0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6E8E63-B064-4FDB-9898-52C515D1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410" y="613410"/>
            <a:ext cx="1706880" cy="1706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E370D-D7C1-40A5-8707-ECFCEB7E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30" y="1333500"/>
            <a:ext cx="906780" cy="9067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2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F30B01-3090-4AE7-90DC-6FF3E7C8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0" y="400050"/>
            <a:ext cx="426720" cy="426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9F7CC8-B0A4-4368-85D2-3886B3B4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09537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BFF"/>
          </a:solidFill>
          <a:ln xmlns:a="http://schemas.openxmlformats.org/drawingml/2006/main" w="9525">
            <a:solidFill>
              <a:srgbClr val="C5B3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3B4C05-1673-4F19-B07C-217593CD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476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3000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nana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0CBC02-2CCE-4A0E-8EFE-39CC7D29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191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33"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44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The next financial</a:t>
            </a:r>
          </a:p>
          <a:p xmlns:a="http://schemas.openxmlformats.org/drawingml/2006/main">
            <a:pPr algn="l">
              <a:defRPr sz="4425" b="1">
                <a:solidFill>
                  <a:srgbClr val="FFFFFF"/>
                </a:solidFill>
                <a:latin typeface="Fredoka"/>
                <a:ea typeface="Fredoka"/>
                <a:cs typeface="Fredoka"/>
              </a:defRPr>
            </a:pPr>
            <a:r>
              <a:rPr sz="4425" b="1">
                <a:solidFill>
                  <a:srgbClr val="FFFFFF"/>
                </a:solidFill>
                <a:latin typeface="Fredoka"/>
                <a:ea typeface="Fredoka"/>
                <a:cs typeface="Fredoka"/>
              </a:rPr>
              <a:t>account is agentic.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BD59AC-AD90-40E1-8ACA-95866F9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875" b="1">
                <a:solidFill>
                  <a:srgbClr val="EDE8FF"/>
                </a:solidFill>
                <a:latin typeface="Nunito"/>
                <a:ea typeface="Nunito"/>
                <a:cs typeface="Nunito"/>
              </a:rPr>
              <a:t>It lets people act independently inside a trusted, programmable network of relationships and permissions.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75B2E9-E94B-49B2-B4F8-D27DD4D5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5095875" cy="895350"/>
          </a:xfrm>
          <a:prstGeom xmlns:a="http://schemas.openxmlformats.org/drawingml/2006/main" prst="roundRect">
            <a:avLst>
              <a:gd name="adj" fmla="val 319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FFF950-4A3F-4632-B683-801E9696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339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Independence through voice.</a:t>
            </a:r>
          </a:p>
          <a:p xmlns:a="http://schemas.openxmlformats.org/drawingml/2006/main">
            <a:pPr algn="ctr">
              <a:defRPr sz="1800" b="1">
                <a:solidFill>
                  <a:srgbClr val="5639DD"/>
                </a:solidFill>
                <a:latin typeface="Fredoka"/>
                <a:ea typeface="Fredoka"/>
                <a:cs typeface="Fredoka"/>
              </a:defRPr>
            </a:pPr>
            <a:r>
              <a:rPr sz="1800" b="1">
                <a:solidFill>
                  <a:srgbClr val="5639DD"/>
                </a:solidFill>
                <a:latin typeface="Fredoka"/>
                <a:ea typeface="Fredoka"/>
                <a:cs typeface="Fredoka"/>
              </a:rPr>
              <a:t>Protection when it matters.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6E32E4-829A-4250-AB83-AC7D46D0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nana-wallet-hybrid.vercel.app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33BAD9-A9A1-499D-852D-E506BBA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2198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E8FF"/>
                </a:solidFill>
                <a:latin typeface="Nunito"/>
                <a:ea typeface="Nunito"/>
                <a:cs typeface="Nunito"/>
              </a:defRPr>
            </a:pPr>
            <a:r>
              <a:rPr sz="1050" b="1">
                <a:solidFill>
                  <a:srgbClr val="EDE8FF"/>
                </a:solidFill>
                <a:latin typeface="Nunito"/>
                <a:ea typeface="Nunito"/>
                <a:cs typeface="Nunito"/>
              </a:rPr>
              <a:t>github.com/rober8b/aleph-hackathon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1a1951c47483a"/>
          <a:stretch xmlns:a="http://schemas.openxmlformats.org/drawingml/2006/main"/>
        </p:blipFill>
        <p:spPr>
          <a:xfrm xmlns:a="http://schemas.openxmlformats.org/drawingml/2006/main">
            <a:off x="6981825" y="1317308"/>
            <a:ext cx="3829050" cy="45948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52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2026-09-02T13:59:02.4490000Z</dcterms:created>
  <dcterms:modified xsi:type="dcterms:W3CDTF">2026-09-02T13:59:02.4490000Z</dcterms:modified>
</coreProperties>
</file>