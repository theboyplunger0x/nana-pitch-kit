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75dc49afe04b63" /><Relationship Type="http://schemas.openxmlformats.org/officeDocument/2006/relationships/extended-properties" Target="/docProps/app.xml" Id="R5b50fc3727fe4518" /><Relationship Type="http://schemas.openxmlformats.org/officeDocument/2006/relationships/officeDocument" Target="/ppt/presentation.xml" Id="R2c5846c13267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c17ba20b7e436a"/>
  </p:sldMasterIdLst>
  <p:notesMasterIdLst>
    <p:notesMasterId xmlns:r="http://schemas.openxmlformats.org/officeDocument/2006/relationships" r:id="R13e2b135bc6740eb"/>
  </p:notesMasterIdLst>
  <p:sldIdLst>
    <p:sldId xmlns:r="http://schemas.openxmlformats.org/officeDocument/2006/relationships" id="256" r:id="Raaa4089f9e034277"/>
    <p:sldId xmlns:r="http://schemas.openxmlformats.org/officeDocument/2006/relationships" id="257" r:id="R563c1f6fce174166"/>
    <p:sldId xmlns:r="http://schemas.openxmlformats.org/officeDocument/2006/relationships" id="258" r:id="R1f2374f1f3234f8b"/>
    <p:sldId xmlns:r="http://schemas.openxmlformats.org/officeDocument/2006/relationships" id="259" r:id="Rc87b036313e64ffc"/>
    <p:sldId xmlns:r="http://schemas.openxmlformats.org/officeDocument/2006/relationships" id="260" r:id="R9d56a86fc3d541f9"/>
    <p:sldId xmlns:r="http://schemas.openxmlformats.org/officeDocument/2006/relationships" id="261" r:id="R66e9e9806af446b7"/>
    <p:sldId xmlns:r="http://schemas.openxmlformats.org/officeDocument/2006/relationships" id="262" r:id="R76b3e3e5b98442dd"/>
    <p:sldId xmlns:r="http://schemas.openxmlformats.org/officeDocument/2006/relationships" id="263" r:id="Rfd97ab2db9844a34"/>
    <p:sldId xmlns:r="http://schemas.openxmlformats.org/officeDocument/2006/relationships" id="264" r:id="Rd73df08922d04090"/>
    <p:sldId xmlns:r="http://schemas.openxmlformats.org/officeDocument/2006/relationships" id="265" r:id="R80751c4c66bf43e0"/>
    <p:sldId xmlns:r="http://schemas.openxmlformats.org/officeDocument/2006/relationships" id="266" r:id="Re95046494d514c80"/>
    <p:sldId xmlns:r="http://schemas.openxmlformats.org/officeDocument/2006/relationships" id="267" r:id="Rbac115760e9d420a"/>
    <p:sldId xmlns:r="http://schemas.openxmlformats.org/officeDocument/2006/relationships" id="268" r:id="Rc24317041ae24753"/>
    <p:sldId xmlns:r="http://schemas.openxmlformats.org/officeDocument/2006/relationships" id="269" r:id="R773ecd35bf544b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82b717ce7841ab" /><Relationship Type="http://schemas.openxmlformats.org/officeDocument/2006/relationships/slideMaster" Target="/ppt/slideMasters/slideMaster1.xml" Id="Rb1c17ba20b7e436a" /><Relationship Type="http://schemas.openxmlformats.org/officeDocument/2006/relationships/notesMaster" Target="/ppt/notesMasters/notesMaster1.xml" Id="R13e2b135bc6740eb" /><Relationship Type="http://schemas.openxmlformats.org/officeDocument/2006/relationships/presProps" Target="/ppt/presProps.xml" Id="R7cd52509af164931" /><Relationship Type="http://schemas.openxmlformats.org/officeDocument/2006/relationships/tableStyles" Target="/ppt/tableStyles.xml" Id="Rd4ca1c049fb741da" /><Relationship Type="http://schemas.openxmlformats.org/officeDocument/2006/relationships/slide" Target="/ppt/slides/slide1.xml" Id="Raaa4089f9e034277" /><Relationship Type="http://schemas.openxmlformats.org/officeDocument/2006/relationships/slide" Target="/ppt/slides/slide2.xml" Id="R563c1f6fce174166" /><Relationship Type="http://schemas.openxmlformats.org/officeDocument/2006/relationships/slide" Target="/ppt/slides/slide3.xml" Id="R1f2374f1f3234f8b" /><Relationship Type="http://schemas.openxmlformats.org/officeDocument/2006/relationships/slide" Target="/ppt/slides/slide4.xml" Id="Rc87b036313e64ffc" /><Relationship Type="http://schemas.openxmlformats.org/officeDocument/2006/relationships/slide" Target="/ppt/slides/slide5.xml" Id="R9d56a86fc3d541f9" /><Relationship Type="http://schemas.openxmlformats.org/officeDocument/2006/relationships/slide" Target="/ppt/slides/slide6.xml" Id="R66e9e9806af446b7" /><Relationship Type="http://schemas.openxmlformats.org/officeDocument/2006/relationships/slide" Target="/ppt/slides/slide7.xml" Id="R76b3e3e5b98442dd" /><Relationship Type="http://schemas.openxmlformats.org/officeDocument/2006/relationships/slide" Target="/ppt/slides/slide8.xml" Id="Rfd97ab2db9844a34" /><Relationship Type="http://schemas.openxmlformats.org/officeDocument/2006/relationships/slide" Target="/ppt/slides/slide9.xml" Id="Rd73df08922d04090" /><Relationship Type="http://schemas.openxmlformats.org/officeDocument/2006/relationships/slide" Target="/ppt/slides/slide10.xml" Id="R80751c4c66bf43e0" /><Relationship Type="http://schemas.openxmlformats.org/officeDocument/2006/relationships/slide" Target="/ppt/slides/slide11.xml" Id="Re95046494d514c80" /><Relationship Type="http://schemas.openxmlformats.org/officeDocument/2006/relationships/slide" Target="/ppt/slides/slide12.xml" Id="Rbac115760e9d420a" /><Relationship Type="http://schemas.openxmlformats.org/officeDocument/2006/relationships/slide" Target="/ppt/slides/slide13.xml" Id="Rc24317041ae24753" /><Relationship Type="http://schemas.openxmlformats.org/officeDocument/2006/relationships/slide" Target="/ppt/slides/slide14.xml" Id="R773ecd35bf544b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7b83337a7c47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fb0cb1a4744b37" /><Relationship Type="http://schemas.openxmlformats.org/officeDocument/2006/relationships/notesMaster" Target="/ppt/notesMasters/notesMaster1.xml" Id="R81f1a289f50646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1c801a10b24cb9" /><Relationship Type="http://schemas.openxmlformats.org/officeDocument/2006/relationships/notesMaster" Target="/ppt/notesMasters/notesMaster1.xml" Id="R587e298733c846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3424b812944086" /><Relationship Type="http://schemas.openxmlformats.org/officeDocument/2006/relationships/notesMaster" Target="/ppt/notesMasters/notesMaster1.xml" Id="R355b838450484a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4411de682746d1" /><Relationship Type="http://schemas.openxmlformats.org/officeDocument/2006/relationships/notesMaster" Target="/ppt/notesMasters/notesMaster1.xml" Id="R5e7fb26b425643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880a86fa464aab" /><Relationship Type="http://schemas.openxmlformats.org/officeDocument/2006/relationships/notesMaster" Target="/ppt/notesMasters/notesMaster1.xml" Id="R4a54fbb4e8cc46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34161d27d847b1" /><Relationship Type="http://schemas.openxmlformats.org/officeDocument/2006/relationships/notesMaster" Target="/ppt/notesMasters/notesMaster1.xml" Id="R2a24fed65a9047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c2b34db45e4b5e" /><Relationship Type="http://schemas.openxmlformats.org/officeDocument/2006/relationships/notesMaster" Target="/ppt/notesMasters/notesMaster1.xml" Id="R47344a03d6b64c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85fc84258c482e" /><Relationship Type="http://schemas.openxmlformats.org/officeDocument/2006/relationships/notesMaster" Target="/ppt/notesMasters/notesMaster1.xml" Id="R753cefedb06c45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2c177d820a4178" /><Relationship Type="http://schemas.openxmlformats.org/officeDocument/2006/relationships/notesMaster" Target="/ppt/notesMasters/notesMaster1.xml" Id="R49ce4245ad604f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522550790f4343" /><Relationship Type="http://schemas.openxmlformats.org/officeDocument/2006/relationships/notesMaster" Target="/ppt/notesMasters/notesMaster1.xml" Id="R0aaf9cf6761642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397ba008274850" /><Relationship Type="http://schemas.openxmlformats.org/officeDocument/2006/relationships/notesMaster" Target="/ppt/notesMasters/notesMaster1.xml" Id="Ra05d2c57839d45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b6f3cac6644451" /><Relationship Type="http://schemas.openxmlformats.org/officeDocument/2006/relationships/notesMaster" Target="/ppt/notesMasters/notesMaster1.xml" Id="R81472cbb64944e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bd5799c23d4344" /><Relationship Type="http://schemas.openxmlformats.org/officeDocument/2006/relationships/notesMaster" Target="/ppt/notesMasters/notesMaster1.xml" Id="Rd08d96771cde4b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a1ee7f3ac34c0c" /><Relationship Type="http://schemas.openxmlformats.org/officeDocument/2006/relationships/notesMaster" Target="/ppt/notesMasters/notesMaster1.xml" Id="Raf829486537a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slides 1 and 15</a:t>
            </a:r>
          </a:p>
          <a:p xmlns:a="http://schemas.openxmlformats.org/drawingml/2006/main">
            <a:r>
              <a:t>- app/apps/nana-wallet/src/components/HybridLandingIntro.tsx</a:t>
            </a:r>
          </a:p>
          <a:p xmlns:a="http://schemas.openxmlformats.org/drawingml/2006/main">
            <a:r>
              <a:t>- assets/sprites/nani-01-lista.png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slides 1, 6 and 7</a:t>
            </a:r>
          </a:p>
          <a:p xmlns:a="http://schemas.openxmlformats.org/drawingml/2006/main">
            <a:r>
              <a:t>- docs/business-model/nana-business-model.pdf · pages 1-2</a:t>
            </a:r>
          </a:p>
          <a:p xmlns:a="http://schemas.openxmlformats.org/drawingml/2006/main">
            <a:r>
              <a:t>- Mission and vision are a working synthesis of the team's existing 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pages 2-4</a:t>
            </a:r>
          </a:p>
          <a:p xmlns:a="http://schemas.openxmlformats.org/drawingml/2006/main">
            <a:r>
              <a:t>- docs/deck/nana-deck.pdf · slide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 5</a:t>
            </a:r>
          </a:p>
          <a:p xmlns:a="http://schemas.openxmlformats.org/drawingml/2006/main">
            <a:r>
              <a:t>- docs/business-model/nana-business-model.pdf · page 4</a:t>
            </a:r>
          </a:p>
          <a:p xmlns:a="http://schemas.openxmlformats.org/drawingml/2006/main">
            <a:r>
              <a:t>- assets/social/tweet5-flow-355KB.png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slides 7-8</a:t>
            </a:r>
          </a:p>
          <a:p xmlns:a="http://schemas.openxmlformats.org/drawingml/2006/main">
            <a:r>
              <a:t>- docs/business-model/nana-business-model.pdf · page 5</a:t>
            </a:r>
          </a:p>
          <a:p xmlns:a="http://schemas.openxmlformats.org/drawingml/2006/main">
            <a:r>
              <a:t>- assets/screenshots-english/03-agent-confirmation.jpg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pages 2-6</a:t>
            </a:r>
          </a:p>
          <a:p xmlns:a="http://schemas.openxmlformats.org/drawingml/2006/main">
            <a:r>
              <a:t>- docs/business-model/nana-modelo.pdf · pages 4-7</a:t>
            </a:r>
          </a:p>
          <a:p xmlns:a="http://schemas.openxmlformats.org/drawingml/2006/main">
            <a:r>
              <a:t>- app/apps/nana-wallet/src/routes/index.tsx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slides 1, 6 and 12</a:t>
            </a:r>
          </a:p>
          <a:p xmlns:a="http://schemas.openxmlformats.org/drawingml/2006/main">
            <a:r>
              <a:t>- docs/business-model/nana-business-model.pdf · page 8</a:t>
            </a:r>
          </a:p>
          <a:p xmlns:a="http://schemas.openxmlformats.org/drawingml/2006/main">
            <a:r>
              <a:t>- assets/social/tweet6-users-331KB.png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app/apps/nana-wallet/src/styles.css</a:t>
            </a:r>
          </a:p>
          <a:p xmlns:a="http://schemas.openxmlformats.org/drawingml/2006/main">
            <a:r>
              <a:t>- video/src/theme.ts</a:t>
            </a:r>
          </a:p>
          <a:p xmlns:a="http://schemas.openxmlformats.org/drawingml/2006/main">
            <a:r>
              <a:t>- assets/sprites/nani-02-escuchando.png</a:t>
            </a:r>
          </a:p>
          <a:p xmlns:a="http://schemas.openxmlformats.org/drawingml/2006/main">
            <a:r>
              <a:t>- assets/sprites/nani-03-pensando.png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pages 6-9</a:t>
            </a:r>
          </a:p>
          <a:p xmlns:a="http://schemas.openxmlformats.org/drawingml/2006/main">
            <a:r>
              <a:t>- docs/deck/nana-deck.pdf · slides 9, 11 and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pages 1-3</a:t>
            </a:r>
          </a:p>
          <a:p xmlns:a="http://schemas.openxmlformats.org/drawingml/2006/main">
            <a:r>
              <a:t>- /Users/lanzanimarcos7/.codex/attachments/0c94102c-c9bf-41e2-9d0d-65a4ef170350/pasted-text.txt</a:t>
            </a:r>
          </a:p>
          <a:p xmlns:a="http://schemas.openxmlformats.org/drawingml/2006/main">
            <a:r>
              <a:t>- Problem cascade phrasing is a synthesis of the team's existing problem statement.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pages 5-7</a:t>
            </a:r>
          </a:p>
          <a:p xmlns:a="http://schemas.openxmlformats.org/drawingml/2006/main">
            <a:r>
              <a:t>- docs/business-model/nana-modelo.pdf · pages 6-8</a:t>
            </a:r>
          </a:p>
          <a:p xmlns:a="http://schemas.openxmlformats.org/drawingml/2006/main">
            <a:r>
              <a:t>- /Users/lanzanimarcos7/.codex/attachments/0c94102c-c9bf-41e2-9d0d-65a4ef170350/pasted-text.txt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pages 3 and 7-9</a:t>
            </a:r>
          </a:p>
          <a:p xmlns:a="http://schemas.openxmlformats.org/drawingml/2006/main">
            <a:r>
              <a:t>- /Users/lanzanimarcos7/.codex/attachments/0c94102c-c9bf-41e2-9d0d-65a4ef170350/pasted-text.txt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pages 2-6</a:t>
            </a:r>
          </a:p>
          <a:p xmlns:a="http://schemas.openxmlformats.org/drawingml/2006/main">
            <a:r>
              <a:t>- /Users/lanzanimarcos7/.codex/attachments/0c94102c-c9bf-41e2-9d0d-65a4ef170350/pasted-text.txt</a:t>
            </a:r>
          </a:p>
          <a:p xmlns:a="http://schemas.openxmlformats.org/drawingml/2006/main">
            <a:r>
              <a:t>- The North Star is a proposed mission metric, not a validated KPI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slides 4, 7 and 15</a:t>
            </a:r>
          </a:p>
          <a:p xmlns:a="http://schemas.openxmlformats.org/drawingml/2006/main">
            <a:r>
              <a:t>- docs/business-model/nana-business-model.pdf · pages 2 and 9</a:t>
            </a:r>
          </a:p>
          <a:p xmlns:a="http://schemas.openxmlformats.org/drawingml/2006/main">
            <a:r>
              <a:t>- This decision filter is a synthesis of the team's stated product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a7954e1fd48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0dd58166884aa1" /><Relationship Type="http://schemas.openxmlformats.org/officeDocument/2006/relationships/slideLayout" Target="/ppt/slideLayouts/slideLayout1.xml" Id="R9f26c6ec2c0641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26c6ec2c0641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1ac8348c7428d" /><Relationship Type="http://schemas.openxmlformats.org/officeDocument/2006/relationships/image" Target="/ppt/media/image.png" Id="R9fd7961a030c47c1" /><Relationship Type="http://schemas.openxmlformats.org/officeDocument/2006/relationships/notesSlide" Target="/ppt/notesSlides/notesSlide1.xml" Id="R6705f02b8924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0c4d307d84288" /><Relationship Type="http://schemas.openxmlformats.org/officeDocument/2006/relationships/notesSlide" Target="/ppt/notesSlides/notesSlide2.xml" Id="R8ff8c986a36f47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1c787e6f24124" /><Relationship Type="http://schemas.openxmlformats.org/officeDocument/2006/relationships/notesSlide" Target="/ppt/notesSlides/notesSlide3.xml" Id="Re2cf6c0ad3614f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11e37ac8c4d4c" /><Relationship Type="http://schemas.openxmlformats.org/officeDocument/2006/relationships/image" Target="/ppt/media/image2.png" Id="R66b09da926ee494b" /><Relationship Type="http://schemas.openxmlformats.org/officeDocument/2006/relationships/notesSlide" Target="/ppt/notesSlides/notesSlide4.xml" Id="Rf555a4138e12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eadb38e234155" /><Relationship Type="http://schemas.openxmlformats.org/officeDocument/2006/relationships/image" Target="/ppt/media/image.jpeg" Id="R09505e7eae5e4f1c" /><Relationship Type="http://schemas.openxmlformats.org/officeDocument/2006/relationships/notesSlide" Target="/ppt/notesSlides/notesSlide5.xml" Id="R41a5b0526b0540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b315db7d6489f" /><Relationship Type="http://schemas.openxmlformats.org/officeDocument/2006/relationships/notesSlide" Target="/ppt/notesSlides/notesSlide6.xml" Id="Rce0f129dc2d640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06e7611de47dd" /><Relationship Type="http://schemas.openxmlformats.org/officeDocument/2006/relationships/image" Target="/ppt/media/image3.png" Id="R9c5fecfb1fd641a6" /><Relationship Type="http://schemas.openxmlformats.org/officeDocument/2006/relationships/notesSlide" Target="/ppt/notesSlides/notesSlide7.xml" Id="R29b045bcca2145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46f7148384739" /><Relationship Type="http://schemas.openxmlformats.org/officeDocument/2006/relationships/image" Target="/ppt/media/image4.png" Id="Rd8bf23bba46848c5" /><Relationship Type="http://schemas.openxmlformats.org/officeDocument/2006/relationships/image" Target="/ppt/media/image5.png" Id="R2e14c3856f4c46d0" /><Relationship Type="http://schemas.openxmlformats.org/officeDocument/2006/relationships/notesSlide" Target="/ppt/notesSlides/notesSlide8.xml" Id="R2c94e1d866ce46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1e052bcc04fee" /><Relationship Type="http://schemas.openxmlformats.org/officeDocument/2006/relationships/notesSlide" Target="/ppt/notesSlides/notesSlide9.xml" Id="Rfc814a35da4146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82e2568454c52" /><Relationship Type="http://schemas.openxmlformats.org/officeDocument/2006/relationships/notesSlide" Target="/ppt/notesSlides/notesSlide10.xml" Id="Rcd88c079888e46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8c931ba30430c" /><Relationship Type="http://schemas.openxmlformats.org/officeDocument/2006/relationships/notesSlide" Target="/ppt/notesSlides/notesSlide11.xml" Id="Rb9dffe40a35e46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9b572c81e4d9b" /><Relationship Type="http://schemas.openxmlformats.org/officeDocument/2006/relationships/notesSlide" Target="/ppt/notesSlides/notesSlide12.xml" Id="R21a07d49b1694a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1252205d44564" /><Relationship Type="http://schemas.openxmlformats.org/officeDocument/2006/relationships/notesSlide" Target="/ppt/notesSlides/notesSlide13.xml" Id="R9f3bc641a72b40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9dbe73b9d4362" /><Relationship Type="http://schemas.openxmlformats.org/officeDocument/2006/relationships/notesSlide" Target="/ppt/notesSlides/notesSlide14.xml" Id="Rc600bca8c61645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E1A52-B940-4CDD-A3DC-1AA052CA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A86C0-56FC-4688-BC05-4AF865CB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2FA83-7C15-462C-A0E2-ABF9F2D8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2A289-133F-42CF-AAA5-1A0A7A4A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837D1-4D5A-41E8-88CE-3F8374C5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470C8-8F84-48CB-A061-01DB3949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E4100-A3CD-4382-8055-E48C1B0F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6EC49-514C-4635-966D-9E13096D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AACF3-442B-4012-8271-D628B825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2698C-EA44-4912-9159-EE711994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C61A9-5304-4049-A06C-73BC3E5A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A6298-3D24-4133-89C1-F4869F6A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37C79-AF42-404D-A2B1-0A281DEF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239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5C229-3607-4E2C-8CB2-CB869F1E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8E25F-C4A6-4B62-BD46-A6017ADB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E7D58-0DA0-4F47-933A-EC31C6DC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56060-CF72-46D1-8401-84E9294A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7FA01-4356-46B2-BD38-DD119C25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434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71B53-9DFF-4758-A744-4BACCA67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673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AB2A4-2294-4867-90D9-29241D59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912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4C49A-D7F3-465A-B7AB-368D26A9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151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4CE12-6E1B-4DBA-9A8F-5A006C5D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0"/>
            <a:ext cx="3524250" cy="3524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A996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0B6627-CDF9-489A-8999-28F50375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C2231-856D-44BB-B5A7-75EAC162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40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14C16-FCFD-480A-892D-052D9A17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54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Mission 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9935E0-71C3-4EBC-BE08-83C60C04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The internal system for mission, vision, product and brand.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1B508D-816F-4C82-8F21-EB46155C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Independence through voice.</a:t>
            </a:r>
          </a:p>
          <a:p xmlns:a="http://schemas.openxmlformats.org/drawingml/2006/main">
            <a:pPr algn="l"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Protection when it matters.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98D9C8-9DB3-45BC-8FB5-07FDF079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V0.1 · AUGUST 2026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7961a030c47c1"/>
          <a:stretch xmlns:a="http://schemas.openxmlformats.org/drawingml/2006/main"/>
        </p:blipFill>
        <p:spPr>
          <a:xfrm xmlns:a="http://schemas.openxmlformats.org/drawingml/2006/main">
            <a:off x="7286625" y="1831527"/>
            <a:ext cx="4095750" cy="44808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4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352D8E57-AC6F-42BE-B604-37EA62CF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THE BOARD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1396A28-906B-41D1-AFFD-E1EB2AF6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5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system, on one page.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EE0DE-CA07-419B-80B2-645A9C7F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C5642-D46F-4387-9453-8A6E08BC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A5C0E-A0D4-4A07-B5B0-581F030C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621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79957-B8E5-4CD0-B0B9-54CC8CF4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C2239-4441-4B9C-B3AD-61B9CC1C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40477-2FC6-4EDC-82D9-C063CC98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Return financial agency to people excluded by digital interfaces, without asking families to surrender peace of mind.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DB2DB-ED6A-4E66-AF14-2F2E6FA8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53B52-DCF9-4C9F-B5E7-52F249BC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Financial independence should not expire with age, mobility or interface complexity.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9F8C2-9989-4E4A-B4AD-97541EE9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47850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907A1-04CB-4AD9-9DAD-E6640F24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28850"/>
            <a:ext cx="3286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8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 voice-first agentic financial account with a dual-user model: independence for the person using it, protection for the person who cares for them.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35CCA-B976-4A5E-94DE-C7E25638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10896600" cy="1162050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5FB37-37EC-45CA-B44B-89DDAB03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PROMISE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53565-2D36-4BAA-ABDB-5A04CBA2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6732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3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C239F"/>
                </a:solidFill>
                <a:latin typeface="Fredoka"/>
                <a:ea typeface="Fredoka"/>
                <a:cs typeface="Fredoka"/>
              </a:defRPr>
            </a:pPr>
            <a:r>
              <a:rPr sz="2025" b="1">
                <a:solidFill>
                  <a:srgbClr val="3C239F"/>
                </a:solidFill>
                <a:latin typeface="Fredoka"/>
                <a:ea typeface="Fredoka"/>
                <a:cs typeface="Fredoka"/>
              </a:rPr>
              <a:t>Independence through voice. Protection when it matters.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42D30-EF33-44CB-8FE3-9FBA47FA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196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NORTH-STAR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33EA6-AC2D-431C-8309-01CB34C4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6732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Family intervention happens by exception only.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F08D6-F2BC-4BDA-A50C-789A25E9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B84F2-5728-470F-BA31-654A714C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MISSION BOARD · INTERNAL WORKING SYSTEM</a:t>
            </a:r>
          </a:p>
        </p:txBody>
      </p:sp>
    </p:spTree>
    <p:extLst>
      <p:ext uri="{BB962C8B-B14F-4D97-AF65-F5344CB8AC3E}">
        <p14:creationId xmlns:p14="http://schemas.microsoft.com/office/powerpoint/2010/main" val="1730783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64716D-6411-419E-A3E5-66B41035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86F13-54B6-459C-943A-525C7627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20E56-D6E3-4912-B3EB-29CD3B33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63BB9-F2B9-4524-893B-FB3363B8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8D52C-830A-4121-BC6F-3EDE4A31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4F0B2-7DA3-4EB8-8F3B-B7B71DA2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42A72-3A38-401A-A413-BB89E4BB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54779-7CFC-489A-9B59-9FCFD736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127F2-E075-4437-B493-2A1F3863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44B58-0A47-492B-BD0D-815BDE94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F933A-3407-4CAB-9878-79171964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CDF3F-224C-4ADC-8FC5-610F2BDD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239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14AC8-68EA-4321-9B45-865B05D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478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D5701-9099-4C2F-9137-4B1F6076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717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A5B49-81F4-4FE5-8F47-9C5EC4F7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956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89CBE-A006-4D82-9CC7-DE6E82AE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195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32619-C822-4C10-966E-4610DF95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434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21AF6-7CF9-4DAD-B929-A6DAF998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673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F61F4-CCA2-4A7D-9320-E278208F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7912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F08D1-7F38-4669-ABAA-4FDAB983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5151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5E32A-A063-419E-997F-D0D33D32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143000"/>
            <a:ext cx="4476750" cy="447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A996FF"/>
            </a:solidFill>
            <a:prstDash val="solid"/>
          </a:ln>
        </p:spPr>
      </p:sp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D2BEDF58-670D-48BE-B79D-E0753E5F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PRODUCT ARCHITECTURE</a:t>
            </a:r>
          </a:p>
        </p:txBody>
      </p:sp>
      <p:sp>
        <p:nvSpPr>
          <p:cNvPr id="23" name="title-3">
            <a:extLst xmlns:a="http://schemas.openxmlformats.org/drawingml/2006/main">
              <a:ext uri="{FF2B5EF4-FFF2-40B4-BE49-F238E27FC236}">
                <a16:creationId xmlns:a16="http://schemas.microsoft.com/office/drawing/2014/main" id="{E3A2A4AE-7476-4754-914C-D0A25EFF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5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Two users. One account. One owner.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5AF67-384D-4834-95B4-EF957012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7F7EC-01C1-4F2D-8C1A-EC028F46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THE END USER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C9954-FEE3-4F7B-8412-487D1DBC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2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Speaks. Reviews. Confirms.</a:t>
            </a:r>
          </a:p>
          <a:p xmlns:a="http://schemas.openxmlformats.org/drawingml/2006/main">
            <a:pPr algn="l">
              <a:defRPr sz="22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2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Pays independently.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200D9-3C3C-443A-9C63-D9FCCA2D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The account stays in their name. Daily use is a conversation, not a dashboard.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46D7D-237D-449A-90CA-93A1B08D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THE RESPONSIBLE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66B92-DD87-44F0-856F-8E7A86B1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Sets up once.</a:t>
            </a:r>
          </a:p>
          <a:p xmlns:a="http://schemas.openxmlformats.org/drawingml/2006/main">
            <a:pPr algn="l"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Intervenes only by exception.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FF81EC-4B17-44E3-8425-D699F2D8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KYC, funding, family graph and limits happen once, before daily use.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D7056E-3A6A-426B-8FE4-F6A2FE24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62150"/>
            <a:ext cx="4476750" cy="3524250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E6FB9-E0B3-4A89-88DA-567A7A3D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38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45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FF1B90-E1E2-4205-8D8C-96287945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266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3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VOICE AGENT</a:t>
            </a:r>
          </a:p>
          <a:p xmlns:a="http://schemas.openxmlformats.org/drawingml/2006/main">
            <a:pPr algn="ctr">
              <a:defRPr sz="13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3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WALLET</a:t>
            </a:r>
          </a:p>
          <a:p xmlns:a="http://schemas.openxmlformats.org/drawingml/2006/main">
            <a:pPr algn="ctr">
              <a:defRPr sz="13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3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PROTECTION</a:t>
            </a:r>
          </a:p>
          <a:p xmlns:a="http://schemas.openxmlformats.org/drawingml/2006/main">
            <a:pPr algn="ctr">
              <a:defRPr sz="13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3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FAMILY GRAPH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35F613-3FAE-4570-BAF2-BBC5988B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12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Rails stay invisible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105F47-A35B-43D4-92CF-7902EAB9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6D99E6-F756-41B3-A631-1F765721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MISSION BOARD · INTERNAL WORKING SYSTEM</a:t>
            </a:r>
          </a:p>
        </p:txBody>
      </p:sp>
    </p:spTree>
    <p:extLst>
      <p:ext uri="{BB962C8B-B14F-4D97-AF65-F5344CB8AC3E}">
        <p14:creationId xmlns:p14="http://schemas.microsoft.com/office/powerpoint/2010/main" val="473841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-4">
            <a:extLst xmlns:a="http://schemas.openxmlformats.org/drawingml/2006/main">
              <a:ext uri="{FF2B5EF4-FFF2-40B4-BE49-F238E27FC236}">
                <a16:creationId xmlns:a16="http://schemas.microsoft.com/office/drawing/2014/main" id="{05BF711B-3CAD-4E7C-8BDA-A0B05D82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INTERACTION MODEL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755E6CD-3B26-41BA-8DFB-0A2A14A9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5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interface becomes a conversation.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84D42-79E2-46F1-96EE-16270225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11388-CD1B-4F7C-A1AA-E91CE0AB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96600" cy="35433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09da926ee494b"/>
          <a:stretch xmlns:a="http://schemas.openxmlformats.org/drawingml/2006/main"/>
        </p:blipFill>
        <p:spPr>
          <a:xfrm xmlns:a="http://schemas.openxmlformats.org/drawingml/2006/main">
            <a:off x="3268133" y="1809750"/>
            <a:ext cx="5655733" cy="3181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B661E-F89C-403E-8B8A-F0C251E2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054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8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agent does the work. The user makes the one decision that carries consequence.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73554-2F7C-42EC-91B7-8F2F7065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5C5CD-6E09-4045-8354-C80A919D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PRODUCT LOOP · ASK → PREPARE → CONFIRM → SETTLE</a:t>
            </a:r>
          </a:p>
        </p:txBody>
      </p:sp>
    </p:spTree>
    <p:extLst>
      <p:ext uri="{BB962C8B-B14F-4D97-AF65-F5344CB8AC3E}">
        <p14:creationId xmlns:p14="http://schemas.microsoft.com/office/powerpoint/2010/main" val="259810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71835-2A0B-47A5-9335-74B15EF6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oundRect">
            <a:avLst>
              <a:gd name="adj" fmla="val 5723"/>
            </a:avLst>
          </a:prstGeom>
          <a:solidFill xmlns:a="http://schemas.openxmlformats.org/drawingml/2006/main">
            <a:srgbClr val="5639DD"/>
          </a:solidFill>
          <a:ln xmlns:a="http://schemas.openxmlformats.org/drawingml/2006/main" w="0">
            <a:solidFill>
              <a:srgbClr val="5639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6162B-E3C7-40FA-B628-C6E92CBC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400300" cy="240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4CF6"/>
          </a:solidFill>
          <a:ln xmlns:a="http://schemas.openxmlformats.org/drawingml/2006/main" w="9525">
            <a:solidFill>
              <a:srgbClr val="A99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FB9E0-7AA3-4B76-8A53-08FC4F7E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CBF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D8CBFF"/>
                </a:solidFill>
                <a:latin typeface="Nunito"/>
                <a:ea typeface="Nunito"/>
                <a:cs typeface="Nunito"/>
              </a:rPr>
              <a:t>THE PROTECTION DOCTRINE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2E942-BE31-4249-AFD5-F6304D37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51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390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Protection intervenes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390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only when it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7FD63-9353-4CAE-9C8D-E2AAD421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32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The family must not approve every payment.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6D5B5-BBFF-492A-A763-F480F18E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514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8CBFF"/>
                </a:solidFill>
                <a:latin typeface="Fredoka"/>
                <a:ea typeface="Fredoka"/>
                <a:cs typeface="Fredoka"/>
              </a:defRPr>
            </a:pPr>
            <a:r>
              <a:rPr sz="2325" b="1">
                <a:solidFill>
                  <a:srgbClr val="D8CBFF"/>
                </a:solidFill>
                <a:latin typeface="Fredoka"/>
                <a:ea typeface="Fredoka"/>
                <a:cs typeface="Fredoka"/>
              </a:rPr>
              <a:t>The moment they do, independence was not returned. It was transferred.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9D133-2120-4F51-9B2F-0D0B57C4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SAFETY IS NEVER THE UPSELL.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73532-23E3-42F8-BB26-47B7CBD6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4191000" cy="4095750"/>
          </a:xfrm>
          <a:prstGeom xmlns:a="http://schemas.openxmlformats.org/drawingml/2006/main" prst="roundRect">
            <a:avLst>
              <a:gd name="adj" fmla="val 7907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C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05e7eae5e4f1c"/>
          <a:stretch xmlns:a="http://schemas.openxmlformats.org/drawingml/2006/main"/>
        </p:blipFill>
        <p:spPr>
          <a:xfrm xmlns:a="http://schemas.openxmlformats.org/drawingml/2006/main">
            <a:off x="8212491" y="1657350"/>
            <a:ext cx="1672518" cy="3619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5DB4A-59A4-48C2-9275-5F5AFDD3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478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A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2F7D5A"/>
                </a:solidFill>
                <a:latin typeface="Nunito"/>
                <a:ea typeface="Nunito"/>
                <a:cs typeface="Nunito"/>
              </a:rPr>
              <a:t>Ordinary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B3117-27E9-4D87-BF50-38E8D6CD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479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User confirms.</a:t>
            </a:r>
          </a:p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Family stays 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B2F71-264D-457F-85DB-93831CD8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478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44959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B44959"/>
                </a:solidFill>
                <a:latin typeface="Nunito"/>
                <a:ea typeface="Nunito"/>
                <a:cs typeface="Nunito"/>
              </a:rPr>
              <a:t>Unusual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70229-A383-4C9D-97DE-27547C9C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4790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Held first.</a:t>
            </a:r>
          </a:p>
          <a:p xmlns:a="http://schemas.openxmlformats.org/drawingml/2006/main">
            <a:pPr algn="r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Family alerted.</a:t>
            </a:r>
          </a:p>
        </p:txBody>
      </p:sp>
    </p:spTree>
    <p:extLst>
      <p:ext uri="{BB962C8B-B14F-4D97-AF65-F5344CB8AC3E}">
        <p14:creationId xmlns:p14="http://schemas.microsoft.com/office/powerpoint/2010/main" val="6792482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6">
            <a:extLst xmlns:a="http://schemas.openxmlformats.org/drawingml/2006/main">
              <a:ext uri="{FF2B5EF4-FFF2-40B4-BE49-F238E27FC236}">
                <a16:creationId xmlns:a16="http://schemas.microsoft.com/office/drawing/2014/main" id="{AE8806B0-148C-4A27-B9B1-D180E0FE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PRODUCT DOCTRINE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F6D9019-D9B3-4AD4-8516-43799FD6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5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Six rules that survive every roadmap.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E16BF-9CBC-4A6F-834C-55744B2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3D901-9F76-464E-A1C7-89D9D294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F03E1-9BF5-48E6-8CA1-650C7281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7165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7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Agency by default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8F888-A01B-4551-91C6-20684C02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55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The user owns the account, initiates actions and confirms consequence.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C3ADC-EDF4-4F47-B0B8-60DF44E9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D9571-F96C-4697-89D6-88BFEC0C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D62E5-0817-4A26-B254-CB6A7074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8135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7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Intervention by exception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34F7F-A57B-4913-9596-8BEA52D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052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Family enters only when activity is unusual or crosses a policy.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1193A-E5C7-4739-BB59-FC1A9549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091BD-98FA-4605-BAAA-EFBF145F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88684-4431-4EDC-B767-E7579A71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7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Complexity stays invisible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72070-3FAE-46A7-8401-9C287C8C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149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Addresses, rails, gas and settlement never become daily-user tasks.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EE983-F821-4E7B-9EC2-18647D9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435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4D372-3061-4081-B094-96CE5907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32A79-E7F2-47C5-8648-090AB670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7165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7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Plain language 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6C924-3A4D-4E4D-A50F-01CD9BEE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955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One action, one consequence, no forms and no crypto vocabulary.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9703F-DE98-4A61-A7C0-D6A28C9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F2EDE-790F-47B3-90D7-AA854C7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0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0CD88-5C48-4D6E-9BFE-797BD058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8135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7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Safety is universal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F84BA-03A7-4124-B6A7-2DF19968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052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Core confirmation, limits, anomaly detection and protection stay free.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CA59B6-50D2-4390-8979-BE61BBF9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338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C4F70E-F37B-44D9-B670-497EF7DA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01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97F29C-4E3B-4982-ABA6-7AFECEA7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91050"/>
            <a:ext cx="451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7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Fail closed and explain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753F8-11FC-42ED-A588-159D47EE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1490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If nobody responds, the held action expires safely and Nana explains why.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B5A606-6232-4641-ACD1-2B898AC4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43550"/>
            <a:ext cx="451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D42B8-1552-447C-B5CB-C75A0829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7C288C-54CA-463B-AE0E-25927138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MISSION BOARD · INTERNAL WORKING SYSTEM</a:t>
            </a:r>
          </a:p>
        </p:txBody>
      </p:sp>
    </p:spTree>
    <p:extLst>
      <p:ext uri="{BB962C8B-B14F-4D97-AF65-F5344CB8AC3E}">
        <p14:creationId xmlns:p14="http://schemas.microsoft.com/office/powerpoint/2010/main" val="392575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7">
            <a:extLst xmlns:a="http://schemas.openxmlformats.org/drawingml/2006/main">
              <a:ext uri="{FF2B5EF4-FFF2-40B4-BE49-F238E27FC236}">
                <a16:creationId xmlns:a16="http://schemas.microsoft.com/office/drawing/2014/main" id="{9D00E0FF-7050-4ABD-8841-F346A4D5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AUDIENCE AND MESSAGE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25AEEF2-0098-4FA7-AF05-B057DCA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5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Design for the user. Acquire the responsible.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CC996-9A72-492B-B132-9A778165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07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fecfb1fd641a6"/>
          <a:stretch xmlns:a="http://schemas.openxmlformats.org/drawingml/2006/main"/>
        </p:blipFill>
        <p:spPr>
          <a:xfrm xmlns:a="http://schemas.openxmlformats.org/drawingml/2006/main">
            <a:off x="1083733" y="165735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4A1B6-740A-447D-80ED-CC5D9639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57350"/>
            <a:ext cx="4829175" cy="4038600"/>
          </a:xfrm>
          <a:prstGeom xmlns:a="http://schemas.openxmlformats.org/drawingml/2006/main" prst="roundRect">
            <a:avLst>
              <a:gd name="adj" fmla="val 7075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93A28-20AB-43E8-81D8-DBE05FD2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859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WEDGE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87444-408A-40D2-8FC2-BDE1A202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Start with seniors and people with limited mobility.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C83C0-6D6D-4AC5-898F-5772FDC0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33650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133F1-E701-4113-BE98-792E66A4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098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PROMISE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9FD17-4F75-4C5D-8F96-5A0D3FBA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Independence through voice. Protection when it matters.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E7098-91CA-4F95-90D2-890C3259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57550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15D8E-9A36-4044-9950-E10613AE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337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EAB61-60FD-496E-AFC3-67ACCE95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433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Say what you want. Confirm what matters.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D7D27-3318-4707-A043-207934EB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81450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DEAB5-A210-494A-BD1D-1E4CDB6C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576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FAMILY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3E776-64FF-4977-AEEE-3D04C47B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672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Give your parents independence without giving up peace of mind.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EB757-8F2B-4E12-8A8D-EF9EDF06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3E1B0-007C-4B01-A579-751C88F2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815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4D48F-76EB-4FB5-9FA2-70F61337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Families · minors · delegated finance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8BF15-7F1E-4ABD-B0ED-B5954A4B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4959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B44959"/>
                </a:solidFill>
                <a:latin typeface="Nunito"/>
                <a:ea typeface="Nunito"/>
                <a:cs typeface="Nunito"/>
              </a:rPr>
              <a:t>DO NOT FRAME NANA 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98617-BED0-4E3E-97AF-0C8E03A4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A5860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5A5860"/>
                </a:solidFill>
                <a:latin typeface="Fredoka"/>
                <a:ea typeface="Fredoka"/>
                <a:cs typeface="Fredoka"/>
              </a:rPr>
              <a:t>a crypto wallet · parental controls · pay-to-be-safe · technology simplified for old people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A6107-0738-45BC-AF79-DEE9AC9D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4D6BF-AEA2-44A6-9AB7-DBF90F0C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MISSION BOARD · INTERNAL WORKING SYSTEM</a:t>
            </a:r>
          </a:p>
        </p:txBody>
      </p:sp>
    </p:spTree>
    <p:extLst>
      <p:ext uri="{BB962C8B-B14F-4D97-AF65-F5344CB8AC3E}">
        <p14:creationId xmlns:p14="http://schemas.microsoft.com/office/powerpoint/2010/main" val="1366825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9306FD-F125-4896-A2D9-0C920F3B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61D6A-29AB-4FE3-B173-A168E862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FFF77-FE47-4EE8-BD2A-0077A381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968D8-0411-42EE-B8E7-073F8887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2E808-188B-4F45-B41A-F865B3BB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49833-BEBC-4EAF-99C3-1B829880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82DB6-FB74-4106-8217-B1A1B4B2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8E00B-4834-471A-831A-BEF57ACF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FD1FF-8CE8-4FA8-98CD-6EB21C35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23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A189B-19F4-48E5-984E-39C8CB17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478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76218-BD46-4AD1-A2C7-7A9D3518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267F8-6A77-4343-8CF0-40AA51CC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516B3-7878-435B-80AB-6A127648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6BAA7-06C2-4D07-834B-78241679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434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92C0B-9255-4DAE-9A19-A3A8CF2A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67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FED9F-1051-4EB8-A9A9-40F06731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91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C4759-DAFE-4581-B3E9-FE873370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15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A99E6-1B3C-4D7D-B734-20574C6B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A996FF"/>
            </a:solidFill>
            <a:prstDash val="solid"/>
          </a:ln>
        </p:spPr>
      </p:sp>
      <p:sp>
        <p:nvSpPr>
          <p:cNvPr id="19" name="kicker-8">
            <a:extLst xmlns:a="http://schemas.openxmlformats.org/drawingml/2006/main">
              <a:ext uri="{FF2B5EF4-FFF2-40B4-BE49-F238E27FC236}">
                <a16:creationId xmlns:a16="http://schemas.microsoft.com/office/drawing/2014/main" id="{AF92370A-C6C8-4AF6-AE02-E1A1ABAE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VISUAL SYSTEM</a:t>
            </a:r>
          </a:p>
        </p:txBody>
      </p:sp>
      <p:sp>
        <p:nvSpPr>
          <p:cNvPr id="20" name="title-8">
            <a:extLst xmlns:a="http://schemas.openxmlformats.org/drawingml/2006/main">
              <a:ext uri="{FF2B5EF4-FFF2-40B4-BE49-F238E27FC236}">
                <a16:creationId xmlns:a16="http://schemas.microsoft.com/office/drawing/2014/main" id="{0929EE94-6AB5-4000-805C-482FA2EB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5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Calm for money. Warm for family.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82A20-AA5A-49F0-9ADA-8C62ACBF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1E341A-D98D-487B-A6DE-F5AC511D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COLOR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91F5B-ACCA-4E59-A87A-9F716948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8763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5639DD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D8EEE-7915-4BAF-929B-3813FF77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Nana Purple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C3F8E-6377-493D-AD2E-8CDA4C89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#5639DD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44D65D-781E-4E1E-B74D-496389CA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52650"/>
            <a:ext cx="8763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684CF6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A4DF4A-F174-4CA9-9BCA-1A3BB180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14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Action Purple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A6486B-2432-4660-947D-A19BB6F2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24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#684CF6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84DDCA-8E19-40B3-955D-656289A4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8763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F1AB12-4D3E-4433-813D-22C2CC79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14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Cream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AB17D5-45DE-465A-BDFC-B1E80839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24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#F6F1E8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94BA2D-0AAF-432D-A564-9C8294EB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52650"/>
            <a:ext cx="8763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8BFF5E-EF4E-459B-842C-1C480B2F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14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Ink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BE34B8-ACDE-4A3E-A93F-27026C25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#17151B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E8AB86-4FE6-4069-846E-341E3953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52650"/>
            <a:ext cx="8763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C8EF59-E7D9-4FD3-A648-D7C2192C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14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Lilac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31E458-E511-4F09-8967-EA073F40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24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#EDE8FF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001EAF-C373-4419-9C32-AFA1A096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TYPE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3DF213-A35A-44F6-8C2A-A03552C7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0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Fredoka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62CB56-73AC-4816-8A48-7C309465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Rounded display voice for the brand, claims and decisions.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E5C471-EA49-4EE1-ABF5-3A103BCA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28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Nunito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C80AC0-4B82-40BF-8D27-C16CDDF3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Plain, generous body copy for product and explanation.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8A1AF2-9A02-4A25-B828-AED77275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MOTIFS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0FC7DE-094E-4501-A42B-CECD5D52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soft spheres · faint grid · glass rails · large rounded surfaces · one strong action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f23bba46848c5"/>
          <a:stretch xmlns:a="http://schemas.openxmlformats.org/drawingml/2006/main"/>
        </p:blipFill>
        <p:spPr>
          <a:xfrm xmlns:a="http://schemas.openxmlformats.org/drawingml/2006/main">
            <a:off x="7334250" y="2886075"/>
            <a:ext cx="2047875" cy="245745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4c3856f4c46d0"/>
          <a:stretch xmlns:a="http://schemas.openxmlformats.org/drawingml/2006/main"/>
        </p:blipFill>
        <p:spPr>
          <a:xfrm xmlns:a="http://schemas.openxmlformats.org/drawingml/2006/main">
            <a:off x="9220200" y="3048134"/>
            <a:ext cx="2095500" cy="2266682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7E8985-BB98-4730-B803-FFD00F89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24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2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Nani is a calm guide, never a childish mascot.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215A84-9F1C-44BC-82BE-1702B47F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9DF04F-D8A0-4383-A5D3-619E744E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MISSION BOARD · INTERNAL WORKING SYSTEM</a:t>
            </a:r>
          </a:p>
        </p:txBody>
      </p:sp>
    </p:spTree>
    <p:extLst>
      <p:ext uri="{BB962C8B-B14F-4D97-AF65-F5344CB8AC3E}">
        <p14:creationId xmlns:p14="http://schemas.microsoft.com/office/powerpoint/2010/main" val="1507949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9">
            <a:extLst xmlns:a="http://schemas.openxmlformats.org/drawingml/2006/main">
              <a:ext uri="{FF2B5EF4-FFF2-40B4-BE49-F238E27FC236}">
                <a16:creationId xmlns:a16="http://schemas.microsoft.com/office/drawing/2014/main" id="{B16E59C5-5221-4F11-B5D3-BCAA9C7C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COMPANY TRUTH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565F9B2-95FD-4583-96D6-B3EEB3AA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5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Protect the thesis. Test the business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E121E-9ECB-46C4-B4E0-ED04ABFD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DA764-BE68-427D-9C19-746D00B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095875" cy="328612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5F6EC"/>
          </a:solidFill>
          <a:ln xmlns:a="http://schemas.openxmlformats.org/drawingml/2006/main" w="9525">
            <a:solidFill>
              <a:srgbClr val="B8DD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DCC09-3513-4831-9A0B-E9C2A371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14500"/>
            <a:ext cx="5095875" cy="3476625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1DC30-7174-452C-B13A-19047A5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A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2F7D5A"/>
                </a:solidFill>
                <a:latin typeface="Nunito"/>
                <a:ea typeface="Nunito"/>
                <a:cs typeface="Nunito"/>
              </a:rPr>
              <a:t>DEFINED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B8A75-2374-4DFD-B917-EDCC3E1C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product cannot change these without becoming something else.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5F825-8BA5-4F84-97FF-47822756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Dual-user architecture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User owns and confirms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Intervention by exception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Safety stays free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GTM through the responsible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Voice-first intent-to-action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453E8-FF6D-4A59-A408-9F61188E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981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2A7B5-8060-4806-BE1F-43299294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907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LOW / MEDIUM = current confidence today, not priority or opportunity size.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F2372-978B-4350-880D-96ED9313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76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These are hypotheses, not identity statements or promises.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3BB95-743B-4B1A-BD4B-4BCC8975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43250"/>
            <a:ext cx="3314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42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Transaction economics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00F88-0C30-4C51-92FC-8F934F5C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62300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F3910-B408-43D6-866A-00C4192E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438525"/>
            <a:ext cx="3314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42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Nana Family willingness to pay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C0705-0421-4DFC-A847-BF8C2BF3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5757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MEDIUM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2C97F-88F6-4896-A15C-127B7FAF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33800"/>
            <a:ext cx="3314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42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B2B2C 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43411-B3A3-4A9D-83DF-CAED3766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752850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30AE2-883E-4CB0-A078-FC2B2A0A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29075"/>
            <a:ext cx="3314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42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Production custody + compliance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4DB7E-5E3D-48DC-8926-46E80F1A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481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C33F12-A1C3-4194-B9D7-0E6AAAA3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24350"/>
            <a:ext cx="3314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42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Risk thresholds + slow scams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E14E2-3D93-47EF-A741-70FA35EA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43400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2B767-025B-403A-8A20-CC2814E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619625"/>
            <a:ext cx="3314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42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Family Graph growth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10AD8-7F8F-4599-A1CE-5B165D0A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3867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A067B-F81E-4DD5-B302-233299B8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FB694-DF52-478C-80F8-E979A570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MISSION BOARD · INTERNAL WORKING SYSTEM</a:t>
            </a:r>
          </a:p>
        </p:txBody>
      </p:sp>
    </p:spTree>
    <p:extLst>
      <p:ext uri="{BB962C8B-B14F-4D97-AF65-F5344CB8AC3E}">
        <p14:creationId xmlns:p14="http://schemas.microsoft.com/office/powerpoint/2010/main" val="14242538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10">
            <a:extLst xmlns:a="http://schemas.openxmlformats.org/drawingml/2006/main">
              <a:ext uri="{FF2B5EF4-FFF2-40B4-BE49-F238E27FC236}">
                <a16:creationId xmlns:a16="http://schemas.microsoft.com/office/drawing/2014/main" id="{85E270F0-D0DC-4BAB-914A-6B22BF2A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THE PROTECTION TRAP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1B1D10D-CD29-4F6E-837D-14225CCF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5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Protection became 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8A047-CE40-41D1-B0CE-17DDC32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B70E7-38EF-403E-886D-9B822026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Financial products are built around interfaces, not people.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156A1-C84F-48C5-BC52-C4D18D7F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524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9849B-746E-49EA-AF09-4D87DDF1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8DB66-9BA9-4A9A-92DF-3B45ADD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7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Can't navigate</a:t>
            </a:r>
          </a:p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banking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7E659-BCEE-473D-9FEE-759EA6B3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813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CBE35-03F2-404E-A483-4DFE852A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43150"/>
            <a:ext cx="1524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DC95E-F82A-466E-B819-447529E5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33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A4518-A2F2-441E-9B61-26982AD8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956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Family</a:t>
            </a:r>
          </a:p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steps 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CD802-562C-478E-B278-7CDEB336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E6000-F4FF-4C66-9EB1-9361D244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1524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77A1B-1865-46FD-8B5A-9E9A4714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B8F7D-B40C-4093-898A-DED24F33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65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Family pays</a:t>
            </a:r>
          </a:p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and moves money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8F508-EC51-45F5-9306-50CB857D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813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44698-BCF1-4958-A79E-9393C947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43150"/>
            <a:ext cx="1524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BEF6C-6EDA-4153-AB98-3EDBC88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33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1A264-6822-471C-BF08-B8B05B24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956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65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Family controls</a:t>
            </a:r>
          </a:p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account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5CA0A-0B22-43C1-A63E-B0FF07FD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8610B-6E9E-4809-801C-CAE1E79B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1524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8EE3C-010D-4ACF-BAEC-305700F6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2D3A7-2B47-4F17-B1CD-58C8D63B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Less</a:t>
            </a:r>
          </a:p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A2C94-3C40-4F53-AA75-7D3D5773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813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505085-2C7E-4C6D-8578-3DAA89CD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43150"/>
            <a:ext cx="1524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BE9EC"/>
          </a:solidFill>
          <a:ln xmlns:a="http://schemas.openxmlformats.org/drawingml/2006/main" w="9525">
            <a:solidFill>
              <a:srgbClr val="B4495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7A68F4-BAA0-470A-AB80-6F905E68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5336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4959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B44959"/>
                </a:solidFill>
                <a:latin typeface="Nunito"/>
                <a:ea typeface="Nunito"/>
                <a:cs typeface="Nunito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4A208-BD5E-488E-AEE9-0268A82A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956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6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Less</a:t>
            </a:r>
          </a:p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independence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2A8F11-1E3B-48C7-8431-EFF5EA8C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7886700" cy="1123950"/>
          </a:xfrm>
          <a:prstGeom xmlns:a="http://schemas.openxmlformats.org/drawingml/2006/main" prst="roundRect">
            <a:avLst>
              <a:gd name="adj" fmla="val 25424"/>
            </a:avLst>
          </a:prstGeom>
          <a:solidFill xmlns:a="http://schemas.openxmlformats.org/drawingml/2006/main">
            <a:srgbClr val="5639DD"/>
          </a:solidFill>
          <a:ln xmlns:a="http://schemas.openxmlformats.org/drawingml/2006/main" w="0">
            <a:solidFill>
              <a:srgbClr val="5639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153973-A6F9-44E1-9C32-777D7BB4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CBF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D8CBFF"/>
                </a:solidFill>
                <a:latin typeface="Nunito"/>
                <a:ea typeface="Nunito"/>
                <a:cs typeface="Nunito"/>
              </a:rPr>
              <a:t>NANA BREAKS THE CHAIN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C325A1-7DA0-450B-BDC6-4F483BB1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Protection without taking control.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1DD93D-EC45-4437-BFCF-42BE52CF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69949A-1E34-406D-B7FC-13C459A9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MISSION BOARD · INTERNAL WORKING SYSTEM</a:t>
            </a:r>
          </a:p>
        </p:txBody>
      </p:sp>
    </p:spTree>
    <p:extLst>
      <p:ext uri="{BB962C8B-B14F-4D97-AF65-F5344CB8AC3E}">
        <p14:creationId xmlns:p14="http://schemas.microsoft.com/office/powerpoint/2010/main" val="16818544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F4C9A9-3C63-45DA-85F7-81CE20AB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5E982-19C7-4F2D-9C26-33FF0BFD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3A04A-3E5D-4654-AAAE-9797108E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64385-F2C5-401D-83BD-F6887E2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9A71E-741A-48E1-A13C-354D4305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6A7BA-32B5-4D8C-B44F-0998C703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9FEF3-5B0D-4AE9-832B-2E0C2612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518F4-12F5-4709-8812-9F2AA1C0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D70CC-E757-40F5-AFC6-9B6A59D0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9FB70-0735-4392-AD10-14D84339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CCA75-4F07-41A8-A904-0A2AEAC8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6F015-20E8-468D-852A-DD80BFAB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239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14854-DD58-4CE6-90DB-FBAAF5C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478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E60F8-56A7-4058-B66F-CF2D7B61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71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2CFB0-E7CF-48C2-9E16-895A84B7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F964D-34A1-43E4-8948-CCEB1B12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195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CDD32-2818-4376-B448-48DDCFF0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434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57A11-D965-44C5-98B8-08CEFB2A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673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394D5-BE43-4208-8C3E-C51B155F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912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21851-CC64-4544-818A-BC13017A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151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kicker-11">
            <a:extLst xmlns:a="http://schemas.openxmlformats.org/drawingml/2006/main">
              <a:ext uri="{FF2B5EF4-FFF2-40B4-BE49-F238E27FC236}">
                <a16:creationId xmlns:a16="http://schemas.microsoft.com/office/drawing/2014/main" id="{ED681043-1FE0-48B1-BF84-C8A4714B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STRATEGIC SYSTEM</a:t>
            </a:r>
          </a:p>
        </p:txBody>
      </p:sp>
      <p:sp>
        <p:nvSpPr>
          <p:cNvPr id="22" name="title-11">
            <a:extLst xmlns:a="http://schemas.openxmlformats.org/drawingml/2006/main">
              <a:ext uri="{FF2B5EF4-FFF2-40B4-BE49-F238E27FC236}">
                <a16:creationId xmlns:a16="http://schemas.microsoft.com/office/drawing/2014/main" id="{55EFAC45-B9CF-4CB9-8895-C31FB4D5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5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family is a graph, not a permission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D7D67-B65D-4742-8ED4-B7C8E2D1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AE1DE-06E6-4D59-AEF1-C167E32F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112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BANKS HAVE ACCOUNTS. NANA UNDERSTANDS FAMILIES.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00CD2-5E79-44BA-8CFB-10C70BF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Relationships carry meaning.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D39CB0-EB17-4D37-AAAF-762B0761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Responsible, alerts, trusted recipient and protected person are distinct roles, not a chain of approvals.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62A204-F4EA-4AA1-AD12-DE28CF2A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186690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B1FCD2-D003-423C-A1EC-914422F5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LAURA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86B88-922F-41DB-B805-9FA6C611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479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4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responsible · admin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FCDFFA-2053-4276-A534-C96342FD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52625"/>
            <a:ext cx="186690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8CCB1F-15A3-4221-AC64-67AF6CB6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MARCOS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326A05-321F-4119-9B76-880539D2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479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4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alerts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0B20B3-C49D-4C2D-842B-87801778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86300"/>
            <a:ext cx="186690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EC0E5A-6F79-4AEB-8BD0-C0F4A1E0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57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TOMI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4A1A37-3DF8-46A3-A695-7EDCC553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816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4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trusted recipient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C5CC8E-9B62-462E-969C-BBE59F0E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86300"/>
            <a:ext cx="186690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D33074-4648-4B25-AFC5-2040D645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57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PAPÁ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A3C3BB-C09B-4099-A7F0-223CBF29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816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4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protected account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D54190-4E02-4D9A-BA27-54FCC252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43225"/>
            <a:ext cx="0" cy="1743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9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262A8E-0554-477A-8783-3BD031DE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052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96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9B5C0B-CDBC-48C5-A158-2A8AE9FC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052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96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7A682D-7304-4735-BCD8-E75663FA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943225"/>
            <a:ext cx="0" cy="1743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96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AE289B-F012-4964-8A8D-9FF72AA8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86050"/>
            <a:ext cx="165735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9525">
            <a:solidFill>
              <a:srgbClr val="3C239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35497A-B8DE-4152-8BDB-EBEDFD98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MAMÁ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8B9277-6F5F-4196-A16B-508E04B8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CBFF"/>
                </a:solidFill>
                <a:latin typeface="Nunito"/>
                <a:ea typeface="Nunito"/>
                <a:cs typeface="Nunito"/>
              </a:defRPr>
            </a:pPr>
            <a:r>
              <a:rPr sz="1350" b="1">
                <a:solidFill>
                  <a:srgbClr val="D8CBFF"/>
                </a:solidFill>
                <a:latin typeface="Nunito"/>
                <a:ea typeface="Nunito"/>
                <a:cs typeface="Nunito"/>
              </a:rPr>
              <a:t>account owner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0C94E1-3060-43AD-B692-A640BD89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4171950" cy="1276350"/>
          </a:xfrm>
          <a:prstGeom xmlns:a="http://schemas.openxmlformats.org/drawingml/2006/main" prst="roundRect">
            <a:avLst>
              <a:gd name="adj" fmla="val 19403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241AC4-7635-4377-8541-D7E908C6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The graph powers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C0B8CB-2E87-4A29-A043-B5BB6FFA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permissions · protection routing</a:t>
            </a:r>
          </a:p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coordination · future expansion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DC6F5F-A886-46A0-8311-A9188001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5663AA-FCDF-4F88-B2E5-64CF2055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MISSION BOARD · INTERNAL WORKING SYSTEM</a:t>
            </a:r>
          </a:p>
        </p:txBody>
      </p:sp>
    </p:spTree>
    <p:extLst>
      <p:ext uri="{BB962C8B-B14F-4D97-AF65-F5344CB8AC3E}">
        <p14:creationId xmlns:p14="http://schemas.microsoft.com/office/powerpoint/2010/main" val="1685800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12">
            <a:extLst xmlns:a="http://schemas.openxmlformats.org/drawingml/2006/main">
              <a:ext uri="{FF2B5EF4-FFF2-40B4-BE49-F238E27FC236}">
                <a16:creationId xmlns:a16="http://schemas.microsoft.com/office/drawing/2014/main" id="{09A55982-5969-42F5-B0A3-6F648516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OPERATING BOUNDARY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5A2BCC82-0909-4DC5-8A22-0E299DF3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5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Own the relationship. Integrate the rails.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2DBFD-0805-474A-BD78-9D640B39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A2B0C-40BC-497E-8E53-69F77A9A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095875" cy="3000375"/>
          </a:xfrm>
          <a:prstGeom xmlns:a="http://schemas.openxmlformats.org/drawingml/2006/main" prst="roundRect">
            <a:avLst>
              <a:gd name="adj" fmla="val 10159"/>
            </a:avLst>
          </a:prstGeom>
          <a:solidFill xmlns:a="http://schemas.openxmlformats.org/drawingml/2006/main">
            <a:srgbClr val="5639DD"/>
          </a:solidFill>
          <a:ln xmlns:a="http://schemas.openxmlformats.org/drawingml/2006/main" w="0">
            <a:solidFill>
              <a:srgbClr val="5639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2B911-7738-4C2B-A841-B8D6BEFA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14500"/>
            <a:ext cx="5095875" cy="3000375"/>
          </a:xfrm>
          <a:prstGeom xmlns:a="http://schemas.openxmlformats.org/drawingml/2006/main" prst="roundRect">
            <a:avLst>
              <a:gd name="adj" fmla="val 10159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D9F8E-2881-4A08-9740-855DE68D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CBFF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D8CBFF"/>
                </a:solidFill>
                <a:latin typeface="Nunito"/>
                <a:ea typeface="Nunito"/>
                <a:cs typeface="Nunito"/>
              </a:rPr>
              <a:t>NANA MUST 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FEFC2-E294-4DAE-80BA-2F6E6715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The experience and trust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083C3-5B04-495B-842D-D775E753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• Product experience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• Voice agent + intent orchestration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• Family Graph + permissions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• Protection and risk experience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• Brand and user relationship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47C70-7BAC-4BCB-942D-7E15B9F4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PARTNERS CAN PROVIDE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CBC6E-467F-4F0C-A357-9D577807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Regulated financial infrastructure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DCC93-2896-47B9-A76F-4D44E2E0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Wallet infrastructure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Stablecoin and local rails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ARS on/off-ramp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KYC and compliance infrastructure</a:t>
            </a:r>
          </a:p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QR, bill payment and settlement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22379-F143-4034-9412-277E975F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C239F"/>
                </a:solidFill>
                <a:latin typeface="Fredoka"/>
                <a:ea typeface="Fredoka"/>
                <a:cs typeface="Fredoka"/>
              </a:defRPr>
            </a:pPr>
            <a:r>
              <a:rPr sz="1875" b="1">
                <a:solidFill>
                  <a:srgbClr val="3C239F"/>
                </a:solidFill>
                <a:latin typeface="Fredoka"/>
                <a:ea typeface="Fredoka"/>
                <a:cs typeface="Fredoka"/>
              </a:rPr>
              <a:t>Nana should own the user relationship, not reinvent every financial rail.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3E676-BFF4-40E9-9BF0-0A4D96C4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D6B85-6E7E-4948-9465-D10CF262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MISSION BOARD · INTERNAL WORKING SYSTEM</a:t>
            </a:r>
          </a:p>
        </p:txBody>
      </p:sp>
    </p:spTree>
    <p:extLst>
      <p:ext uri="{BB962C8B-B14F-4D97-AF65-F5344CB8AC3E}">
        <p14:creationId xmlns:p14="http://schemas.microsoft.com/office/powerpoint/2010/main" val="13746228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13">
            <a:extLst xmlns:a="http://schemas.openxmlformats.org/drawingml/2006/main">
              <a:ext uri="{FF2B5EF4-FFF2-40B4-BE49-F238E27FC236}">
                <a16:creationId xmlns:a16="http://schemas.microsoft.com/office/drawing/2014/main" id="{3A0C0DB5-DC1A-4DD1-9390-05240B14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MEASUREMENT AND SCOPE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0EF7B5D0-CF73-4204-91A5-431EC66B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5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Measure independence, not activity alone.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629F3-016A-4D7E-A9D7-02FC21D4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153BE-6BF3-442D-B4B4-C7589AC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6191250" cy="40386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7D2B5-93A5-4416-83A1-95B1F9B0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NORTH STAR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395B8-C6EB-4A2D-BC79-EEA6733C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5572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Financial actions completed independently that previously required assistance.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C29DD-1A38-47E9-A00D-687B7112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4959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B44959"/>
                </a:solidFill>
                <a:latin typeface="Nunito"/>
                <a:ea typeface="Nunito"/>
                <a:cs typeface="Nunito"/>
              </a:rPr>
              <a:t>BEFORE NANA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B3727-62DC-4FBA-9976-452ED320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“Send me the bill. I will pay it for you.”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33B94-F877-4B95-BB6D-C66300CB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A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2F7D5A"/>
                </a:solidFill>
                <a:latin typeface="Nunito"/>
                <a:ea typeface="Nunito"/>
                <a:cs typeface="Nunito"/>
              </a:rPr>
              <a:t>WITH NANA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51DB1-9CF3-4959-9820-C6E2344E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“Nana, pay the electricity bill.”  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F8F7B-E5D8-4E4F-99A1-E0338478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381500" cy="40386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81403-5E88-4375-918C-EC040B39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4959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B44959"/>
                </a:solidFill>
                <a:latin typeface="Nunito"/>
                <a:ea typeface="Nunito"/>
                <a:cs typeface="Nunito"/>
              </a:rPr>
              <a:t>NANA IS NOT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8ED2E-6EA1-4DED-953F-AFF0DF6C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371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a crypto wallet for crypto users</a:t>
            </a:r>
          </a:p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a chatbot inside a bank app</a:t>
            </a:r>
          </a:p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parental-control software</a:t>
            </a:r>
          </a:p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approval for every transaction</a:t>
            </a:r>
          </a:p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• an interface exposing rails and gas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2B88D-92AE-4FAD-8C66-84332E8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E333A-F9C5-4A23-9C4F-5BA992EF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625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NANA 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E7450-E228-4F02-8665-ED5F75DE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673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C239F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3C239F"/>
                </a:solidFill>
                <a:latin typeface="Fredoka"/>
                <a:ea typeface="Fredoka"/>
                <a:cs typeface="Fredoka"/>
              </a:rPr>
              <a:t>Intent turned into action with bounded human control.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9EACA-777A-4A34-9441-B9C5AD5D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40454-3918-4D3A-88E9-8CDD3354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MISSION BOARD · INTERNAL WORKING SYSTEM</a:t>
            </a:r>
          </a:p>
        </p:txBody>
      </p:sp>
    </p:spTree>
    <p:extLst>
      <p:ext uri="{BB962C8B-B14F-4D97-AF65-F5344CB8AC3E}">
        <p14:creationId xmlns:p14="http://schemas.microsoft.com/office/powerpoint/2010/main" val="9160750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D054A5-5419-4CF8-84E8-0CC97082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86380-7049-4275-930E-11812CD8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E3DF8-CE91-4EFD-93B1-8A02AF04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FF143-E8D9-46D4-9205-E9EB68A0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16BCF-CDBC-4615-90FA-DF2E9DF8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443C2-50F1-4648-92B2-C1026C1C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0AC6C-E64B-4967-9BC0-1ED0FF09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AE714-7BDA-45C5-AB8F-7E13B59F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892D8-B5E7-4315-975E-8B228E19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DA117-055A-438C-9F29-F2AC2CB3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A30C1-F9C5-4210-97D3-4D971643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7BE40-DC7A-431A-9052-B16E8CC2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E5C25-64B8-4D55-A079-DF2DADA3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220A9-FAAC-46DE-9209-23661C0B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DA538-DFC9-4657-8680-F914D0A6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53C5B-BF11-4E3E-B670-539801FC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CEED8-B2CF-4379-9C75-A82029C8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0F6A6-64E6-4CC6-83E4-A69DEA1A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8646A-D147-4E8F-8F0E-2D5A8169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5132C-A93E-463F-8298-1C4D303B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F589D1-19B8-44EA-A804-B732C104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7CD11-48F8-476A-9256-7FA8EA18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4FC6CF-E83C-4CF1-B07A-D2E3ABA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4A1F7-2DDE-4630-B092-ECFEAC07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2CD833-98A2-4B42-870D-4CCE75FB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612E4B-AC4B-4C51-A5E5-707E6C44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D9426-1C30-4404-BAA1-49DD33E4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C6A1E8-9265-440B-83CA-DE7D803B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A996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1ED222-A1F0-4F1E-907F-753CB2E8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THE DECISION FILTER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6E4962-4ED5-4A37-97C1-03D5F518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BDF42C-897B-45A3-9808-B5180B51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6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Before Nana ships anything, ask: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3182FA-0D28-4A0A-B9DD-3F4A9EE7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9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108936-515C-4F1A-87AE-5006DBC1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Does it return agency to the person using it?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276D3-2D9E-47E8-93A2-F3256EC1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9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22D7B5-4AED-40E6-858C-A555B692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Does family intervene only when necessary?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C9C3B7-B4CB-40C2-81B9-687744DE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9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851759-E6EF-42C7-AEE1-11D507CD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Does complexity stay invisible?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6495E9-4CE1-45CE-9538-32E63200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9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CE2069-961B-4F06-A5EC-49D8D3D2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Is safety available to everyone?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B52854-414E-4C37-8929-3C62491A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9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1405E6-8C1C-41FA-8382-0AAA47FB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Can the user understand the consequence in plain language?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6CB37D-C8BE-4B4B-B3CB-A73DF6DB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24300"/>
            <a:ext cx="4352925" cy="1866900"/>
          </a:xfrm>
          <a:prstGeom xmlns:a="http://schemas.openxmlformats.org/drawingml/2006/main" prst="roundRect">
            <a:avLst>
              <a:gd name="adj" fmla="val 17347"/>
            </a:avLst>
          </a:prstGeom>
          <a:solidFill xmlns:a="http://schemas.openxmlformats.org/drawingml/2006/main">
            <a:srgbClr val="5639DD"/>
          </a:solidFill>
          <a:ln xmlns:a="http://schemas.openxmlformats.org/drawingml/2006/main" w="0">
            <a:solidFill>
              <a:srgbClr val="5639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297D47-D0A2-4469-B118-1B086161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CBFF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D8CBFF"/>
                </a:solidFill>
                <a:latin typeface="Nunito"/>
                <a:ea typeface="Nunito"/>
                <a:cs typeface="Nunito"/>
              </a:rPr>
              <a:t>THE QUESTION UNDER</a:t>
            </a:r>
          </a:p>
          <a:p xmlns:a="http://schemas.openxmlformats.org/drawingml/2006/main">
            <a:pPr algn="ctr">
              <a:defRPr sz="825" b="1">
                <a:solidFill>
                  <a:srgbClr val="D8CBFF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D8CBFF"/>
                </a:solidFill>
                <a:latin typeface="Nunito"/>
                <a:ea typeface="Nunito"/>
                <a:cs typeface="Nunito"/>
              </a:rPr>
              <a:t>EVERY OTHER QUESTION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D553E3-B0DA-40F0-86DF-4B4D633E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577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25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Does this return agency,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25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or transfer it?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0B9EDD-B518-494B-9A29-29E4A1D4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905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40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FCE0CD-7250-4352-929D-C2877D04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Independence through voice.</a:t>
            </a:r>
          </a:p>
          <a:p xmlns:a="http://schemas.openxmlformats.org/drawingml/2006/main">
            <a:pPr algn="ctr">
              <a:defRPr sz="18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Protection when it matters.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00BB25-DC11-40D6-A0B8-AF9DBC48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3C99A7-0454-4A49-AB48-F10B33FE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INDEPENDENCE THROUGH VOICE · PROTECTION WHEN IT MATTERS</a:t>
            </a:r>
          </a:p>
        </p:txBody>
      </p:sp>
    </p:spTree>
    <p:extLst>
      <p:ext uri="{BB962C8B-B14F-4D97-AF65-F5344CB8AC3E}">
        <p14:creationId xmlns:p14="http://schemas.microsoft.com/office/powerpoint/2010/main" val="443027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2026-08-31T12:27:21.3310000Z</dcterms:created>
  <dcterms:modified xsi:type="dcterms:W3CDTF">2026-08-31T12:27:21.3310000Z</dcterms:modified>
</coreProperties>
</file>